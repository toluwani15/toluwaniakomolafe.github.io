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0305"/>
    <a:srgbClr val="E01D1D"/>
    <a:srgbClr val="59AAF8"/>
    <a:srgbClr val="EDEDED"/>
    <a:srgbClr val="69ABF9"/>
    <a:srgbClr val="6EAAF2"/>
    <a:srgbClr val="6FAAEE"/>
    <a:srgbClr val="F035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FAFAF1-8428-BFD1-1B88-38CCF4D5181A}" v="858" dt="2023-12-03T22:07:29.481"/>
    <p1510:client id="{03F5662D-49B0-68AF-D227-FC6E33B289AB}" v="27" dt="2023-12-04T16:47:50.250"/>
    <p1510:client id="{15DD9D09-F7A6-998C-3CBD-63687FA33D68}" v="140" dt="2023-12-04T17:16:39.573"/>
    <p1510:client id="{1917B420-1F55-406B-CE91-B102491906D0}" v="6" dt="2023-11-30T17:53:41.003"/>
    <p1510:client id="{359D4A6C-4984-5D2B-BF57-F29F99BE5B9C}" v="1102" dt="2023-12-03T21:42:23.533"/>
    <p1510:client id="{388E01CE-171A-44C5-B6D9-CCB461C6FB14}" v="67" dt="2023-11-30T19:29:02.939"/>
    <p1510:client id="{3E1D791F-FF48-4090-A9A4-2F8A6E379EBB}" v="14" dt="2023-11-30T18:44:33.854"/>
    <p1510:client id="{52CC6CD1-D353-CF20-E8E9-BA19250DBB0A}" v="556" dt="2023-12-03T21:08:07.319"/>
    <p1510:client id="{7C3198C3-886A-2ECE-6F1C-6C755FFECFB8}" v="1" dt="2023-11-29T20:24:36.104"/>
    <p1510:client id="{8633C84E-8433-9646-382C-27463504F3A6}" v="58" dt="2023-12-04T16:00:12.153"/>
    <p1510:client id="{D8A1DCC7-7978-37F2-2A6C-549F00FC6E99}" v="2" dt="2023-11-30T19:22:53.290"/>
    <p1510:client id="{E68F1D0F-1CD3-11CE-F4A9-CF4610BE45D7}" v="77" dt="2023-11-30T18:35:59.208"/>
    <p1510:client id="{E698A052-5FF8-39A1-4E65-2F369EEF1BB9}" v="23" dt="2023-12-04T16:55:11.387"/>
    <p1510:client id="{EF4AEEED-3900-4CCB-8E27-4640251184FC}" v="96" dt="2023-11-30T19:34:27.044"/>
    <p1510:client id="{F7879064-CFC0-2950-BDC5-E4F269EA3062}" v="1870" dt="2023-12-03T22:07:36.2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256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628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60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019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101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263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891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622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770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12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968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574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61CE368F-E99E-7D71-0B48-8F2E4B991FA0}"/>
              </a:ext>
            </a:extLst>
          </p:cNvPr>
          <p:cNvSpPr txBox="1"/>
          <p:nvPr/>
        </p:nvSpPr>
        <p:spPr>
          <a:xfrm>
            <a:off x="14588297" y="21407966"/>
            <a:ext cx="15419074" cy="349018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438912" tIns="219456" rIns="438912" bIns="219456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600">
                <a:latin typeface="Bell MT"/>
              </a:rPr>
              <a:t>Latinos were more than </a:t>
            </a:r>
            <a:r>
              <a:rPr lang="en-US" sz="6600" b="1">
                <a:solidFill>
                  <a:srgbClr val="59AAF8"/>
                </a:solidFill>
                <a:latin typeface="Bell MT"/>
              </a:rPr>
              <a:t>6 times</a:t>
            </a:r>
            <a:r>
              <a:rPr lang="en-US" sz="6600" b="1">
                <a:solidFill>
                  <a:srgbClr val="C00000"/>
                </a:solidFill>
                <a:latin typeface="Bell MT"/>
              </a:rPr>
              <a:t> </a:t>
            </a:r>
            <a:r>
              <a:rPr lang="en-US" sz="6600">
                <a:latin typeface="Bell MT"/>
              </a:rPr>
              <a:t>as likely to have no high school degree than Whites in the County</a:t>
            </a:r>
            <a:endParaRPr lang="en-US" sz="66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D4360B-5D00-0335-F5E4-14363C3C3D25}"/>
              </a:ext>
            </a:extLst>
          </p:cNvPr>
          <p:cNvSpPr txBox="1"/>
          <p:nvPr/>
        </p:nvSpPr>
        <p:spPr>
          <a:xfrm>
            <a:off x="2184732" y="4845615"/>
            <a:ext cx="9504946" cy="2846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438912" tIns="219456" rIns="438912" bIns="219456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000" b="1" u="sng">
                <a:solidFill>
                  <a:srgbClr val="8F0305"/>
                </a:solidFill>
                <a:latin typeface="Bell MT"/>
                <a:cs typeface="Calibri"/>
              </a:rPr>
              <a:t>The Issue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41BA93-656B-F038-D785-1FE9242B5188}"/>
              </a:ext>
            </a:extLst>
          </p:cNvPr>
          <p:cNvSpPr txBox="1"/>
          <p:nvPr/>
        </p:nvSpPr>
        <p:spPr>
          <a:xfrm>
            <a:off x="5658358" y="1010415"/>
            <a:ext cx="987337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438912" tIns="219456" rIns="438912" bIns="219456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440">
                <a:latin typeface="Bell MT"/>
                <a:cs typeface="Calibri"/>
              </a:rPr>
              <a:t>The Racial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384085-4B23-DB97-9DB1-8437A0C4D60F}"/>
              </a:ext>
            </a:extLst>
          </p:cNvPr>
          <p:cNvSpPr txBox="1"/>
          <p:nvPr/>
        </p:nvSpPr>
        <p:spPr>
          <a:xfrm>
            <a:off x="30305527" y="4844493"/>
            <a:ext cx="13167355" cy="2846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438912" tIns="219456" rIns="438912" bIns="219456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000" b="1" u="sng">
                <a:solidFill>
                  <a:srgbClr val="00B050"/>
                </a:solidFill>
                <a:latin typeface="Bell MT"/>
                <a:cs typeface="Calibri"/>
              </a:rPr>
              <a:t>Our Solution</a:t>
            </a:r>
            <a:endParaRPr lang="en-US" sz="6000" b="1" u="sng">
              <a:solidFill>
                <a:srgbClr val="00B050"/>
              </a:solidFill>
              <a:latin typeface="Brush Script MT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D20C12-BF0C-A6B1-942E-35DE8D5E5A20}"/>
              </a:ext>
            </a:extLst>
          </p:cNvPr>
          <p:cNvSpPr txBox="1"/>
          <p:nvPr/>
        </p:nvSpPr>
        <p:spPr>
          <a:xfrm>
            <a:off x="15754020" y="4843982"/>
            <a:ext cx="12736114" cy="13665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438912" tIns="219456" rIns="438912" bIns="219456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000" b="1" u="sng">
                <a:solidFill>
                  <a:srgbClr val="59AAF8"/>
                </a:solidFill>
                <a:latin typeface="Bell MT"/>
                <a:cs typeface="Calibri"/>
              </a:rPr>
              <a:t>Our Focus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C204CA-DBBF-CA46-9D55-BF133A038100}"/>
              </a:ext>
            </a:extLst>
          </p:cNvPr>
          <p:cNvSpPr txBox="1"/>
          <p:nvPr/>
        </p:nvSpPr>
        <p:spPr>
          <a:xfrm>
            <a:off x="13507505" y="332081"/>
            <a:ext cx="734602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438912" tIns="219456" rIns="438912" bIns="219456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440" u="sng">
                <a:latin typeface="Bell MT"/>
                <a:cs typeface="Calibri"/>
              </a:rPr>
              <a:t>Wealth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2B3EBB-3419-95BD-729B-2DC246ECD5AE}"/>
              </a:ext>
            </a:extLst>
          </p:cNvPr>
          <p:cNvSpPr txBox="1"/>
          <p:nvPr/>
        </p:nvSpPr>
        <p:spPr>
          <a:xfrm>
            <a:off x="14309211" y="1882551"/>
            <a:ext cx="571343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438912" tIns="219456" rIns="438912" bIns="219456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440">
                <a:latin typeface="Bell MT"/>
                <a:cs typeface="Calibri"/>
              </a:rPr>
              <a:t>Divide</a:t>
            </a:r>
            <a:endParaRPr lang="en-US" sz="13440">
              <a:latin typeface="Bell M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32BAE1-1B72-854E-4036-B52EA622566C}"/>
              </a:ext>
            </a:extLst>
          </p:cNvPr>
          <p:cNvSpPr txBox="1"/>
          <p:nvPr/>
        </p:nvSpPr>
        <p:spPr>
          <a:xfrm>
            <a:off x="18774408" y="988356"/>
            <a:ext cx="2277381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438912" tIns="219456" rIns="438912" bIns="219456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440">
                <a:latin typeface="Bell MT"/>
                <a:cs typeface="Calibri"/>
              </a:rPr>
              <a:t>In Montgomery County, MD</a:t>
            </a:r>
          </a:p>
        </p:txBody>
      </p:sp>
      <p:pic>
        <p:nvPicPr>
          <p:cNvPr id="19" name="Picture 18" descr="A red and grey logo&#10;&#10;Description automatically generated">
            <a:extLst>
              <a:ext uri="{FF2B5EF4-FFF2-40B4-BE49-F238E27FC236}">
                <a16:creationId xmlns:a16="http://schemas.microsoft.com/office/drawing/2014/main" id="{13966295-CD4D-8155-DE0C-7564CC178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695" y="349092"/>
            <a:ext cx="3791352" cy="391163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F30BC760-CC47-6B9C-3498-FD22D2A708A6}"/>
              </a:ext>
            </a:extLst>
          </p:cNvPr>
          <p:cNvSpPr/>
          <p:nvPr/>
        </p:nvSpPr>
        <p:spPr>
          <a:xfrm>
            <a:off x="-17307" y="4671204"/>
            <a:ext cx="43891186" cy="204725"/>
          </a:xfrm>
          <a:prstGeom prst="rect">
            <a:avLst/>
          </a:prstGeom>
          <a:solidFill>
            <a:srgbClr val="8F03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1472">
              <a:solidFill>
                <a:srgbClr val="D6DCE4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BB0ACD9-7DC7-21F7-B3DE-3E592930EB21}"/>
              </a:ext>
            </a:extLst>
          </p:cNvPr>
          <p:cNvSpPr/>
          <p:nvPr/>
        </p:nvSpPr>
        <p:spPr>
          <a:xfrm>
            <a:off x="14391559" y="4718714"/>
            <a:ext cx="245659" cy="28168968"/>
          </a:xfrm>
          <a:prstGeom prst="rect">
            <a:avLst/>
          </a:prstGeom>
          <a:solidFill>
            <a:srgbClr val="8F03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1472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27B54EB-0819-5719-14CE-A822EF9AD038}"/>
              </a:ext>
            </a:extLst>
          </p:cNvPr>
          <p:cNvSpPr/>
          <p:nvPr/>
        </p:nvSpPr>
        <p:spPr>
          <a:xfrm>
            <a:off x="29417744" y="4759654"/>
            <a:ext cx="245658" cy="28128025"/>
          </a:xfrm>
          <a:prstGeom prst="rect">
            <a:avLst/>
          </a:prstGeom>
          <a:solidFill>
            <a:srgbClr val="8F03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1472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EA6597-3889-995A-1F47-B26C647EE9CC}"/>
              </a:ext>
            </a:extLst>
          </p:cNvPr>
          <p:cNvSpPr txBox="1"/>
          <p:nvPr/>
        </p:nvSpPr>
        <p:spPr>
          <a:xfrm>
            <a:off x="29603705" y="10926627"/>
            <a:ext cx="11848197" cy="59831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438912" tIns="219456" rIns="438912" bIns="219456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857250" indent="-857250">
              <a:buFont typeface="Wingdings"/>
              <a:buChar char="v"/>
            </a:pPr>
            <a:r>
              <a:rPr lang="en-US" sz="6000" b="1" i="1">
                <a:solidFill>
                  <a:srgbClr val="00B050"/>
                </a:solidFill>
                <a:latin typeface="Bell MT"/>
                <a:cs typeface="Calibri" panose="020F0502020204030204"/>
              </a:rPr>
              <a:t>Narrow the racial wealth gap </a:t>
            </a:r>
            <a:endParaRPr lang="en-US" sz="6000">
              <a:latin typeface="Bell MT"/>
              <a:cs typeface="Calibri" panose="020F0502020204030204"/>
            </a:endParaRPr>
          </a:p>
          <a:p>
            <a:pPr marL="857250" indent="-857250">
              <a:buFont typeface="Wingdings"/>
              <a:buChar char="v"/>
            </a:pPr>
            <a:r>
              <a:rPr lang="en-US" sz="6000">
                <a:latin typeface="Bell MT"/>
                <a:cs typeface="Calibri" panose="020F0502020204030204"/>
              </a:rPr>
              <a:t>Provide advisement &amp; academic support unique to each school</a:t>
            </a:r>
            <a:endParaRPr lang="en-US" sz="6000">
              <a:ea typeface="Calibri"/>
              <a:cs typeface="Calibri" panose="020F0502020204030204"/>
            </a:endParaRPr>
          </a:p>
          <a:p>
            <a:pPr marL="857250" indent="-857250">
              <a:buFont typeface="Wingdings"/>
              <a:buChar char="v"/>
            </a:pPr>
            <a:r>
              <a:rPr lang="en-US" sz="6000">
                <a:latin typeface="Bell MT"/>
                <a:cs typeface="Calibri" panose="020F0502020204030204"/>
              </a:rPr>
              <a:t>Assist families in purchasing supplies</a:t>
            </a:r>
          </a:p>
          <a:p>
            <a:pPr marL="857250" indent="-857250">
              <a:buFont typeface="Wingdings"/>
              <a:buChar char="v"/>
            </a:pPr>
            <a:r>
              <a:rPr lang="en-US" sz="6000">
                <a:latin typeface="Bell MT"/>
                <a:cs typeface="Calibri" panose="020F0502020204030204"/>
              </a:rPr>
              <a:t>Provide Scholarships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D4AFE7-3A59-9F6F-5FB0-554D8FF19972}"/>
              </a:ext>
            </a:extLst>
          </p:cNvPr>
          <p:cNvSpPr txBox="1"/>
          <p:nvPr/>
        </p:nvSpPr>
        <p:spPr>
          <a:xfrm>
            <a:off x="30288239" y="9945534"/>
            <a:ext cx="8080625" cy="14588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438912" tIns="219456" rIns="438912" bIns="219456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600" b="1" u="sng">
                <a:latin typeface="Bell MT"/>
                <a:cs typeface="Calibri"/>
              </a:rPr>
              <a:t>Goals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678A314-77F2-52A0-B4A1-1B36CD912FC7}"/>
              </a:ext>
            </a:extLst>
          </p:cNvPr>
          <p:cNvSpPr txBox="1"/>
          <p:nvPr/>
        </p:nvSpPr>
        <p:spPr>
          <a:xfrm>
            <a:off x="34353260" y="5996366"/>
            <a:ext cx="9806028" cy="50598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438912" tIns="219456" rIns="438912" bIns="219456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000" i="1" err="1">
                <a:latin typeface="Bell MT"/>
                <a:cs typeface="Calibri" panose="020F0502020204030204"/>
              </a:rPr>
              <a:t>EquiEdu</a:t>
            </a:r>
            <a:r>
              <a:rPr lang="en-US" sz="6000">
                <a:latin typeface="Bell MT"/>
                <a:cs typeface="Calibri" panose="020F0502020204030204"/>
              </a:rPr>
              <a:t> works to support the educational journey of disadvantaged non-White students, helping them succeed later in life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0A19E5A-3BAC-0751-18F4-2172ED46D422}"/>
              </a:ext>
            </a:extLst>
          </p:cNvPr>
          <p:cNvSpPr txBox="1"/>
          <p:nvPr/>
        </p:nvSpPr>
        <p:spPr>
          <a:xfrm>
            <a:off x="14574105" y="28639937"/>
            <a:ext cx="14561402" cy="45366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438912" tIns="219456" rIns="438912" bIns="219456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800" b="1">
                <a:latin typeface="Times New Roman"/>
                <a:cs typeface="Times New Roman"/>
              </a:rPr>
              <a:t>Matthew L. Singh</a:t>
            </a:r>
            <a:r>
              <a:rPr lang="en-US" sz="3800">
                <a:latin typeface="Times New Roman"/>
                <a:cs typeface="Times New Roman"/>
              </a:rPr>
              <a:t> </a:t>
            </a:r>
            <a:endParaRPr lang="en-US" sz="3800">
              <a:latin typeface="Times New Roman"/>
              <a:cs typeface="Calibri"/>
            </a:endParaRPr>
          </a:p>
          <a:p>
            <a:r>
              <a:rPr lang="en-US" sz="3800" b="1">
                <a:latin typeface="Times New Roman"/>
                <a:cs typeface="Times New Roman"/>
              </a:rPr>
              <a:t>Toluwani B. Akomolafe</a:t>
            </a:r>
            <a:r>
              <a:rPr lang="en-US" sz="3800">
                <a:latin typeface="Times New Roman"/>
                <a:cs typeface="Times New Roman"/>
              </a:rPr>
              <a:t> </a:t>
            </a:r>
            <a:r>
              <a:rPr lang="en-US" sz="3800">
                <a:latin typeface="Times New Roman"/>
                <a:cs typeface="Calibri"/>
              </a:rPr>
              <a:t>                                       </a:t>
            </a:r>
            <a:endParaRPr lang="en-US" sz="3800">
              <a:latin typeface="Times New Roman"/>
              <a:cs typeface="Times New Roman"/>
            </a:endParaRPr>
          </a:p>
          <a:p>
            <a:r>
              <a:rPr lang="en-US" sz="3800" b="1">
                <a:latin typeface="Times New Roman"/>
                <a:cs typeface="Times New Roman"/>
              </a:rPr>
              <a:t>Connor T. Sagan</a:t>
            </a:r>
            <a:r>
              <a:rPr lang="en-US" sz="3800">
                <a:latin typeface="Times New Roman"/>
                <a:cs typeface="Times New Roman"/>
              </a:rPr>
              <a:t> </a:t>
            </a:r>
            <a:endParaRPr lang="en-US" sz="3800">
              <a:latin typeface="Times New Roman"/>
              <a:cs typeface="Calibri"/>
            </a:endParaRPr>
          </a:p>
          <a:p>
            <a:r>
              <a:rPr lang="en-US" sz="3800">
                <a:latin typeface="Times New Roman"/>
                <a:ea typeface="+mn-lt"/>
                <a:cs typeface="Times New Roman"/>
              </a:rPr>
              <a:t>Prof. Courtney </a:t>
            </a:r>
            <a:r>
              <a:rPr lang="en-US" sz="3800" err="1">
                <a:latin typeface="Times New Roman"/>
                <a:ea typeface="+mn-lt"/>
                <a:cs typeface="Times New Roman"/>
              </a:rPr>
              <a:t>Kurlanska</a:t>
            </a:r>
            <a:r>
              <a:rPr lang="en-US" sz="3800">
                <a:latin typeface="Times New Roman"/>
                <a:ea typeface="+mn-lt"/>
                <a:cs typeface="Times New Roman"/>
              </a:rPr>
              <a:t>                                        </a:t>
            </a:r>
            <a:endParaRPr lang="en-US" sz="3800">
              <a:latin typeface="Times New Roman"/>
              <a:ea typeface="Calibri"/>
              <a:cs typeface="Calibri"/>
            </a:endParaRPr>
          </a:p>
          <a:p>
            <a:r>
              <a:rPr lang="en-US" sz="3800">
                <a:latin typeface="Times New Roman"/>
                <a:ea typeface="+mn-lt"/>
                <a:cs typeface="Times New Roman"/>
              </a:rPr>
              <a:t>Prof. Laura Roberts </a:t>
            </a:r>
            <a:endParaRPr lang="en-US" sz="3800">
              <a:latin typeface="Times New Roman"/>
              <a:ea typeface="Calibri"/>
              <a:cs typeface="Calibri"/>
            </a:endParaRPr>
          </a:p>
          <a:p>
            <a:r>
              <a:rPr lang="en-US" sz="3800">
                <a:latin typeface="Times New Roman"/>
                <a:ea typeface="+mn-lt"/>
                <a:cs typeface="Times New Roman"/>
              </a:rPr>
              <a:t>PLA Gabriella Ferullo </a:t>
            </a:r>
            <a:endParaRPr lang="en-US" sz="3800">
              <a:latin typeface="Times New Roman"/>
              <a:ea typeface="Calibri"/>
              <a:cs typeface="Calibri"/>
            </a:endParaRPr>
          </a:p>
          <a:p>
            <a:r>
              <a:rPr lang="en-US" sz="3800">
                <a:latin typeface="Times New Roman"/>
                <a:ea typeface="+mn-lt"/>
                <a:cs typeface="Times New Roman"/>
              </a:rPr>
              <a:t>PLA Tera Keang </a:t>
            </a:r>
            <a:endParaRPr lang="en-US" sz="3800" b="1">
              <a:latin typeface="Times New Roman"/>
              <a:ea typeface="Calibri"/>
              <a:cs typeface="Calibri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2F14DB9-E8F0-3A74-9CD2-A1E75E40FB41}"/>
              </a:ext>
            </a:extLst>
          </p:cNvPr>
          <p:cNvSpPr txBox="1"/>
          <p:nvPr/>
        </p:nvSpPr>
        <p:spPr>
          <a:xfrm>
            <a:off x="15087445" y="5990628"/>
            <a:ext cx="14296177" cy="22898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438912" tIns="219456" rIns="438912" bIns="219456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000">
                <a:latin typeface="Bell MT"/>
                <a:ea typeface="+mn-lt"/>
                <a:cs typeface="Calibri"/>
              </a:rPr>
              <a:t>Studies show a correlation between K-12 academic success and wealth later in life</a:t>
            </a:r>
            <a:endParaRPr lang="en-US" sz="6000">
              <a:latin typeface="Bell MT"/>
              <a:ea typeface="+mn-lt"/>
              <a:cs typeface="+mn-lt"/>
            </a:endParaRPr>
          </a:p>
        </p:txBody>
      </p:sp>
      <p:pic>
        <p:nvPicPr>
          <p:cNvPr id="8" name="Picture 7" descr="A white circle with a yellow pencil and a piece of paper with a dollar sign&#10;&#10;Description automatically generated">
            <a:extLst>
              <a:ext uri="{FF2B5EF4-FFF2-40B4-BE49-F238E27FC236}">
                <a16:creationId xmlns:a16="http://schemas.microsoft.com/office/drawing/2014/main" id="{85313332-AB59-224F-2BF0-2173C6AE2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14447" y="5147884"/>
            <a:ext cx="5058496" cy="502795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8BAF406-262C-B235-BAEB-FEB4544EB333}"/>
              </a:ext>
            </a:extLst>
          </p:cNvPr>
          <p:cNvSpPr/>
          <p:nvPr/>
        </p:nvSpPr>
        <p:spPr>
          <a:xfrm rot="5400000">
            <a:off x="21821167" y="20867187"/>
            <a:ext cx="376066" cy="15209390"/>
          </a:xfrm>
          <a:prstGeom prst="rect">
            <a:avLst/>
          </a:prstGeom>
          <a:solidFill>
            <a:srgbClr val="8F03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1472"/>
          </a:p>
        </p:txBody>
      </p:sp>
      <p:pic>
        <p:nvPicPr>
          <p:cNvPr id="35" name="Picture 34" descr="A test paper with a red mark&#10;&#10;Description automatically generated">
            <a:extLst>
              <a:ext uri="{FF2B5EF4-FFF2-40B4-BE49-F238E27FC236}">
                <a16:creationId xmlns:a16="http://schemas.microsoft.com/office/drawing/2014/main" id="{12C8B854-F135-6015-4685-2F3AF4F9E2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92660" y="24699295"/>
            <a:ext cx="1937131" cy="1564056"/>
          </a:xfrm>
          <a:prstGeom prst="rect">
            <a:avLst/>
          </a:prstGeom>
        </p:spPr>
      </p:pic>
      <p:pic>
        <p:nvPicPr>
          <p:cNvPr id="9" name="Picture 8" descr="A test paper with a red mark&#10;&#10;Description automatically generated">
            <a:extLst>
              <a:ext uri="{FF2B5EF4-FFF2-40B4-BE49-F238E27FC236}">
                <a16:creationId xmlns:a16="http://schemas.microsoft.com/office/drawing/2014/main" id="{E6608FEB-3724-F4AD-C976-F90CA1877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96113" y="26433823"/>
            <a:ext cx="1937131" cy="1564056"/>
          </a:xfrm>
          <a:prstGeom prst="rect">
            <a:avLst/>
          </a:prstGeom>
        </p:spPr>
      </p:pic>
      <p:pic>
        <p:nvPicPr>
          <p:cNvPr id="10" name="Picture 9" descr="A test paper with a red mark&#10;&#10;Description automatically generated">
            <a:extLst>
              <a:ext uri="{FF2B5EF4-FFF2-40B4-BE49-F238E27FC236}">
                <a16:creationId xmlns:a16="http://schemas.microsoft.com/office/drawing/2014/main" id="{4153F025-7BDC-70EE-A356-A55CC2E2B6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3046" y="26282998"/>
            <a:ext cx="1937131" cy="1564056"/>
          </a:xfrm>
          <a:prstGeom prst="rect">
            <a:avLst/>
          </a:prstGeom>
        </p:spPr>
      </p:pic>
      <p:pic>
        <p:nvPicPr>
          <p:cNvPr id="11" name="Picture 10" descr="A test paper with a red mark&#10;&#10;Description automatically generated">
            <a:extLst>
              <a:ext uri="{FF2B5EF4-FFF2-40B4-BE49-F238E27FC236}">
                <a16:creationId xmlns:a16="http://schemas.microsoft.com/office/drawing/2014/main" id="{8C46A61B-0C43-A0E7-23FA-61293772D9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41971" y="24586174"/>
            <a:ext cx="1937131" cy="1564056"/>
          </a:xfrm>
          <a:prstGeom prst="rect">
            <a:avLst/>
          </a:prstGeom>
        </p:spPr>
      </p:pic>
      <p:pic>
        <p:nvPicPr>
          <p:cNvPr id="16" name="Picture 15" descr="A test paper with a red mark&#10;&#10;Description automatically generated">
            <a:extLst>
              <a:ext uri="{FF2B5EF4-FFF2-40B4-BE49-F238E27FC236}">
                <a16:creationId xmlns:a16="http://schemas.microsoft.com/office/drawing/2014/main" id="{BC63C553-B143-ABDC-D1C4-26A717C59C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29271" y="24812419"/>
            <a:ext cx="3558542" cy="2883802"/>
          </a:xfrm>
          <a:prstGeom prst="rect">
            <a:avLst/>
          </a:prstGeom>
        </p:spPr>
      </p:pic>
      <p:pic>
        <p:nvPicPr>
          <p:cNvPr id="17" name="Picture 16" descr="A test paper with a red mark&#10;&#10;Description automatically generated">
            <a:extLst>
              <a:ext uri="{FF2B5EF4-FFF2-40B4-BE49-F238E27FC236}">
                <a16:creationId xmlns:a16="http://schemas.microsoft.com/office/drawing/2014/main" id="{CACAA89E-535E-3681-B22D-DA4190A8A4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94593" y="26132167"/>
            <a:ext cx="1937131" cy="1564056"/>
          </a:xfrm>
          <a:prstGeom prst="rect">
            <a:avLst/>
          </a:prstGeom>
        </p:spPr>
      </p:pic>
      <p:pic>
        <p:nvPicPr>
          <p:cNvPr id="20" name="Picture 19" descr="A test paper with a red mark&#10;&#10;Description automatically generated">
            <a:extLst>
              <a:ext uri="{FF2B5EF4-FFF2-40B4-BE49-F238E27FC236}">
                <a16:creationId xmlns:a16="http://schemas.microsoft.com/office/drawing/2014/main" id="{68701DD2-470A-F3FE-5F80-0FB53B4301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1281" y="24699290"/>
            <a:ext cx="1937131" cy="156405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CAF043D-8F8E-F14B-1215-43D7DF88853C}"/>
              </a:ext>
            </a:extLst>
          </p:cNvPr>
          <p:cNvSpPr txBox="1"/>
          <p:nvPr/>
        </p:nvSpPr>
        <p:spPr>
          <a:xfrm>
            <a:off x="22310850" y="25122422"/>
            <a:ext cx="2469821" cy="12741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438912" tIns="219456" rIns="438912" bIns="219456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5400" b="1">
                <a:solidFill>
                  <a:srgbClr val="59AAF8"/>
                </a:solidFill>
                <a:latin typeface="Times New Roman"/>
                <a:cs typeface="Times New Roman"/>
              </a:rPr>
              <a:t>Vs.</a:t>
            </a:r>
            <a:endParaRPr lang="en-US" sz="5400">
              <a:solidFill>
                <a:srgbClr val="59AAF8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287EB1-44CE-182A-F400-15FB8F36A567}"/>
              </a:ext>
            </a:extLst>
          </p:cNvPr>
          <p:cNvSpPr txBox="1"/>
          <p:nvPr/>
        </p:nvSpPr>
        <p:spPr>
          <a:xfrm>
            <a:off x="14870567" y="8194163"/>
            <a:ext cx="14524872" cy="10341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438912" tIns="219456" rIns="438912" bIns="219456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840">
                <a:latin typeface="Times New Roman"/>
                <a:cs typeface="Calibri"/>
              </a:rPr>
              <a:t>Wealth &amp; Income In Relation To Education In The US as of 2013</a:t>
            </a:r>
            <a:endParaRPr lang="en-US" sz="3840">
              <a:latin typeface="Times New Roman"/>
              <a:cs typeface="Times New Roman"/>
            </a:endParaRPr>
          </a:p>
        </p:txBody>
      </p:sp>
      <p:pic>
        <p:nvPicPr>
          <p:cNvPr id="42" name="Picture 41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81560A28-FA7B-222F-5605-925CB1A8775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9644" b="27778"/>
          <a:stretch/>
        </p:blipFill>
        <p:spPr>
          <a:xfrm>
            <a:off x="13654579" y="8524024"/>
            <a:ext cx="16944012" cy="7214857"/>
          </a:xfrm>
          <a:prstGeom prst="rect">
            <a:avLst/>
          </a:prstGeom>
        </p:spPr>
      </p:pic>
      <p:pic>
        <p:nvPicPr>
          <p:cNvPr id="3" name="Picture 2" descr="A graph of red squares&#10;&#10;Description automatically generated">
            <a:extLst>
              <a:ext uri="{FF2B5EF4-FFF2-40B4-BE49-F238E27FC236}">
                <a16:creationId xmlns:a16="http://schemas.microsoft.com/office/drawing/2014/main" id="{A57C1B28-0649-8477-284A-8131A4D187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224" y="9626416"/>
            <a:ext cx="13690029" cy="10267522"/>
          </a:xfrm>
          <a:prstGeom prst="rect">
            <a:avLst/>
          </a:prstGeom>
        </p:spPr>
      </p:pic>
      <p:pic>
        <p:nvPicPr>
          <p:cNvPr id="22" name="Picture 21" descr="A red and black graph&#10;&#10;Description automatically generated">
            <a:extLst>
              <a:ext uri="{FF2B5EF4-FFF2-40B4-BE49-F238E27FC236}">
                <a16:creationId xmlns:a16="http://schemas.microsoft.com/office/drawing/2014/main" id="{7DDE912C-1E9D-C091-EBCD-858A429A8D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681847" y="23881561"/>
            <a:ext cx="14543984" cy="10836337"/>
          </a:xfrm>
          <a:prstGeom prst="rect">
            <a:avLst/>
          </a:prstGeom>
        </p:spPr>
      </p:pic>
      <p:pic>
        <p:nvPicPr>
          <p:cNvPr id="38" name="Picture 37" descr="A blue bars on a black background&#10;&#10;Description automatically generated">
            <a:extLst>
              <a:ext uri="{FF2B5EF4-FFF2-40B4-BE49-F238E27FC236}">
                <a16:creationId xmlns:a16="http://schemas.microsoft.com/office/drawing/2014/main" id="{78BE5A9D-7359-F1FF-DE31-BD82131D18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27440" y="13693807"/>
            <a:ext cx="12126066" cy="909454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6A0303C-2B9C-B31D-9056-F8F9E5627439}"/>
              </a:ext>
            </a:extLst>
          </p:cNvPr>
          <p:cNvSpPr txBox="1"/>
          <p:nvPr/>
        </p:nvSpPr>
        <p:spPr>
          <a:xfrm>
            <a:off x="30062665" y="16931821"/>
            <a:ext cx="13612069" cy="65556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000" b="1" u="sng">
                <a:latin typeface="Bell MT"/>
              </a:rPr>
              <a:t>Direct Impact</a:t>
            </a:r>
            <a:endParaRPr lang="en-US" sz="6000" b="1" u="sng">
              <a:latin typeface="Bell MT"/>
              <a:cs typeface="Calibri" panose="020F0502020204030204"/>
            </a:endParaRPr>
          </a:p>
          <a:p>
            <a:pPr marL="857250" indent="-857250" algn="ctr">
              <a:buFont typeface="Wingdings"/>
              <a:buChar char="Ø"/>
            </a:pPr>
            <a:r>
              <a:rPr lang="en-US" sz="6000">
                <a:latin typeface="Bell MT"/>
              </a:rPr>
              <a:t>Advisors will guide students in course selection and the college application process, ensuring preparedness in their future educational journey.</a:t>
            </a:r>
          </a:p>
          <a:p>
            <a:pPr marL="857250" indent="-857250" algn="ctr">
              <a:buFont typeface="Wingdings"/>
              <a:buChar char="Ø"/>
            </a:pPr>
            <a:r>
              <a:rPr lang="en-US" sz="6000">
                <a:latin typeface="Bell MT"/>
              </a:rPr>
              <a:t>Reduce families' financial stress by decreasing cost of education.</a:t>
            </a:r>
            <a:endParaRPr lang="en-US" sz="6000">
              <a:latin typeface="Bell MT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4F41AA7-48EC-A92F-0EF6-AF6D2F08D392}"/>
              </a:ext>
            </a:extLst>
          </p:cNvPr>
          <p:cNvSpPr txBox="1"/>
          <p:nvPr/>
        </p:nvSpPr>
        <p:spPr>
          <a:xfrm>
            <a:off x="645700" y="6234273"/>
            <a:ext cx="13470844" cy="68326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600">
                <a:latin typeface="Bell MT"/>
                <a:ea typeface="+mn-lt"/>
                <a:cs typeface="+mn-lt"/>
              </a:rPr>
              <a:t>Minority communities often face higher rates of housing insecurity, lower income rates, and limited access to quality education due to past and current systemic disadvantages. </a:t>
            </a:r>
            <a:endParaRPr lang="en-US" sz="6600">
              <a:latin typeface="Bell MT"/>
              <a:ea typeface="Calibri"/>
              <a:cs typeface="Calibri"/>
            </a:endParaRPr>
          </a:p>
          <a:p>
            <a:pPr algn="ctr"/>
            <a:endParaRPr lang="en-US">
              <a:cs typeface="Calibri" panose="020F0502020204030204"/>
            </a:endParaRP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algn="l"/>
            <a:endParaRPr lang="en-US">
              <a:cs typeface="Calibri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6833C5-317E-E71F-C894-DE98E0258746}"/>
              </a:ext>
            </a:extLst>
          </p:cNvPr>
          <p:cNvSpPr txBox="1"/>
          <p:nvPr/>
        </p:nvSpPr>
        <p:spPr>
          <a:xfrm>
            <a:off x="402848" y="19260380"/>
            <a:ext cx="13677631" cy="61863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600">
                <a:latin typeface="Bell MT"/>
              </a:rPr>
              <a:t>These factors combined lead to a </a:t>
            </a:r>
            <a:endParaRPr lang="en-US"/>
          </a:p>
          <a:p>
            <a:pPr algn="ctr"/>
            <a:r>
              <a:rPr lang="en-US" sz="6600">
                <a:latin typeface="Bell MT"/>
              </a:rPr>
              <a:t>self-perpetuating cycle of wealth inequality, as affected families find it harder to grow wealth as time goes on, while the privileged continue to become wealthier.</a:t>
            </a:r>
            <a:endParaRPr lang="en-US"/>
          </a:p>
        </p:txBody>
      </p:sp>
      <p:sp>
        <p:nvSpPr>
          <p:cNvPr id="45" name="Arrow: Bent 44">
            <a:extLst>
              <a:ext uri="{FF2B5EF4-FFF2-40B4-BE49-F238E27FC236}">
                <a16:creationId xmlns:a16="http://schemas.microsoft.com/office/drawing/2014/main" id="{813BED96-E2CB-6A75-0D77-1010DFD1C816}"/>
              </a:ext>
            </a:extLst>
          </p:cNvPr>
          <p:cNvSpPr/>
          <p:nvPr/>
        </p:nvSpPr>
        <p:spPr>
          <a:xfrm rot="5400000">
            <a:off x="41017009" y="13751931"/>
            <a:ext cx="1534657" cy="1381191"/>
          </a:xfrm>
          <a:prstGeom prst="ben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 descr="A qr code on a black background&#10;&#10;Description automatically generated">
            <a:extLst>
              <a:ext uri="{FF2B5EF4-FFF2-40B4-BE49-F238E27FC236}">
                <a16:creationId xmlns:a16="http://schemas.microsoft.com/office/drawing/2014/main" id="{B0928581-D2D1-930E-5A67-F2160E55CA5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187926" y="28633821"/>
            <a:ext cx="4206016" cy="446231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B2B1417-8082-3019-599A-E04D64CA8B94}"/>
              </a:ext>
            </a:extLst>
          </p:cNvPr>
          <p:cNvSpPr/>
          <p:nvPr/>
        </p:nvSpPr>
        <p:spPr>
          <a:xfrm>
            <a:off x="20778710" y="28465818"/>
            <a:ext cx="286604" cy="4462807"/>
          </a:xfrm>
          <a:prstGeom prst="rect">
            <a:avLst/>
          </a:prstGeom>
          <a:solidFill>
            <a:srgbClr val="8F03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1472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9AC42F-4DEF-D094-5FA9-35A585A8BD3F}"/>
              </a:ext>
            </a:extLst>
          </p:cNvPr>
          <p:cNvSpPr txBox="1"/>
          <p:nvPr/>
        </p:nvSpPr>
        <p:spPr>
          <a:xfrm>
            <a:off x="21075554" y="30205907"/>
            <a:ext cx="411479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>
                <a:latin typeface="Bell MT"/>
                <a:ea typeface="Calibri"/>
                <a:cs typeface="Calibri"/>
              </a:rPr>
              <a:t>Resources -</a:t>
            </a:r>
            <a:endParaRPr lang="en-US" b="1">
              <a:latin typeface="Bell MT"/>
            </a:endParaRPr>
          </a:p>
        </p:txBody>
      </p:sp>
      <p:pic>
        <p:nvPicPr>
          <p:cNvPr id="30" name="Picture 29" descr="A green and black check marks&#10;&#10;Description automatically generated">
            <a:extLst>
              <a:ext uri="{FF2B5EF4-FFF2-40B4-BE49-F238E27FC236}">
                <a16:creationId xmlns:a16="http://schemas.microsoft.com/office/drawing/2014/main" id="{CCE0ADA7-2A6A-53ED-10F0-68B22BAC5A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560323" y="24796347"/>
            <a:ext cx="12659150" cy="752318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D6748B82-A949-0432-5E63-6545FEDB8A0C}"/>
              </a:ext>
            </a:extLst>
          </p:cNvPr>
          <p:cNvSpPr txBox="1"/>
          <p:nvPr/>
        </p:nvSpPr>
        <p:spPr>
          <a:xfrm>
            <a:off x="31137367" y="23890405"/>
            <a:ext cx="11515298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000" b="1" u="sng">
                <a:latin typeface="Bell MT"/>
              </a:rPr>
              <a:t>Why </a:t>
            </a:r>
            <a:r>
              <a:rPr lang="en-US" sz="6000" b="1" i="1" u="sng" err="1">
                <a:latin typeface="Bell MT"/>
              </a:rPr>
              <a:t>EquiEdu</a:t>
            </a:r>
            <a:r>
              <a:rPr lang="en-US" sz="6000" b="1" i="1" u="sng">
                <a:latin typeface="Bell MT"/>
              </a:rPr>
              <a:t> </a:t>
            </a:r>
            <a:r>
              <a:rPr lang="en-US" sz="6000" b="1" u="sng">
                <a:latin typeface="Bell MT"/>
              </a:rPr>
              <a:t>is Unique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Application>Microsoft Office PowerPoint</Application>
  <PresentationFormat>Custom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Connor Sagan</dc:creator>
  <cp:revision>2</cp:revision>
  <dcterms:created xsi:type="dcterms:W3CDTF">2023-11-19T20:37:03Z</dcterms:created>
  <dcterms:modified xsi:type="dcterms:W3CDTF">2023-12-04T17:56:06Z</dcterms:modified>
</cp:coreProperties>
</file>