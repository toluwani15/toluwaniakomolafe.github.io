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Average"/>
      <p:regular r:id="rId21"/>
    </p:embeddedFont>
    <p:embeddedFont>
      <p:font typeface="Oswald"/>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Oswald-regular.fntdata"/><Relationship Id="rId10" Type="http://schemas.openxmlformats.org/officeDocument/2006/relationships/slide" Target="slides/slide5.xml"/><Relationship Id="rId21" Type="http://schemas.openxmlformats.org/officeDocument/2006/relationships/font" Target="fonts/Average-regular.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Oswa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600"/>
              <a:t>For twenty-five years, the WCPC has been the bridge betwe</a:t>
            </a:r>
            <a:r>
              <a:rPr lang="en" sz="1600"/>
              <a:t>en WPI students and organizations like yours, the ones doing the real, daily task of working closely with our community. </a:t>
            </a:r>
            <a:endParaRPr sz="16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Clr>
                <a:schemeClr val="dk1"/>
              </a:buClr>
              <a:buSzPts val="1100"/>
              <a:buFont typeface="Arial"/>
              <a:buNone/>
            </a:pPr>
            <a:r>
              <a:rPr b="1" lang="en" sz="1600"/>
              <a:t>More than</a:t>
            </a:r>
            <a:r>
              <a:rPr lang="en" sz="1600"/>
              <a:t> 260 projects have been completed. More than 100 partnerships have been formed.</a:t>
            </a:r>
            <a:endParaRPr sz="1600"/>
          </a:p>
          <a:p>
            <a:pPr indent="0" lvl="0" marL="0" rtl="0" algn="l">
              <a:lnSpc>
                <a:spcPct val="115000"/>
              </a:lnSpc>
              <a:spcBef>
                <a:spcPts val="0"/>
              </a:spcBef>
              <a:spcAft>
                <a:spcPts val="0"/>
              </a:spcAft>
              <a:buClr>
                <a:schemeClr val="dk1"/>
              </a:buClr>
              <a:buSzPts val="1100"/>
              <a:buFont typeface="Arial"/>
              <a:buNone/>
            </a:pPr>
            <a:r>
              <a:t/>
            </a:r>
            <a:endParaRPr sz="1600"/>
          </a:p>
          <a:p>
            <a:pPr indent="0" lvl="0" marL="0" rtl="0" algn="l">
              <a:lnSpc>
                <a:spcPct val="115000"/>
              </a:lnSpc>
              <a:spcBef>
                <a:spcPts val="0"/>
              </a:spcBef>
              <a:spcAft>
                <a:spcPts val="0"/>
              </a:spcAft>
              <a:buClr>
                <a:schemeClr val="dk1"/>
              </a:buClr>
              <a:buSzPts val="1100"/>
              <a:buFont typeface="Arial"/>
              <a:buNone/>
            </a:pPr>
            <a:r>
              <a:rPr b="1" lang="en" sz="1600"/>
              <a:t>But here's the thing that brought </a:t>
            </a:r>
            <a:r>
              <a:rPr lang="en" sz="1600"/>
              <a:t>us here today: the full story of that impact has never been told.</a:t>
            </a:r>
            <a:endParaRPr sz="1600"/>
          </a:p>
          <a:p>
            <a:pPr indent="0" lvl="0" marL="0" rtl="0" algn="l">
              <a:lnSpc>
                <a:spcPct val="115000"/>
              </a:lnSpc>
              <a:spcBef>
                <a:spcPts val="0"/>
              </a:spcBef>
              <a:spcAft>
                <a:spcPts val="0"/>
              </a:spcAft>
              <a:buClr>
                <a:schemeClr val="dk1"/>
              </a:buClr>
              <a:buSzPts val="1100"/>
              <a:buFont typeface="Arial"/>
              <a:buNone/>
            </a:pPr>
            <a:r>
              <a:t/>
            </a:r>
            <a:endParaRPr sz="1600"/>
          </a:p>
          <a:p>
            <a:pPr indent="0" lvl="0" marL="0" rtl="0" algn="l">
              <a:lnSpc>
                <a:spcPct val="115000"/>
              </a:lnSpc>
              <a:spcBef>
                <a:spcPts val="0"/>
              </a:spcBef>
              <a:spcAft>
                <a:spcPts val="0"/>
              </a:spcAft>
              <a:buClr>
                <a:schemeClr val="dk1"/>
              </a:buClr>
              <a:buSzPts val="1100"/>
              <a:buFont typeface="Arial"/>
              <a:buNone/>
            </a:pPr>
            <a:r>
              <a:rPr b="1" lang="en" sz="1600"/>
              <a:t>Not because the work wasn't meaningful we know it was.</a:t>
            </a:r>
            <a:r>
              <a:rPr lang="en" sz="1600"/>
              <a:t> But because when you're busy serving the community, when you're managing food banks or running art programs or supporting people with disabilities, you don't always have time to stop and document the ripple effects. You don't always get to see how one student project from five years ago ended up changing the way an entire organization operates.</a:t>
            </a:r>
            <a:endParaRPr sz="1600"/>
          </a:p>
          <a:p>
            <a:pPr indent="0" lvl="0" marL="0" rtl="0" algn="l">
              <a:lnSpc>
                <a:spcPct val="115000"/>
              </a:lnSpc>
              <a:spcBef>
                <a:spcPts val="0"/>
              </a:spcBef>
              <a:spcAft>
                <a:spcPts val="0"/>
              </a:spcAft>
              <a:buClr>
                <a:schemeClr val="dk1"/>
              </a:buClr>
              <a:buSzPts val="1100"/>
              <a:buFont typeface="Arial"/>
              <a:buNone/>
            </a:pPr>
            <a:r>
              <a:t/>
            </a:r>
            <a:endParaRPr sz="1600"/>
          </a:p>
          <a:p>
            <a:pPr indent="0" lvl="0" marL="0" rtl="0" algn="l">
              <a:lnSpc>
                <a:spcPct val="115000"/>
              </a:lnSpc>
              <a:spcBef>
                <a:spcPts val="0"/>
              </a:spcBef>
              <a:spcAft>
                <a:spcPts val="0"/>
              </a:spcAft>
              <a:buClr>
                <a:schemeClr val="dk1"/>
              </a:buClr>
              <a:buSzPts val="1100"/>
              <a:buFont typeface="Arial"/>
              <a:buNone/>
            </a:pPr>
            <a:r>
              <a:rPr b="1" lang="en" sz="1600"/>
              <a:t>So that's what we set out to do</a:t>
            </a:r>
            <a:r>
              <a:rPr lang="en" sz="1600"/>
              <a:t>: to find those stories. To document them. And to build something that would let the WCPC's legacy be seen, understood, and celebrated.</a:t>
            </a:r>
            <a:endParaRPr sz="1600"/>
          </a:p>
          <a:p>
            <a:pPr indent="0" lvl="0" marL="0" rtl="0" algn="l">
              <a:lnSpc>
                <a:spcPct val="115000"/>
              </a:lnSpc>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t/>
            </a:r>
            <a:endParaRPr sz="15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is the WCPC?</a:t>
            </a:r>
            <a:endParaRPr/>
          </a:p>
          <a:p>
            <a:pPr indent="-317500" lvl="0" marL="457200" rtl="0" algn="l">
              <a:spcBef>
                <a:spcPts val="0"/>
              </a:spcBef>
              <a:spcAft>
                <a:spcPts val="0"/>
              </a:spcAft>
              <a:buSzPts val="1400"/>
              <a:buChar char="-"/>
            </a:pPr>
            <a:r>
              <a:rPr lang="en"/>
              <a:t>A project center composed of students and WPI faculty that collaborates with organizations to solve real world problems and serve the community.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What is the their goal?</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Develop pragmatic solutions to pressing community challenges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Who is </a:t>
            </a:r>
            <a:r>
              <a:rPr lang="en">
                <a:solidFill>
                  <a:schemeClr val="dk1"/>
                </a:solidFill>
              </a:rPr>
              <a:t>Amanda (our sponsor)?</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Assistant Teaching Professor in the Department of Global and Integrative Studies at WPI</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Focuses on data driven storytelling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What is our </a:t>
            </a:r>
            <a:r>
              <a:rPr lang="en"/>
              <a:t>Project Goal?</a:t>
            </a:r>
            <a:endParaRPr/>
          </a:p>
          <a:p>
            <a:pPr indent="-317500" lvl="0" marL="457200" rtl="0" algn="l">
              <a:spcBef>
                <a:spcPts val="0"/>
              </a:spcBef>
              <a:spcAft>
                <a:spcPts val="0"/>
              </a:spcAft>
              <a:buSzPts val="1400"/>
              <a:buChar char="-"/>
            </a:pPr>
            <a:r>
              <a:rPr lang="en"/>
              <a:t>Our project goal is to document the stories and impact of the WCPC on the community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it matters?</a:t>
            </a:r>
            <a:endParaRPr/>
          </a:p>
          <a:p>
            <a:pPr indent="-317500" lvl="0" marL="457200" rtl="0" algn="l">
              <a:spcBef>
                <a:spcPts val="0"/>
              </a:spcBef>
              <a:spcAft>
                <a:spcPts val="0"/>
              </a:spcAft>
              <a:buSzPts val="1400"/>
              <a:buChar char="-"/>
            </a:pPr>
            <a:r>
              <a:rPr lang="en"/>
              <a:t>Even though the WCPC keeps track of the projects it was involved in, much of the WCPC’s impact still remains unseen</a:t>
            </a:r>
            <a:endParaRPr/>
          </a:p>
          <a:p>
            <a:pPr indent="-317500" lvl="0" marL="457200" rtl="0" algn="l">
              <a:spcBef>
                <a:spcPts val="0"/>
              </a:spcBef>
              <a:spcAft>
                <a:spcPts val="0"/>
              </a:spcAft>
              <a:buSzPts val="1400"/>
              <a:buChar char="-"/>
            </a:pPr>
            <a:r>
              <a:rPr lang="en"/>
              <a:t>Thus we would like to consolidate information of the WCPC’s impact for a wide audience to enjoy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6f980f91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6f980f9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TOLU: </a:t>
            </a:r>
            <a:endParaRPr/>
          </a:p>
          <a:p>
            <a:pPr indent="0" lvl="0" marL="0" rtl="0" algn="l">
              <a:lnSpc>
                <a:spcPct val="142857"/>
              </a:lnSpc>
              <a:spcBef>
                <a:spcPts val="1100"/>
              </a:spcBef>
              <a:spcAft>
                <a:spcPts val="0"/>
              </a:spcAft>
              <a:buClr>
                <a:schemeClr val="dk1"/>
              </a:buClr>
              <a:buSzPts val="1100"/>
              <a:buFont typeface="Arial"/>
              <a:buNone/>
            </a:pPr>
            <a:r>
              <a:rPr lang="en" sz="1800">
                <a:solidFill>
                  <a:schemeClr val="dk1"/>
                </a:solidFill>
              </a:rPr>
              <a:t>Before getting into what we found, we wanted to start with why WCPC projects matter. WCPC sits at a unique intersection of project‑based learning and community‑engaged learning. It’s a space where students are not just completing assignments—they’re collaborating with organizations across Worcester to solve problems that actually exist outside the classroom.</a:t>
            </a:r>
            <a:endParaRPr sz="1800">
              <a:solidFill>
                <a:schemeClr val="dk1"/>
              </a:solidFill>
            </a:endParaRPr>
          </a:p>
          <a:p>
            <a:pPr indent="0" lvl="0" marL="0" rtl="0" algn="l">
              <a:lnSpc>
                <a:spcPct val="142857"/>
              </a:lnSpc>
              <a:spcBef>
                <a:spcPts val="1100"/>
              </a:spcBef>
              <a:spcAft>
                <a:spcPts val="0"/>
              </a:spcAft>
              <a:buClr>
                <a:schemeClr val="dk1"/>
              </a:buClr>
              <a:buSzPts val="1100"/>
              <a:buFont typeface="Arial"/>
              <a:buNone/>
            </a:pPr>
            <a:r>
              <a:rPr lang="en" sz="1800">
                <a:solidFill>
                  <a:schemeClr val="dk1"/>
                </a:solidFill>
              </a:rPr>
              <a:t>For 25 years, students have partnered with local organizations on issues that are real, urgent, and tied directly to Worcester’s well‑being. And what students create, whether it’s a model, a dashboard, a program, or a tool, gets used by real people trying to serve real communities. This connection between learning and impact is the heart of WCPC’s work, and it’s the context we needed before diving into the long‑term trends.</a:t>
            </a:r>
            <a:endParaRPr sz="1800">
              <a:solidFill>
                <a:schemeClr val="dk1"/>
              </a:solidFill>
            </a:endParaRPr>
          </a:p>
          <a:p>
            <a:pPr indent="0" lvl="0" marL="0" rtl="0" algn="l">
              <a:spcBef>
                <a:spcPts val="11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c6f980f91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c6f980f9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TOLU</a:t>
            </a:r>
            <a:endParaRPr b="1"/>
          </a:p>
          <a:p>
            <a:pPr indent="0" lvl="0" marL="0" rtl="0" algn="l">
              <a:lnSpc>
                <a:spcPct val="142857"/>
              </a:lnSpc>
              <a:spcBef>
                <a:spcPts val="1100"/>
              </a:spcBef>
              <a:spcAft>
                <a:spcPts val="0"/>
              </a:spcAft>
              <a:buClr>
                <a:schemeClr val="dk1"/>
              </a:buClr>
              <a:buSzPts val="1100"/>
              <a:buFont typeface="Arial"/>
              <a:buNone/>
            </a:pPr>
            <a:r>
              <a:rPr lang="en" sz="1800">
                <a:solidFill>
                  <a:schemeClr val="dk1"/>
                </a:solidFill>
              </a:rPr>
              <a:t>To understand WCPC’s impact over a quarter century, we started with a content analysis of </a:t>
            </a:r>
            <a:r>
              <a:rPr b="1" lang="en" sz="1800">
                <a:solidFill>
                  <a:schemeClr val="dk1"/>
                </a:solidFill>
              </a:rPr>
              <a:t>all 264 projects.</a:t>
            </a:r>
            <a:r>
              <a:rPr lang="en" sz="1800">
                <a:solidFill>
                  <a:schemeClr val="dk1"/>
                </a:solidFill>
              </a:rPr>
              <a:t> We pulled project goals, keywords, and partner descriptions, and then coded each project so we could compare them in a systematic way.</a:t>
            </a:r>
            <a:endParaRPr sz="1800">
              <a:solidFill>
                <a:schemeClr val="dk1"/>
              </a:solidFill>
            </a:endParaRPr>
          </a:p>
          <a:p>
            <a:pPr indent="0" lvl="0" marL="0" rtl="0" algn="l">
              <a:lnSpc>
                <a:spcPct val="142857"/>
              </a:lnSpc>
              <a:spcBef>
                <a:spcPts val="1100"/>
              </a:spcBef>
              <a:spcAft>
                <a:spcPts val="0"/>
              </a:spcAft>
              <a:buClr>
                <a:schemeClr val="dk1"/>
              </a:buClr>
              <a:buSzPts val="1100"/>
              <a:buFont typeface="Arial"/>
              <a:buNone/>
            </a:pPr>
            <a:r>
              <a:rPr lang="en" sz="1800">
                <a:solidFill>
                  <a:schemeClr val="dk1"/>
                </a:solidFill>
              </a:rPr>
              <a:t>This step transformed 25 years of individual stories into a structured dataset. Suddenly, we could see patterns across time, across organizations, and across issue areas. Instead of isolated projects, we now had a way to understand WCPC’s work as a whole.</a:t>
            </a:r>
            <a:endParaRPr sz="1800">
              <a:solidFill>
                <a:schemeClr val="dk1"/>
              </a:solidFill>
            </a:endParaRPr>
          </a:p>
          <a:p>
            <a:pPr indent="0" lvl="0" marL="0" rtl="0" algn="l">
              <a:lnSpc>
                <a:spcPct val="142857"/>
              </a:lnSpc>
              <a:spcBef>
                <a:spcPts val="1100"/>
              </a:spcBef>
              <a:spcAft>
                <a:spcPts val="0"/>
              </a:spcAft>
              <a:buClr>
                <a:schemeClr val="dk1"/>
              </a:buClr>
              <a:buSzPts val="1100"/>
              <a:buFont typeface="Arial"/>
              <a:buNone/>
            </a:pPr>
            <a:r>
              <a:rPr lang="en" sz="1800">
                <a:solidFill>
                  <a:schemeClr val="dk1"/>
                </a:solidFill>
              </a:rPr>
              <a:t>Once we had this foundation, the next step was to identify the broader themes beneath those keywords.</a:t>
            </a:r>
            <a:endParaRPr sz="1800">
              <a:solidFill>
                <a:schemeClr val="dk1"/>
              </a:solidFill>
            </a:endParaRPr>
          </a:p>
          <a:p>
            <a:pPr indent="0" lvl="0" marL="0" rtl="0" algn="l">
              <a:spcBef>
                <a:spcPts val="1100"/>
              </a:spcBef>
              <a:spcAft>
                <a:spcPts val="0"/>
              </a:spcAft>
              <a:buNone/>
            </a:pPr>
            <a:r>
              <a:t/>
            </a:r>
            <a:endParaRPr b="1"/>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4075a8f46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4075a8f46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TOLU </a:t>
            </a:r>
            <a:endParaRPr>
              <a:solidFill>
                <a:schemeClr val="dk1"/>
              </a:solidFill>
            </a:endParaRPr>
          </a:p>
          <a:p>
            <a:pPr indent="0" lvl="0" marL="0" rtl="0" algn="l">
              <a:lnSpc>
                <a:spcPct val="142857"/>
              </a:lnSpc>
              <a:spcBef>
                <a:spcPts val="1100"/>
              </a:spcBef>
              <a:spcAft>
                <a:spcPts val="0"/>
              </a:spcAft>
              <a:buClr>
                <a:schemeClr val="dk1"/>
              </a:buClr>
              <a:buSzPts val="1100"/>
              <a:buFont typeface="Arial"/>
              <a:buNone/>
            </a:pPr>
            <a:r>
              <a:rPr lang="en" sz="1800">
                <a:solidFill>
                  <a:schemeClr val="dk1"/>
                </a:solidFill>
              </a:rPr>
              <a:t>After coding every project, we grouped related keywords together to form larger “umbrella” themes. These themes weren’t just academic categories—they reflected the biggest challenges Worcester organizations consistently bring to WCPC to help the community.</a:t>
            </a:r>
            <a:endParaRPr sz="1800">
              <a:solidFill>
                <a:schemeClr val="dk1"/>
              </a:solidFill>
            </a:endParaRPr>
          </a:p>
          <a:p>
            <a:pPr indent="0" lvl="0" marL="0" rtl="0" algn="l">
              <a:lnSpc>
                <a:spcPct val="142857"/>
              </a:lnSpc>
              <a:spcBef>
                <a:spcPts val="1100"/>
              </a:spcBef>
              <a:spcAft>
                <a:spcPts val="0"/>
              </a:spcAft>
              <a:buClr>
                <a:schemeClr val="dk1"/>
              </a:buClr>
              <a:buSzPts val="1100"/>
              <a:buFont typeface="Arial"/>
              <a:buNone/>
            </a:pPr>
            <a:r>
              <a:rPr lang="en" sz="1800">
                <a:solidFill>
                  <a:schemeClr val="dk1"/>
                </a:solidFill>
              </a:rPr>
              <a:t>By identifying these themes, we could see which community needs reappear again and again, and where WCPC has contributed sustained support. These themes also helped us decide which organizations to prioritize for interviews. We wanted to hear directly from partners who have been working in areas where challenges persist.</a:t>
            </a:r>
            <a:endParaRPr sz="1800">
              <a:solidFill>
                <a:schemeClr val="dk1"/>
              </a:solidFill>
            </a:endParaRPr>
          </a:p>
          <a:p>
            <a:pPr indent="0" lvl="0" marL="0" rtl="0" algn="l">
              <a:lnSpc>
                <a:spcPct val="142857"/>
              </a:lnSpc>
              <a:spcBef>
                <a:spcPts val="1100"/>
              </a:spcBef>
              <a:spcAft>
                <a:spcPts val="0"/>
              </a:spcAft>
              <a:buClr>
                <a:schemeClr val="dk1"/>
              </a:buClr>
              <a:buSzPts val="1100"/>
              <a:buFont typeface="Arial"/>
              <a:buNone/>
            </a:pPr>
            <a:r>
              <a:rPr lang="en" sz="1800">
                <a:solidFill>
                  <a:schemeClr val="dk1"/>
                </a:solidFill>
              </a:rPr>
              <a:t>But themes alone only tell part of the story. </a:t>
            </a:r>
            <a:endParaRPr sz="1800">
              <a:solidFill>
                <a:schemeClr val="dk1"/>
              </a:solidFill>
            </a:endParaRPr>
          </a:p>
          <a:p>
            <a:pPr indent="0" lvl="0" marL="0" rtl="0" algn="l">
              <a:spcBef>
                <a:spcPts val="110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c6f980f91_0_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c6f980f9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rPr b="1" lang="en">
                <a:solidFill>
                  <a:schemeClr val="dk1"/>
                </a:solidFill>
              </a:rPr>
              <a:t>TOLU </a:t>
            </a:r>
            <a:endParaRPr>
              <a:solidFill>
                <a:schemeClr val="dk1"/>
              </a:solidFill>
            </a:endParaRPr>
          </a:p>
          <a:p>
            <a:pPr indent="0" lvl="0" marL="45720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sz="1800">
                <a:solidFill>
                  <a:schemeClr val="dk1"/>
                </a:solidFill>
              </a:rPr>
              <a:t>From our analysis, we learned that WCPC has supported </a:t>
            </a:r>
            <a:r>
              <a:rPr b="1" lang="en" sz="1800">
                <a:solidFill>
                  <a:schemeClr val="dk1"/>
                </a:solidFill>
              </a:rPr>
              <a:t>168 organizations</a:t>
            </a:r>
            <a:r>
              <a:rPr lang="en" sz="1800">
                <a:solidFill>
                  <a:schemeClr val="dk1"/>
                </a:solidFill>
              </a:rPr>
              <a:t> across these themes. The heat map </a:t>
            </a:r>
            <a:r>
              <a:rPr lang="en" sz="1800">
                <a:solidFill>
                  <a:schemeClr val="dk1"/>
                </a:solidFill>
              </a:rPr>
              <a:t>helps</a:t>
            </a:r>
            <a:r>
              <a:rPr lang="en" sz="1800">
                <a:solidFill>
                  <a:schemeClr val="dk1"/>
                </a:solidFill>
              </a:rPr>
              <a:t> us visualize which issues were most common among partners. Three themes clearly stood out:</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457200" rtl="0" algn="l">
              <a:spcBef>
                <a:spcPts val="0"/>
              </a:spcBef>
              <a:spcAft>
                <a:spcPts val="0"/>
              </a:spcAft>
              <a:buNone/>
            </a:pPr>
            <a:r>
              <a:rPr lang="en" sz="1800">
                <a:solidFill>
                  <a:schemeClr val="dk1"/>
                </a:solidFill>
              </a:rPr>
              <a:t>Environment &amp; Sustainability</a:t>
            </a:r>
            <a:endParaRPr sz="1800">
              <a:solidFill>
                <a:schemeClr val="dk1"/>
              </a:solidFill>
            </a:endParaRPr>
          </a:p>
          <a:p>
            <a:pPr indent="0" lvl="0" marL="457200" rtl="0" algn="l">
              <a:spcBef>
                <a:spcPts val="0"/>
              </a:spcBef>
              <a:spcAft>
                <a:spcPts val="0"/>
              </a:spcAft>
              <a:buNone/>
            </a:pPr>
            <a:r>
              <a:rPr lang="en" sz="1800">
                <a:solidFill>
                  <a:schemeClr val="dk1"/>
                </a:solidFill>
              </a:rPr>
              <a:t>Education &amp; Learning</a:t>
            </a:r>
            <a:endParaRPr sz="1800">
              <a:solidFill>
                <a:schemeClr val="dk1"/>
              </a:solidFill>
            </a:endParaRPr>
          </a:p>
          <a:p>
            <a:pPr indent="0" lvl="0" marL="457200" rtl="0" algn="l">
              <a:spcBef>
                <a:spcPts val="0"/>
              </a:spcBef>
              <a:spcAft>
                <a:spcPts val="0"/>
              </a:spcAft>
              <a:buNone/>
            </a:pPr>
            <a:r>
              <a:rPr lang="en" sz="1800">
                <a:solidFill>
                  <a:schemeClr val="dk1"/>
                </a:solidFill>
              </a:rPr>
              <a:t>Community Development</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This wasn’t random, it reflects what Worcester needs. For example, </a:t>
            </a:r>
            <a:r>
              <a:rPr b="1" lang="en" sz="1800">
                <a:solidFill>
                  <a:schemeClr val="dk1"/>
                </a:solidFill>
              </a:rPr>
              <a:t>50 organizations </a:t>
            </a:r>
            <a:r>
              <a:rPr lang="en" sz="1800">
                <a:solidFill>
                  <a:schemeClr val="dk1"/>
                </a:solidFill>
              </a:rPr>
              <a:t>have partnered on environmental issues, </a:t>
            </a:r>
            <a:r>
              <a:rPr b="1" lang="en" sz="1800">
                <a:solidFill>
                  <a:schemeClr val="dk1"/>
                </a:solidFill>
              </a:rPr>
              <a:t>38 on education, </a:t>
            </a:r>
            <a:r>
              <a:rPr lang="en" sz="1800">
                <a:solidFill>
                  <a:schemeClr val="dk1"/>
                </a:solidFill>
              </a:rPr>
              <a:t>and </a:t>
            </a:r>
            <a:r>
              <a:rPr b="1" lang="en" sz="1800">
                <a:solidFill>
                  <a:schemeClr val="dk1"/>
                </a:solidFill>
              </a:rPr>
              <a:t>34 on community development.</a:t>
            </a:r>
            <a:r>
              <a:rPr lang="en" sz="1800">
                <a:solidFill>
                  <a:schemeClr val="dk1"/>
                </a:solidFill>
              </a:rPr>
              <a:t> These themes also helped us understand what these organizations were looking for. Education‑focused partners needed tools to support learning. Community development organizations often needed help with outreach, accessibility, or strengthening neighborhood services. And some of these projects have had remarkable ripple effects that we will discuss later. Other projects helped shape climate‑planning tools and water‑quality resources, making complex data usable for the communities that need it.</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So Finding 1 didn’t just show us common themes, it helped us understand the landscape of community needs and guided which partners we reached out to next.</a:t>
            </a:r>
            <a:endParaRPr sz="18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4075a8f4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94075a8f4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map shows the locations of many of the organizations the WCPC has collaborated with in the past.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mark is color coded based on the organization themes we described earlier.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Most of these organizations are located near downtown Worcester which is also nearby the WCPC and WPI. Close by organizations make interactions between students, universities, organizations, and community members easier.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However, many organizations also reside in boston which shows that the WCPC’s collaborations and impact is not limited to Worcester.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4075a8f4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94075a8f4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t>We also wanted to understand how the WCPC's work has changed over time.</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rPr lang="en" sz="1500"/>
              <a:t>This graph shows the number of projects completed each year since 2000.</a:t>
            </a:r>
            <a:endParaRPr sz="1500"/>
          </a:p>
          <a:p>
            <a:pPr indent="0" lvl="0" marL="0" rtl="0" algn="l">
              <a:lnSpc>
                <a:spcPct val="115000"/>
              </a:lnSpc>
              <a:spcBef>
                <a:spcPts val="0"/>
              </a:spcBef>
              <a:spcAft>
                <a:spcPts val="0"/>
              </a:spcAft>
              <a:buNone/>
            </a:pPr>
            <a:r>
              <a:rPr lang="en" sz="1500"/>
              <a:t>For nearly two decades, project center activity generally increased or stayed the same.</a:t>
            </a:r>
            <a:endParaRPr sz="1500"/>
          </a:p>
          <a:p>
            <a:pPr indent="0" lvl="0" marL="0" rtl="0" algn="l">
              <a:lnSpc>
                <a:spcPct val="115000"/>
              </a:lnSpc>
              <a:spcBef>
                <a:spcPts val="0"/>
              </a:spcBef>
              <a:spcAft>
                <a:spcPts val="0"/>
              </a:spcAft>
              <a:buNone/>
            </a:pPr>
            <a:r>
              <a:rPr lang="en" sz="1500"/>
              <a:t>The Center was growing. More students were choosing to stay local. More organizations were finding partners in WPI teams. But then you notice something: starting around 2020, the numbers begin to decline.</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rPr lang="en" sz="1500"/>
              <a:t>We wanted to understand why. So we sat down with the director of projects at the WCPC: Here's what we learned.</a:t>
            </a:r>
            <a:endParaRPr sz="1500"/>
          </a:p>
          <a:p>
            <a:pPr indent="0" lvl="0" marL="0" rtl="0" algn="l">
              <a:lnSpc>
                <a:spcPct val="115000"/>
              </a:lnSpc>
              <a:spcBef>
                <a:spcPts val="0"/>
              </a:spcBef>
              <a:spcAft>
                <a:spcPts val="0"/>
              </a:spcAft>
              <a:buNone/>
            </a:pPr>
            <a:r>
              <a:rPr lang="en" sz="1500"/>
              <a:t>In 2018, WPI introduced the $5,000 Global IQP Scholarship—making international IQPs much more accessible financially. Suddenly, the cost barrier that had kept some students local was gone.</a:t>
            </a:r>
            <a:endParaRPr sz="1500"/>
          </a:p>
          <a:p>
            <a:pPr indent="0" lvl="0" marL="0" rtl="0" algn="l">
              <a:lnSpc>
                <a:spcPct val="115000"/>
              </a:lnSpc>
              <a:spcBef>
                <a:spcPts val="0"/>
              </a:spcBef>
              <a:spcAft>
                <a:spcPts val="0"/>
              </a:spcAft>
              <a:buNone/>
            </a:pPr>
            <a:r>
              <a:rPr lang="en" sz="1500"/>
              <a:t>But the decline doesn't happen immediately in 2018. Why?</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rPr lang="en" sz="1500"/>
              <a:t>Because 2020 happened. COVID-19 shut down international travel completely. For that period, students couldn't go abroad, so local projects remained strong.</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rPr lang="en" sz="1500"/>
              <a:t>But once travel restrictions lifted? The effect became visible. And the numbers started dropping.</a:t>
            </a:r>
            <a:endParaRPr sz="1500"/>
          </a:p>
          <a:p>
            <a:pPr indent="0" lvl="0" marL="0" rtl="0" algn="l">
              <a:lnSpc>
                <a:spcPct val="115000"/>
              </a:lnSpc>
              <a:spcBef>
                <a:spcPts val="0"/>
              </a:spcBef>
              <a:spcAft>
                <a:spcPts val="0"/>
              </a:spcAft>
              <a:buNone/>
            </a:pPr>
            <a:r>
              <a:rPr lang="en" sz="1500"/>
              <a:t>So what does this mean to us?</a:t>
            </a:r>
            <a:endParaRPr sz="1500"/>
          </a:p>
          <a:p>
            <a:pPr indent="0" lvl="0" marL="0" rtl="0" algn="l">
              <a:lnSpc>
                <a:spcPct val="115000"/>
              </a:lnSpc>
              <a:spcBef>
                <a:spcPts val="0"/>
              </a:spcBef>
              <a:spcAft>
                <a:spcPts val="0"/>
              </a:spcAft>
              <a:buNone/>
            </a:pPr>
            <a:r>
              <a:rPr lang="en" sz="1500"/>
              <a:t>The demand is still there—organizations still need students' help. But the Center now has to compete differently for student attention. </a:t>
            </a:r>
            <a:r>
              <a:rPr b="1" lang="en" sz="1500"/>
              <a:t>And thats why The story of local impact has to be told more compellingly than ever.</a:t>
            </a:r>
            <a:endParaRPr b="1"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t/>
            </a:r>
            <a:endParaRPr sz="1500"/>
          </a:p>
          <a:p>
            <a:pPr indent="0" lvl="0" marL="0" rtl="0" algn="l">
              <a:spcBef>
                <a:spcPts val="0"/>
              </a:spcBef>
              <a:spcAft>
                <a:spcPts val="0"/>
              </a:spcAft>
              <a:buNone/>
            </a:pPr>
            <a:r>
              <a:t/>
            </a:r>
            <a:endParaRPr sz="15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4075a8f46_0_2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4075a8f4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WCPC has collaborated with a total of 168 different organizations.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WCPC has collaborated with </a:t>
            </a:r>
            <a:r>
              <a:rPr lang="en"/>
              <a:t>numerous</a:t>
            </a:r>
            <a:r>
              <a:rPr lang="en"/>
              <a:t> organizations more than once.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Habitat for Humanity, WAM, and the Seven Hills Foundation make up about 12% of collaborations with the WCPC.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repeated collaborations clearly indicate robust and long term relationships between the WCPC and other organizations.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94075a8f4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94075a8f4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500"/>
              <a:t>When we first started looking through</a:t>
            </a:r>
            <a:r>
              <a:rPr b="1" lang="en" sz="1500"/>
              <a:t> 264 project reports</a:t>
            </a:r>
            <a:r>
              <a:rPr lang="en" sz="1500"/>
              <a:t>, we expected to find a little bit of everything—and we did. But when we stepped back and looked at the patterns, something really interesting emerged.</a:t>
            </a:r>
            <a:endParaRPr sz="1500"/>
          </a:p>
          <a:p>
            <a:pPr indent="0" lvl="0" marL="0" rtl="0" algn="l">
              <a:lnSpc>
                <a:spcPct val="115000"/>
              </a:lnSpc>
              <a:spcBef>
                <a:spcPts val="0"/>
              </a:spcBef>
              <a:spcAft>
                <a:spcPts val="0"/>
              </a:spcAft>
              <a:buClr>
                <a:schemeClr val="dk1"/>
              </a:buClr>
              <a:buSzPts val="1100"/>
              <a:buFont typeface="Arial"/>
              <a:buNone/>
            </a:pPr>
            <a:r>
              <a:t/>
            </a:r>
            <a:endParaRPr sz="1500"/>
          </a:p>
          <a:p>
            <a:pPr indent="0" lvl="0" marL="0" rtl="0" algn="l">
              <a:lnSpc>
                <a:spcPct val="115000"/>
              </a:lnSpc>
              <a:spcBef>
                <a:spcPts val="0"/>
              </a:spcBef>
              <a:spcAft>
                <a:spcPts val="0"/>
              </a:spcAft>
              <a:buClr>
                <a:schemeClr val="dk1"/>
              </a:buClr>
              <a:buSzPts val="1100"/>
              <a:buFont typeface="Arial"/>
              <a:buNone/>
            </a:pPr>
            <a:r>
              <a:rPr lang="en" sz="1500"/>
              <a:t>The majority of WCPC projects </a:t>
            </a:r>
            <a:r>
              <a:rPr b="1" lang="en" sz="1500"/>
              <a:t>27% </a:t>
            </a:r>
            <a:r>
              <a:rPr lang="en" sz="1500"/>
              <a:t>weren't just one-time tasks. They were about building capacity.</a:t>
            </a:r>
            <a:endParaRPr sz="1500"/>
          </a:p>
          <a:p>
            <a:pPr indent="0" lvl="0" marL="0" rtl="0" algn="l">
              <a:lnSpc>
                <a:spcPct val="115000"/>
              </a:lnSpc>
              <a:spcBef>
                <a:spcPts val="0"/>
              </a:spcBef>
              <a:spcAft>
                <a:spcPts val="0"/>
              </a:spcAft>
              <a:buClr>
                <a:schemeClr val="dk1"/>
              </a:buClr>
              <a:buSzPts val="1100"/>
              <a:buFont typeface="Arial"/>
              <a:buNone/>
            </a:pPr>
            <a:r>
              <a:t/>
            </a:r>
            <a:endParaRPr sz="1500"/>
          </a:p>
          <a:p>
            <a:pPr indent="0" lvl="0" marL="0" rtl="0" algn="l">
              <a:lnSpc>
                <a:spcPct val="115000"/>
              </a:lnSpc>
              <a:spcBef>
                <a:spcPts val="0"/>
              </a:spcBef>
              <a:spcAft>
                <a:spcPts val="0"/>
              </a:spcAft>
              <a:buClr>
                <a:schemeClr val="dk1"/>
              </a:buClr>
              <a:buSzPts val="1100"/>
              <a:buFont typeface="Arial"/>
              <a:buNone/>
            </a:pPr>
            <a:r>
              <a:rPr lang="en" sz="1500"/>
              <a:t>When we looked deeper at what students were actually doing, we saw project after project focused on program development—creating tools, systems, and resources that organizations could keep using long after the students graduated.</a:t>
            </a:r>
            <a:endParaRPr sz="1500"/>
          </a:p>
          <a:p>
            <a:pPr indent="0" lvl="0" marL="0" rtl="0" algn="l">
              <a:lnSpc>
                <a:spcPct val="115000"/>
              </a:lnSpc>
              <a:spcBef>
                <a:spcPts val="0"/>
              </a:spcBef>
              <a:spcAft>
                <a:spcPts val="0"/>
              </a:spcAft>
              <a:buClr>
                <a:schemeClr val="dk1"/>
              </a:buClr>
              <a:buSzPts val="1100"/>
              <a:buFont typeface="Arial"/>
              <a:buNone/>
            </a:pPr>
            <a:r>
              <a:rPr lang="en" sz="1500"/>
              <a:t>Think about what that means. A nonprofit organization gets a team of capable students who spend an entire project term focused on one question: "How can we help you do your work better?"</a:t>
            </a:r>
            <a:endParaRPr sz="1500"/>
          </a:p>
          <a:p>
            <a:pPr indent="0" lvl="0" marL="0" rtl="0" algn="l">
              <a:lnSpc>
                <a:spcPct val="115000"/>
              </a:lnSpc>
              <a:spcBef>
                <a:spcPts val="0"/>
              </a:spcBef>
              <a:spcAft>
                <a:spcPts val="0"/>
              </a:spcAft>
              <a:buClr>
                <a:schemeClr val="dk1"/>
              </a:buClr>
              <a:buSzPts val="1100"/>
              <a:buFont typeface="Arial"/>
              <a:buNone/>
            </a:pPr>
            <a:r>
              <a:t/>
            </a:r>
            <a:endParaRPr sz="1500"/>
          </a:p>
          <a:p>
            <a:pPr indent="0" lvl="0" marL="0" rtl="0" algn="l">
              <a:spcBef>
                <a:spcPts val="0"/>
              </a:spcBef>
              <a:spcAft>
                <a:spcPts val="0"/>
              </a:spcAft>
              <a:buClr>
                <a:schemeClr val="dk1"/>
              </a:buClr>
              <a:buSzPts val="1100"/>
              <a:buFont typeface="Arial"/>
              <a:buNone/>
            </a:pPr>
            <a:r>
              <a:rPr lang="en" sz="1800">
                <a:solidFill>
                  <a:schemeClr val="dk1"/>
                </a:solidFill>
              </a:rPr>
              <a:t>For instance, the waste‑diversion model created with Habitat for Humanity helped quantify environmental impact in a way funders could trust. What started as a local tool is now used in Restores across the country and globally.</a:t>
            </a:r>
            <a:endParaRPr sz="1500"/>
          </a:p>
          <a:p>
            <a:pPr indent="0" lvl="0" marL="0" rtl="0" algn="l">
              <a:lnSpc>
                <a:spcPct val="115000"/>
              </a:lnSpc>
              <a:spcBef>
                <a:spcPts val="0"/>
              </a:spcBef>
              <a:spcAft>
                <a:spcPts val="0"/>
              </a:spcAft>
              <a:buClr>
                <a:schemeClr val="dk1"/>
              </a:buClr>
              <a:buSzPts val="1100"/>
              <a:buFont typeface="Arial"/>
              <a:buNone/>
            </a:pPr>
            <a:r>
              <a:t/>
            </a:r>
            <a:endParaRPr sz="15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42857"/>
              </a:lnSpc>
              <a:spcBef>
                <a:spcPts val="0"/>
              </a:spcBef>
              <a:spcAft>
                <a:spcPts val="0"/>
              </a:spcAft>
              <a:buNone/>
            </a:pPr>
            <a:r>
              <a:rPr lang="en" sz="1800">
                <a:solidFill>
                  <a:schemeClr val="dk1"/>
                </a:solidFill>
              </a:rPr>
              <a:t>When we looked deeper, we saw that many student projects were actually program development — building things like food system tools, communication systems, design implementations, and climate‑planning tools. These are practical systems that organizations continue using long after the project ends, which is why these themes kept appearing again and again</a:t>
            </a:r>
            <a:endParaRPr sz="1800">
              <a:solidFill>
                <a:schemeClr val="dk1"/>
              </a:solidFill>
            </a:endParaRPr>
          </a:p>
          <a:p>
            <a:pPr indent="0" lvl="0" marL="0" rtl="0" algn="l">
              <a:lnSpc>
                <a:spcPct val="142857"/>
              </a:lnSpc>
              <a:spcBef>
                <a:spcPts val="0"/>
              </a:spcBef>
              <a:spcAft>
                <a:spcPts val="0"/>
              </a:spcAft>
              <a:buNone/>
            </a:pPr>
            <a:r>
              <a:t/>
            </a:r>
            <a:endParaRPr sz="1800">
              <a:solidFill>
                <a:schemeClr val="dk1"/>
              </a:solidFill>
            </a:endParaRPr>
          </a:p>
          <a:p>
            <a:pPr indent="0" lvl="0" marL="0" rtl="0" algn="l">
              <a:lnSpc>
                <a:spcPct val="142857"/>
              </a:lnSpc>
              <a:spcBef>
                <a:spcPts val="0"/>
              </a:spcBef>
              <a:spcAft>
                <a:spcPts val="0"/>
              </a:spcAft>
              <a:buNone/>
            </a:pPr>
            <a:r>
              <a:rPr lang="en" sz="1800">
                <a:solidFill>
                  <a:schemeClr val="dk1"/>
                </a:solidFill>
              </a:rPr>
              <a:t>Behind each scene is the same WCPC approach: students partner with organizations to build useful, durable tools. A tonnage model that strengthens environmental reporting. A translation tool that welcomes more people through the door. An assistive‑technology database for Seven Hills that helps staff quickly find the right app for a client. A storytelling project that helps a nonprofit explain its mission so the community can rally around it. These are the reasons our heat map shines brightest in Environment &amp; Sustainability, Education &amp; Learning, and Community Development. The themes aren’t just labels; they’re the places where student work became lasting infrastructure.</a:t>
            </a:r>
            <a:endParaRPr sz="18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4075a8f46_0_3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4075a8f4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Many organizations are not able to innovate in as many projects because they lack sufficient funding and lack the bandwidth to make initiatives happen. Organizations are forced to prioritize.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From several project sponsors, we learned that several organizations the WCPC has collaborated with have came and went due to these challenges.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Covid 19 in particular exacerbated these challenges in the midst of a lockdown and a recession.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might think that the projects the WCPC helps coordinate mainly benefits students.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However, we learned from project sponsors that these projects are also of significant value to the organizations that collaborate with the WCPC.</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4075a8f46_0_9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94075a8f4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500"/>
              <a:t>Here are some of the actual things that students built.</a:t>
            </a:r>
            <a:endParaRPr sz="1500"/>
          </a:p>
          <a:p>
            <a:pPr indent="0" lvl="0" marL="0" rtl="0" algn="l">
              <a:lnSpc>
                <a:spcPct val="115000"/>
              </a:lnSpc>
              <a:spcBef>
                <a:spcPts val="0"/>
              </a:spcBef>
              <a:spcAft>
                <a:spcPts val="0"/>
              </a:spcAft>
              <a:buClr>
                <a:schemeClr val="dk1"/>
              </a:buClr>
              <a:buSzPts val="1100"/>
              <a:buFont typeface="Arial"/>
              <a:buNone/>
            </a:pPr>
            <a:r>
              <a:t/>
            </a:r>
            <a:endParaRPr sz="1500"/>
          </a:p>
          <a:p>
            <a:pPr indent="0" lvl="0" marL="0" rtl="0" algn="l">
              <a:lnSpc>
                <a:spcPct val="115000"/>
              </a:lnSpc>
              <a:spcBef>
                <a:spcPts val="0"/>
              </a:spcBef>
              <a:spcAft>
                <a:spcPts val="0"/>
              </a:spcAft>
              <a:buNone/>
            </a:pPr>
            <a:r>
              <a:rPr b="1" lang="en" sz="1500"/>
              <a:t>First, a calculation model. </a:t>
            </a:r>
            <a:endParaRPr b="1" sz="1500"/>
          </a:p>
          <a:p>
            <a:pPr indent="0" lvl="0" marL="0" rtl="0" algn="l">
              <a:lnSpc>
                <a:spcPct val="115000"/>
              </a:lnSpc>
              <a:spcBef>
                <a:spcPts val="0"/>
              </a:spcBef>
              <a:spcAft>
                <a:spcPts val="0"/>
              </a:spcAft>
              <a:buNone/>
            </a:pPr>
            <a:r>
              <a:rPr lang="en" sz="1500"/>
              <a:t>One team worked with Habitat for Humanity to work a standardized way to estimate the weight of donated items at ReStores. </a:t>
            </a:r>
            <a:endParaRPr sz="1500"/>
          </a:p>
          <a:p>
            <a:pPr indent="0" lvl="0" marL="0" rtl="0" algn="l">
              <a:lnSpc>
                <a:spcPct val="115000"/>
              </a:lnSpc>
              <a:spcBef>
                <a:spcPts val="0"/>
              </a:spcBef>
              <a:spcAft>
                <a:spcPts val="0"/>
              </a:spcAft>
              <a:buClr>
                <a:schemeClr val="dk1"/>
              </a:buClr>
              <a:buSzPts val="1100"/>
              <a:buFont typeface="Arial"/>
              <a:buNone/>
            </a:pPr>
            <a:r>
              <a:rPr lang="en" sz="1500"/>
              <a:t>What it means is that suddenly, Habitat could actually tell how much waste was being diverted from landfills. That data helped them make their environmental story more </a:t>
            </a:r>
            <a:r>
              <a:rPr lang="en" sz="1500"/>
              <a:t>powerful and</a:t>
            </a:r>
            <a:r>
              <a:rPr lang="en" sz="1500"/>
              <a:t> unlocked access to new grants.</a:t>
            </a:r>
            <a:endParaRPr sz="1500"/>
          </a:p>
          <a:p>
            <a:pPr indent="0" lvl="0" marL="0" rtl="0" algn="l">
              <a:lnSpc>
                <a:spcPct val="115000"/>
              </a:lnSpc>
              <a:spcBef>
                <a:spcPts val="0"/>
              </a:spcBef>
              <a:spcAft>
                <a:spcPts val="0"/>
              </a:spcAft>
              <a:buClr>
                <a:schemeClr val="dk1"/>
              </a:buClr>
              <a:buSzPts val="1100"/>
              <a:buFont typeface="Arial"/>
              <a:buNone/>
            </a:pPr>
            <a:r>
              <a:t/>
            </a:r>
            <a:endParaRPr sz="1500"/>
          </a:p>
          <a:p>
            <a:pPr indent="0" lvl="0" marL="0" rtl="0" algn="l">
              <a:lnSpc>
                <a:spcPct val="115000"/>
              </a:lnSpc>
              <a:spcBef>
                <a:spcPts val="0"/>
              </a:spcBef>
              <a:spcAft>
                <a:spcPts val="0"/>
              </a:spcAft>
              <a:buNone/>
            </a:pPr>
            <a:r>
              <a:rPr b="1" lang="en" sz="1500"/>
              <a:t>Second, a translation tool.</a:t>
            </a:r>
            <a:r>
              <a:rPr lang="en" sz="1500"/>
              <a:t> This transformed who could walk through the door. Spanish-speaking staff, donors, and customers could suddenly communicate fully. </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rPr lang="en" sz="1500"/>
              <a:t>The sponsor told us: "It changed the relationship between the shoppers, the donors, and our organization. People came in, and they could communicate. </a:t>
            </a:r>
            <a:endParaRPr sz="1500"/>
          </a:p>
          <a:p>
            <a:pPr indent="0" lvl="0" marL="0" rtl="0" algn="l">
              <a:lnSpc>
                <a:spcPct val="115000"/>
              </a:lnSpc>
              <a:spcBef>
                <a:spcPts val="0"/>
              </a:spcBef>
              <a:spcAft>
                <a:spcPts val="0"/>
              </a:spcAft>
              <a:buNone/>
            </a:pPr>
            <a:r>
              <a:t/>
            </a:r>
            <a:endParaRPr sz="1500"/>
          </a:p>
          <a:p>
            <a:pPr indent="0" lvl="0" marL="0" rtl="0" algn="l">
              <a:lnSpc>
                <a:spcPct val="115000"/>
              </a:lnSpc>
              <a:spcBef>
                <a:spcPts val="0"/>
              </a:spcBef>
              <a:spcAft>
                <a:spcPts val="0"/>
              </a:spcAft>
              <a:buNone/>
            </a:pPr>
            <a:r>
              <a:rPr b="1" lang="en" sz="1500"/>
              <a:t>And then some other projects evolving </a:t>
            </a:r>
            <a:r>
              <a:rPr b="1" lang="en" sz="1500"/>
              <a:t>around assistive technology..</a:t>
            </a:r>
            <a:endParaRPr b="1" sz="1500"/>
          </a:p>
          <a:p>
            <a:pPr indent="0" lvl="0" marL="0" rtl="0" algn="l">
              <a:lnSpc>
                <a:spcPct val="115000"/>
              </a:lnSpc>
              <a:spcBef>
                <a:spcPts val="0"/>
              </a:spcBef>
              <a:spcAft>
                <a:spcPts val="0"/>
              </a:spcAft>
              <a:buClr>
                <a:schemeClr val="dk1"/>
              </a:buClr>
              <a:buSzPts val="1100"/>
              <a:buFont typeface="Arial"/>
              <a:buNone/>
            </a:pPr>
            <a:r>
              <a:t/>
            </a:r>
            <a:endParaRPr sz="1500"/>
          </a:p>
          <a:p>
            <a:pPr indent="0" lvl="0" marL="0" rtl="0" algn="l">
              <a:lnSpc>
                <a:spcPct val="115000"/>
              </a:lnSpc>
              <a:spcBef>
                <a:spcPts val="0"/>
              </a:spcBef>
              <a:spcAft>
                <a:spcPts val="0"/>
              </a:spcAft>
              <a:buClr>
                <a:schemeClr val="dk1"/>
              </a:buClr>
              <a:buSzPts val="1100"/>
              <a:buFont typeface="Arial"/>
              <a:buNone/>
            </a:pPr>
            <a:r>
              <a:rPr lang="en" sz="1500"/>
              <a:t>What connects all of these? Students applied their classroom knowledge to build things that lasted. </a:t>
            </a:r>
            <a:r>
              <a:rPr lang="en" sz="1500"/>
              <a:t>These</a:t>
            </a:r>
            <a:r>
              <a:rPr lang="en" sz="1500"/>
              <a:t> are real solutions to real problems that organizations face every day.</a:t>
            </a:r>
            <a:endParaRPr sz="1500"/>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4075a8f46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94075a8f46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Adam</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For our final deliverable, made a website page that shows what we have learned</a:t>
            </a:r>
            <a:endParaRPr/>
          </a:p>
          <a:p>
            <a:pPr indent="-317500" lvl="0" marL="457200" rtl="0" algn="l">
              <a:spcBef>
                <a:spcPts val="0"/>
              </a:spcBef>
              <a:spcAft>
                <a:spcPts val="0"/>
              </a:spcAft>
              <a:buSzPts val="1400"/>
              <a:buChar char="-"/>
            </a:pPr>
            <a:r>
              <a:rPr lang="en"/>
              <a:t>(Open the website ourselves and give a tour)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Connect the </a:t>
            </a:r>
            <a:r>
              <a:rPr lang="en"/>
              <a:t>Website</a:t>
            </a:r>
            <a:r>
              <a:rPr lang="en"/>
              <a:t> Contents with this presentation!!!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website shows a lot of what we presented here.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Front Page:</a:t>
            </a:r>
            <a:endParaRPr/>
          </a:p>
          <a:p>
            <a:pPr indent="-317500" lvl="0" marL="457200" rtl="0" algn="l">
              <a:spcBef>
                <a:spcPts val="0"/>
              </a:spcBef>
              <a:spcAft>
                <a:spcPts val="0"/>
              </a:spcAft>
              <a:buSzPts val="1400"/>
              <a:buChar char="-"/>
            </a:pPr>
            <a:r>
              <a:rPr lang="en"/>
              <a:t>Describe that the website describes what the WCPC is and how it connects with students</a:t>
            </a:r>
            <a:endParaRPr/>
          </a:p>
          <a:p>
            <a:pPr indent="-317500" lvl="0" marL="457200" rtl="0" algn="l">
              <a:spcBef>
                <a:spcPts val="0"/>
              </a:spcBef>
              <a:spcAft>
                <a:spcPts val="0"/>
              </a:spcAft>
              <a:buSzPts val="1400"/>
              <a:buChar char="-"/>
            </a:pPr>
            <a:r>
              <a:rPr lang="en"/>
              <a:t>Describe that the website describes our motivation of the project</a:t>
            </a:r>
            <a:endParaRPr/>
          </a:p>
          <a:p>
            <a:pPr indent="-317500" lvl="0" marL="457200" rtl="0" algn="l">
              <a:spcBef>
                <a:spcPts val="0"/>
              </a:spcBef>
              <a:spcAft>
                <a:spcPts val="0"/>
              </a:spcAft>
              <a:buSzPts val="1400"/>
              <a:buChar char="-"/>
            </a:pPr>
            <a:r>
              <a:rPr lang="en"/>
              <a:t>Equivalent</a:t>
            </a:r>
            <a:r>
              <a:rPr lang="en"/>
              <a:t> to what we presented at the beginning of this presentation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it makes an impact:</a:t>
            </a:r>
            <a:endParaRPr/>
          </a:p>
          <a:p>
            <a:pPr indent="-317500" lvl="0" marL="457200" rtl="0" algn="l">
              <a:spcBef>
                <a:spcPts val="0"/>
              </a:spcBef>
              <a:spcAft>
                <a:spcPts val="0"/>
              </a:spcAft>
              <a:buSzPts val="1400"/>
              <a:buChar char="-"/>
            </a:pPr>
            <a:r>
              <a:rPr lang="en"/>
              <a:t>What areas the wcpc makes an impact (first and second findings)</a:t>
            </a:r>
            <a:endParaRPr/>
          </a:p>
          <a:p>
            <a:pPr indent="-317500" lvl="0" marL="457200" rtl="0" algn="l">
              <a:spcBef>
                <a:spcPts val="0"/>
              </a:spcBef>
              <a:spcAft>
                <a:spcPts val="0"/>
              </a:spcAft>
              <a:buSzPts val="1400"/>
              <a:buChar char="-"/>
            </a:pPr>
            <a:r>
              <a:rPr lang="en"/>
              <a:t>Also describes project specifics and how those projects helped organization in those area</a:t>
            </a:r>
            <a:endParaRPr/>
          </a:p>
          <a:p>
            <a:pPr indent="-317500" lvl="0" marL="457200" rtl="0" algn="l">
              <a:spcBef>
                <a:spcPts val="0"/>
              </a:spcBef>
              <a:spcAft>
                <a:spcPts val="0"/>
              </a:spcAft>
              <a:buSzPts val="1400"/>
              <a:buChar char="-"/>
            </a:pPr>
            <a:r>
              <a:rPr lang="en"/>
              <a:t>Shows what student projects focused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Connecting With the Community:</a:t>
            </a:r>
            <a:endParaRPr/>
          </a:p>
          <a:p>
            <a:pPr indent="-317500" lvl="0" marL="457200" rtl="0" algn="l">
              <a:spcBef>
                <a:spcPts val="0"/>
              </a:spcBef>
              <a:spcAft>
                <a:spcPts val="0"/>
              </a:spcAft>
              <a:buSzPts val="1400"/>
              <a:buChar char="-"/>
            </a:pPr>
            <a:r>
              <a:rPr lang="en"/>
              <a:t>All </a:t>
            </a:r>
            <a:r>
              <a:rPr lang="en"/>
              <a:t>the</a:t>
            </a:r>
            <a:r>
              <a:rPr lang="en"/>
              <a:t> organizations the WCPC has worked with</a:t>
            </a:r>
            <a:endParaRPr/>
          </a:p>
          <a:p>
            <a:pPr indent="-317500" lvl="0" marL="457200" rtl="0" algn="l">
              <a:spcBef>
                <a:spcPts val="0"/>
              </a:spcBef>
              <a:spcAft>
                <a:spcPts val="0"/>
              </a:spcAft>
              <a:buSzPts val="1400"/>
              <a:buChar char="-"/>
            </a:pPr>
            <a:r>
              <a:rPr lang="en"/>
              <a:t>The top ten organizations by collaboration count</a:t>
            </a:r>
            <a:endParaRPr/>
          </a:p>
          <a:p>
            <a:pPr indent="-317500" lvl="0" marL="457200" rtl="0" algn="l">
              <a:spcBef>
                <a:spcPts val="0"/>
              </a:spcBef>
              <a:spcAft>
                <a:spcPts val="0"/>
              </a:spcAft>
              <a:buSzPts val="1400"/>
              <a:buChar char="-"/>
            </a:pPr>
            <a:r>
              <a:rPr lang="en"/>
              <a:t>Quotes from organizations about how partnering with the WCPC helped solve problems</a:t>
            </a:r>
            <a:endParaRPr/>
          </a:p>
          <a:p>
            <a:pPr indent="-317500" lvl="0" marL="457200" rtl="0" algn="l">
              <a:spcBef>
                <a:spcPts val="0"/>
              </a:spcBef>
              <a:spcAft>
                <a:spcPts val="0"/>
              </a:spcAft>
              <a:buSzPts val="1400"/>
              <a:buChar char="-"/>
            </a:pPr>
            <a:r>
              <a:rPr lang="en"/>
              <a:t>The geographic map is interactive!!!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organizations say:</a:t>
            </a:r>
            <a:endParaRPr/>
          </a:p>
          <a:p>
            <a:pPr indent="-317500" lvl="0" marL="457200" rtl="0" algn="l">
              <a:spcBef>
                <a:spcPts val="0"/>
              </a:spcBef>
              <a:spcAft>
                <a:spcPts val="0"/>
              </a:spcAft>
              <a:buSzPts val="1400"/>
              <a:buChar char="-"/>
            </a:pPr>
            <a:r>
              <a:rPr lang="en"/>
              <a:t>What we learned from organizations</a:t>
            </a:r>
            <a:endParaRPr/>
          </a:p>
          <a:p>
            <a:pPr indent="-317500" lvl="0" marL="457200" rtl="0" algn="l">
              <a:spcBef>
                <a:spcPts val="0"/>
              </a:spcBef>
              <a:spcAft>
                <a:spcPts val="0"/>
              </a:spcAft>
              <a:buSzPts val="1400"/>
              <a:buChar char="-"/>
            </a:pPr>
            <a:r>
              <a:rPr lang="en"/>
              <a:t>WCPC</a:t>
            </a:r>
            <a:endParaRPr/>
          </a:p>
          <a:p>
            <a:pPr indent="-317500" lvl="0" marL="457200" rtl="0" algn="l">
              <a:spcBef>
                <a:spcPts val="0"/>
              </a:spcBef>
              <a:spcAft>
                <a:spcPts val="0"/>
              </a:spcAft>
              <a:buSzPts val="1400"/>
              <a:buChar char="-"/>
            </a:pPr>
            <a:r>
              <a:rPr lang="en"/>
              <a:t>ILWA</a:t>
            </a:r>
            <a:endParaRPr/>
          </a:p>
          <a:p>
            <a:pPr indent="-317500" lvl="0" marL="457200" rtl="0" algn="l">
              <a:spcBef>
                <a:spcPts val="0"/>
              </a:spcBef>
              <a:spcAft>
                <a:spcPts val="0"/>
              </a:spcAft>
              <a:buSzPts val="1400"/>
              <a:buChar char="-"/>
            </a:pPr>
            <a:r>
              <a:rPr lang="en"/>
              <a:t>Habitat for Humanity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Speak as if the audience has seen the components of the website!!! (cause they have!!!)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4075a8f46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94075a8f46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Maintain Living Archive:</a:t>
            </a:r>
            <a:endParaRPr/>
          </a:p>
          <a:p>
            <a:pPr indent="-317500" lvl="0" marL="457200" rtl="0" algn="l">
              <a:spcBef>
                <a:spcPts val="0"/>
              </a:spcBef>
              <a:spcAft>
                <a:spcPts val="0"/>
              </a:spcAft>
              <a:buSzPts val="1400"/>
              <a:buChar char="-"/>
            </a:pPr>
            <a:r>
              <a:rPr lang="en"/>
              <a:t>The WCPC website only has projects from 2012 and later</a:t>
            </a:r>
            <a:endParaRPr/>
          </a:p>
          <a:p>
            <a:pPr indent="-317500" lvl="0" marL="457200" rtl="0" algn="l">
              <a:spcBef>
                <a:spcPts val="0"/>
              </a:spcBef>
              <a:spcAft>
                <a:spcPts val="0"/>
              </a:spcAft>
              <a:buSzPts val="1400"/>
              <a:buChar char="-"/>
            </a:pPr>
            <a:r>
              <a:rPr lang="en"/>
              <a:t>The Digital WPI database has all of the projects</a:t>
            </a:r>
            <a:endParaRPr/>
          </a:p>
          <a:p>
            <a:pPr indent="-317500" lvl="0" marL="457200" rtl="0" algn="l">
              <a:spcBef>
                <a:spcPts val="0"/>
              </a:spcBef>
              <a:spcAft>
                <a:spcPts val="0"/>
              </a:spcAft>
              <a:buSzPts val="1400"/>
              <a:buChar char="-"/>
            </a:pPr>
            <a:r>
              <a:rPr lang="en"/>
              <a:t>Since the WCPC website is more of a public facing place to learn about the WCPC, we recommend adding all of the projects since 1992 to the WCPC website</a:t>
            </a:r>
            <a:endParaRPr/>
          </a:p>
          <a:p>
            <a:pPr indent="-317500" lvl="0" marL="457200" rtl="0" algn="l">
              <a:spcBef>
                <a:spcPts val="0"/>
              </a:spcBef>
              <a:spcAft>
                <a:spcPts val="0"/>
              </a:spcAft>
              <a:buSzPts val="1400"/>
              <a:buChar char="-"/>
            </a:pPr>
            <a:r>
              <a:rPr lang="en"/>
              <a:t>Add SDG’s to every Digital WPI project entry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Adopt Standard Tags:</a:t>
            </a:r>
            <a:endParaRPr/>
          </a:p>
          <a:p>
            <a:pPr indent="-317500" lvl="0" marL="457200" rtl="0" algn="l">
              <a:spcBef>
                <a:spcPts val="0"/>
              </a:spcBef>
              <a:spcAft>
                <a:spcPts val="0"/>
              </a:spcAft>
              <a:buSzPts val="1400"/>
              <a:buChar char="-"/>
            </a:pPr>
            <a:r>
              <a:rPr lang="en"/>
              <a:t>Categorize projects based on the themes we made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Annual Networking Event:</a:t>
            </a:r>
            <a:endParaRPr/>
          </a:p>
          <a:p>
            <a:pPr indent="-317500" lvl="0" marL="457200" rtl="0" algn="l">
              <a:spcBef>
                <a:spcPts val="0"/>
              </a:spcBef>
              <a:spcAft>
                <a:spcPts val="0"/>
              </a:spcAft>
              <a:buSzPts val="1400"/>
              <a:buChar char="-"/>
            </a:pPr>
            <a:r>
              <a:rPr lang="en"/>
              <a:t>Give organizations an </a:t>
            </a:r>
            <a:r>
              <a:rPr lang="en"/>
              <a:t>opportunity</a:t>
            </a:r>
            <a:r>
              <a:rPr lang="en"/>
              <a:t> to interact with eachother and wider community member</a:t>
            </a:r>
            <a:endParaRPr/>
          </a:p>
          <a:p>
            <a:pPr indent="-317500" lvl="0" marL="457200" rtl="0" algn="l">
              <a:spcBef>
                <a:spcPts val="0"/>
              </a:spcBef>
              <a:spcAft>
                <a:spcPts val="0"/>
              </a:spcAft>
              <a:buSzPts val="1400"/>
              <a:buChar char="-"/>
            </a:pPr>
            <a:r>
              <a:rPr lang="en"/>
              <a:t>Public partners page</a:t>
            </a:r>
            <a:endParaRPr/>
          </a:p>
          <a:p>
            <a:pPr indent="-317500" lvl="1" marL="914400" rtl="0" algn="l">
              <a:spcBef>
                <a:spcPts val="0"/>
              </a:spcBef>
              <a:spcAft>
                <a:spcPts val="0"/>
              </a:spcAft>
              <a:buClr>
                <a:schemeClr val="dk1"/>
              </a:buClr>
              <a:buSzPts val="1400"/>
              <a:buChar char="-"/>
            </a:pPr>
            <a:r>
              <a:rPr lang="en">
                <a:solidFill>
                  <a:schemeClr val="dk1"/>
                </a:solidFill>
              </a:rPr>
              <a:t>Shows the list of organizations the WCPC has partnered with</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Lists the years and number of projects each organization collaborated with the WCPC</a:t>
            </a:r>
            <a:endParaRPr/>
          </a:p>
          <a:p>
            <a:pPr indent="-317500" lvl="0" marL="457200" rtl="0" algn="l">
              <a:spcBef>
                <a:spcPts val="0"/>
              </a:spcBef>
              <a:spcAft>
                <a:spcPts val="0"/>
              </a:spcAft>
              <a:buSzPts val="1400"/>
              <a:buChar char="-"/>
            </a:pPr>
            <a:r>
              <a:rPr lang="en"/>
              <a:t>Give community members an </a:t>
            </a:r>
            <a:r>
              <a:rPr lang="en"/>
              <a:t>opportunity</a:t>
            </a:r>
            <a:r>
              <a:rPr lang="en"/>
              <a:t> to give feedback on project deliverables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991fc96f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c991fc96f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hyperlink" Target="https://tbakomolafe-pqasu.wordpress.com/" TargetMode="External"/><Relationship Id="rId4" Type="http://schemas.openxmlformats.org/officeDocument/2006/relationships/image" Target="../media/image10.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8" name="Shape 58"/>
        <p:cNvGrpSpPr/>
        <p:nvPr/>
      </p:nvGrpSpPr>
      <p:grpSpPr>
        <a:xfrm>
          <a:off x="0" y="0"/>
          <a:ext cx="0" cy="0"/>
          <a:chOff x="0" y="0"/>
          <a:chExt cx="0" cy="0"/>
        </a:xfrm>
      </p:grpSpPr>
      <p:sp>
        <p:nvSpPr>
          <p:cNvPr id="59" name="Google Shape;59;p13"/>
          <p:cNvSpPr txBox="1"/>
          <p:nvPr>
            <p:ph idx="1" type="subTitle"/>
          </p:nvPr>
        </p:nvSpPr>
        <p:spPr>
          <a:xfrm>
            <a:off x="298800" y="4148300"/>
            <a:ext cx="28419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434343"/>
                </a:solidFill>
              </a:rPr>
              <a:t>Advisor:</a:t>
            </a:r>
            <a:endParaRPr>
              <a:solidFill>
                <a:srgbClr val="434343"/>
              </a:solidFill>
            </a:endParaRPr>
          </a:p>
          <a:p>
            <a:pPr indent="0" lvl="0" marL="0" rtl="0" algn="ctr">
              <a:spcBef>
                <a:spcPts val="0"/>
              </a:spcBef>
              <a:spcAft>
                <a:spcPts val="0"/>
              </a:spcAft>
              <a:buNone/>
            </a:pPr>
            <a:r>
              <a:rPr lang="en">
                <a:solidFill>
                  <a:srgbClr val="434343"/>
                </a:solidFill>
              </a:rPr>
              <a:t>Courtney Kurlanska</a:t>
            </a:r>
            <a:endParaRPr>
              <a:solidFill>
                <a:srgbClr val="434343"/>
              </a:solidFill>
            </a:endParaRPr>
          </a:p>
        </p:txBody>
      </p:sp>
      <p:sp>
        <p:nvSpPr>
          <p:cNvPr id="60" name="Google Shape;60;p13"/>
          <p:cNvSpPr txBox="1"/>
          <p:nvPr>
            <p:ph type="ctrTitle"/>
          </p:nvPr>
        </p:nvSpPr>
        <p:spPr>
          <a:xfrm>
            <a:off x="671258" y="1104000"/>
            <a:ext cx="7801500" cy="173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Legacy of WCPC’s Impact in the Greater Worcester Area</a:t>
            </a:r>
            <a:endParaRPr/>
          </a:p>
        </p:txBody>
      </p:sp>
      <p:sp>
        <p:nvSpPr>
          <p:cNvPr id="61" name="Google Shape;61;p13"/>
          <p:cNvSpPr txBox="1"/>
          <p:nvPr>
            <p:ph idx="1" type="subTitle"/>
          </p:nvPr>
        </p:nvSpPr>
        <p:spPr>
          <a:xfrm>
            <a:off x="671250" y="3242501"/>
            <a:ext cx="78015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Student Researchers:</a:t>
            </a:r>
            <a:endParaRPr>
              <a:solidFill>
                <a:schemeClr val="dk1"/>
              </a:solidFill>
            </a:endParaRPr>
          </a:p>
          <a:p>
            <a:pPr indent="0" lvl="0" marL="0" rtl="0" algn="ctr">
              <a:spcBef>
                <a:spcPts val="0"/>
              </a:spcBef>
              <a:spcAft>
                <a:spcPts val="0"/>
              </a:spcAft>
              <a:buNone/>
            </a:pPr>
            <a:r>
              <a:rPr lang="en">
                <a:solidFill>
                  <a:schemeClr val="dk1"/>
                </a:solidFill>
              </a:rPr>
              <a:t>Adam Beckman, Toluwani Akomolafe, Malak Haida</a:t>
            </a:r>
            <a:endParaRPr>
              <a:solidFill>
                <a:schemeClr val="dk1"/>
              </a:solidFill>
            </a:endParaRPr>
          </a:p>
        </p:txBody>
      </p:sp>
      <p:sp>
        <p:nvSpPr>
          <p:cNvPr id="62" name="Google Shape;62;p13"/>
          <p:cNvSpPr txBox="1"/>
          <p:nvPr>
            <p:ph idx="1" type="subTitle"/>
          </p:nvPr>
        </p:nvSpPr>
        <p:spPr>
          <a:xfrm>
            <a:off x="5999350" y="4221025"/>
            <a:ext cx="28419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434343"/>
                </a:solidFill>
              </a:rPr>
              <a:t>Sponsor:</a:t>
            </a:r>
            <a:endParaRPr>
              <a:solidFill>
                <a:srgbClr val="434343"/>
              </a:solidFill>
            </a:endParaRPr>
          </a:p>
          <a:p>
            <a:pPr indent="0" lvl="0" marL="0" rtl="0" algn="ctr">
              <a:spcBef>
                <a:spcPts val="0"/>
              </a:spcBef>
              <a:spcAft>
                <a:spcPts val="0"/>
              </a:spcAft>
              <a:buNone/>
            </a:pPr>
            <a:r>
              <a:rPr lang="en">
                <a:solidFill>
                  <a:srgbClr val="434343"/>
                </a:solidFill>
              </a:rPr>
              <a:t>Amanda Wittman</a:t>
            </a:r>
            <a:endParaRPr>
              <a:solidFill>
                <a:srgbClr val="434343"/>
              </a:solidFill>
            </a:endParaRPr>
          </a:p>
        </p:txBody>
      </p:sp>
      <p:pic>
        <p:nvPicPr>
          <p:cNvPr id="63" name="Google Shape;63;p13"/>
          <p:cNvPicPr preferRelativeResize="0"/>
          <p:nvPr/>
        </p:nvPicPr>
        <p:blipFill>
          <a:blip r:embed="rId3">
            <a:alphaModFix/>
          </a:blip>
          <a:stretch>
            <a:fillRect/>
          </a:stretch>
        </p:blipFill>
        <p:spPr>
          <a:xfrm>
            <a:off x="2268300" y="196550"/>
            <a:ext cx="4607376" cy="90745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txBox="1"/>
          <p:nvPr>
            <p:ph type="title"/>
          </p:nvPr>
        </p:nvSpPr>
        <p:spPr>
          <a:xfrm>
            <a:off x="311700" y="297950"/>
            <a:ext cx="8520600" cy="120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Our Project Documents The Stories And The Impact Of The Worcester Community Project Center </a:t>
            </a:r>
            <a:endParaRPr/>
          </a:p>
        </p:txBody>
      </p:sp>
      <p:sp>
        <p:nvSpPr>
          <p:cNvPr id="69" name="Google Shape;69;p14"/>
          <p:cNvSpPr txBox="1"/>
          <p:nvPr/>
        </p:nvSpPr>
        <p:spPr>
          <a:xfrm>
            <a:off x="4362725" y="2788150"/>
            <a:ext cx="480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accent3"/>
              </a:solidFill>
              <a:latin typeface="Average"/>
              <a:ea typeface="Average"/>
              <a:cs typeface="Average"/>
              <a:sym typeface="Average"/>
            </a:endParaRPr>
          </a:p>
        </p:txBody>
      </p:sp>
      <p:pic>
        <p:nvPicPr>
          <p:cNvPr id="70" name="Google Shape;70;p14"/>
          <p:cNvPicPr preferRelativeResize="0"/>
          <p:nvPr/>
        </p:nvPicPr>
        <p:blipFill rotWithShape="1">
          <a:blip r:embed="rId3">
            <a:alphaModFix/>
          </a:blip>
          <a:srcRect b="4394" l="0" r="0" t="17426"/>
          <a:stretch/>
        </p:blipFill>
        <p:spPr>
          <a:xfrm>
            <a:off x="1298875" y="1501100"/>
            <a:ext cx="6546228" cy="3416401"/>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4" name="Shape 74"/>
        <p:cNvGrpSpPr/>
        <p:nvPr/>
      </p:nvGrpSpPr>
      <p:grpSpPr>
        <a:xfrm>
          <a:off x="0" y="0"/>
          <a:ext cx="0" cy="0"/>
          <a:chOff x="0" y="0"/>
          <a:chExt cx="0" cy="0"/>
        </a:xfrm>
      </p:grpSpPr>
      <p:sp>
        <p:nvSpPr>
          <p:cNvPr id="75" name="Google Shape;75;p15"/>
          <p:cNvSpPr txBox="1"/>
          <p:nvPr>
            <p:ph type="title"/>
          </p:nvPr>
        </p:nvSpPr>
        <p:spPr>
          <a:xfrm>
            <a:off x="645900" y="379625"/>
            <a:ext cx="7852200" cy="861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00"/>
                </a:solidFill>
              </a:rPr>
              <a:t>High Impact Learning Connects Universities, Students &amp; The Community</a:t>
            </a:r>
            <a:endParaRPr>
              <a:solidFill>
                <a:srgbClr val="000000"/>
              </a:solidFill>
            </a:endParaRPr>
          </a:p>
        </p:txBody>
      </p:sp>
      <p:pic>
        <p:nvPicPr>
          <p:cNvPr id="76" name="Google Shape;76;p15"/>
          <p:cNvPicPr preferRelativeResize="0"/>
          <p:nvPr/>
        </p:nvPicPr>
        <p:blipFill>
          <a:blip r:embed="rId3">
            <a:alphaModFix/>
          </a:blip>
          <a:stretch>
            <a:fillRect/>
          </a:stretch>
        </p:blipFill>
        <p:spPr>
          <a:xfrm>
            <a:off x="4523250" y="1554900"/>
            <a:ext cx="3314700" cy="3324225"/>
          </a:xfrm>
          <a:prstGeom prst="rect">
            <a:avLst/>
          </a:prstGeom>
          <a:noFill/>
          <a:ln cap="flat" cmpd="sng" w="28575">
            <a:solidFill>
              <a:srgbClr val="000000"/>
            </a:solidFill>
            <a:prstDash val="solid"/>
            <a:round/>
            <a:headEnd len="sm" w="sm" type="none"/>
            <a:tailEnd len="sm" w="sm" type="none"/>
          </a:ln>
        </p:spPr>
      </p:pic>
      <p:sp>
        <p:nvSpPr>
          <p:cNvPr id="77" name="Google Shape;77;p15"/>
          <p:cNvSpPr txBox="1"/>
          <p:nvPr/>
        </p:nvSpPr>
        <p:spPr>
          <a:xfrm>
            <a:off x="1833325" y="1905725"/>
            <a:ext cx="1676700" cy="1015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Average"/>
                <a:ea typeface="Average"/>
                <a:cs typeface="Average"/>
                <a:sym typeface="Average"/>
              </a:rPr>
              <a:t>Project Based Learning (PBL)</a:t>
            </a:r>
            <a:endParaRPr sz="1800">
              <a:latin typeface="Average"/>
              <a:ea typeface="Average"/>
              <a:cs typeface="Average"/>
              <a:sym typeface="Average"/>
            </a:endParaRPr>
          </a:p>
        </p:txBody>
      </p:sp>
      <p:sp>
        <p:nvSpPr>
          <p:cNvPr id="78" name="Google Shape;78;p15"/>
          <p:cNvSpPr txBox="1"/>
          <p:nvPr/>
        </p:nvSpPr>
        <p:spPr>
          <a:xfrm>
            <a:off x="1833325" y="3235300"/>
            <a:ext cx="16767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latin typeface="Average"/>
                <a:ea typeface="Average"/>
                <a:cs typeface="Average"/>
                <a:sym typeface="Average"/>
              </a:rPr>
              <a:t>Community Engaged Learning (CEL)</a:t>
            </a:r>
            <a:endParaRPr sz="1800">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 name="Shape 82"/>
        <p:cNvGrpSpPr/>
        <p:nvPr/>
      </p:nvGrpSpPr>
      <p:grpSpPr>
        <a:xfrm>
          <a:off x="0" y="0"/>
          <a:ext cx="0" cy="0"/>
          <a:chOff x="0" y="0"/>
          <a:chExt cx="0" cy="0"/>
        </a:xfrm>
      </p:grpSpPr>
      <p:sp>
        <p:nvSpPr>
          <p:cNvPr id="83" name="Google Shape;83;p16"/>
          <p:cNvSpPr txBox="1"/>
          <p:nvPr>
            <p:ph type="title"/>
          </p:nvPr>
        </p:nvSpPr>
        <p:spPr>
          <a:xfrm>
            <a:off x="311700" y="102225"/>
            <a:ext cx="8832300" cy="115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Content Analysis Provided The Foundation For Understanding WCPC Projects</a:t>
            </a:r>
            <a:endParaRPr/>
          </a:p>
        </p:txBody>
      </p:sp>
      <p:grpSp>
        <p:nvGrpSpPr>
          <p:cNvPr id="84" name="Google Shape;84;p16"/>
          <p:cNvGrpSpPr/>
          <p:nvPr/>
        </p:nvGrpSpPr>
        <p:grpSpPr>
          <a:xfrm>
            <a:off x="311699" y="1689901"/>
            <a:ext cx="2129166" cy="2610130"/>
            <a:chOff x="431925" y="1304875"/>
            <a:chExt cx="2628925" cy="3416400"/>
          </a:xfrm>
        </p:grpSpPr>
        <p:sp>
          <p:nvSpPr>
            <p:cNvPr id="85" name="Google Shape;85;p16"/>
            <p:cNvSpPr txBox="1"/>
            <p:nvPr/>
          </p:nvSpPr>
          <p:spPr>
            <a:xfrm>
              <a:off x="431925" y="1304875"/>
              <a:ext cx="2628900" cy="464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4319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 name="Google Shape;87;p16"/>
          <p:cNvSpPr txBox="1"/>
          <p:nvPr>
            <p:ph idx="4294967295" type="body"/>
          </p:nvPr>
        </p:nvSpPr>
        <p:spPr>
          <a:xfrm>
            <a:off x="311700" y="1646950"/>
            <a:ext cx="19206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Content Analysis</a:t>
            </a:r>
            <a:endParaRPr>
              <a:solidFill>
                <a:schemeClr val="lt1"/>
              </a:solidFill>
            </a:endParaRPr>
          </a:p>
        </p:txBody>
      </p:sp>
      <p:sp>
        <p:nvSpPr>
          <p:cNvPr id="88" name="Google Shape;88;p16"/>
          <p:cNvSpPr txBox="1"/>
          <p:nvPr>
            <p:ph idx="4294967295" type="body"/>
          </p:nvPr>
        </p:nvSpPr>
        <p:spPr>
          <a:xfrm>
            <a:off x="420650" y="2184350"/>
            <a:ext cx="1911300" cy="2006700"/>
          </a:xfrm>
          <a:prstGeom prst="rect">
            <a:avLst/>
          </a:prstGeom>
        </p:spPr>
        <p:txBody>
          <a:bodyPr anchorCtr="0" anchor="t" bIns="91425" lIns="91425" spcFirstLastPara="1" rIns="91425" wrap="square" tIns="91425">
            <a:noAutofit/>
          </a:bodyPr>
          <a:lstStyle/>
          <a:p>
            <a:pPr indent="-330200" lvl="0" marL="457200" rtl="0" algn="l">
              <a:lnSpc>
                <a:spcPct val="200000"/>
              </a:lnSpc>
              <a:spcBef>
                <a:spcPts val="0"/>
              </a:spcBef>
              <a:spcAft>
                <a:spcPts val="0"/>
              </a:spcAft>
              <a:buClr>
                <a:schemeClr val="dk1"/>
              </a:buClr>
              <a:buSzPts val="1600"/>
              <a:buChar char="●"/>
            </a:pPr>
            <a:r>
              <a:rPr lang="en" sz="1600">
                <a:solidFill>
                  <a:schemeClr val="dk1"/>
                </a:solidFill>
              </a:rPr>
              <a:t>Examined all 264 projects</a:t>
            </a:r>
            <a:endParaRPr sz="1600">
              <a:solidFill>
                <a:schemeClr val="dk1"/>
              </a:solidFill>
            </a:endParaRPr>
          </a:p>
          <a:p>
            <a:pPr indent="-330200" lvl="0" marL="457200" rtl="0" algn="l">
              <a:lnSpc>
                <a:spcPct val="200000"/>
              </a:lnSpc>
              <a:spcBef>
                <a:spcPts val="0"/>
              </a:spcBef>
              <a:spcAft>
                <a:spcPts val="0"/>
              </a:spcAft>
              <a:buClr>
                <a:schemeClr val="dk1"/>
              </a:buClr>
              <a:buSzPts val="1600"/>
              <a:buChar char="●"/>
            </a:pPr>
            <a:r>
              <a:rPr lang="en" sz="1600">
                <a:solidFill>
                  <a:schemeClr val="dk1"/>
                </a:solidFill>
              </a:rPr>
              <a:t>Coding the data</a:t>
            </a:r>
            <a:endParaRPr sz="1600">
              <a:solidFill>
                <a:schemeClr val="dk1"/>
              </a:solidFill>
            </a:endParaRPr>
          </a:p>
          <a:p>
            <a:pPr indent="0" lvl="0" marL="0" rtl="0" algn="l">
              <a:lnSpc>
                <a:spcPct val="150000"/>
              </a:lnSpc>
              <a:spcBef>
                <a:spcPts val="0"/>
              </a:spcBef>
              <a:spcAft>
                <a:spcPts val="1600"/>
              </a:spcAft>
              <a:buNone/>
            </a:pPr>
            <a:r>
              <a:t/>
            </a:r>
            <a:endParaRPr sz="1600">
              <a:solidFill>
                <a:schemeClr val="lt1"/>
              </a:solidFill>
            </a:endParaRPr>
          </a:p>
        </p:txBody>
      </p:sp>
      <p:pic>
        <p:nvPicPr>
          <p:cNvPr id="89" name="Google Shape;89;p16"/>
          <p:cNvPicPr preferRelativeResize="0"/>
          <p:nvPr/>
        </p:nvPicPr>
        <p:blipFill>
          <a:blip r:embed="rId3">
            <a:alphaModFix/>
          </a:blip>
          <a:stretch>
            <a:fillRect/>
          </a:stretch>
        </p:blipFill>
        <p:spPr>
          <a:xfrm>
            <a:off x="2850600" y="1344525"/>
            <a:ext cx="6124575" cy="3657600"/>
          </a:xfrm>
          <a:prstGeom prst="rect">
            <a:avLst/>
          </a:prstGeom>
          <a:noFill/>
          <a:ln cap="flat" cmpd="sng" w="28575">
            <a:solidFill>
              <a:schemeClr val="dk1"/>
            </a:solidFill>
            <a:prstDash val="solid"/>
            <a:miter lim="8000"/>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3" name="Shape 93"/>
        <p:cNvGrpSpPr/>
        <p:nvPr/>
      </p:nvGrpSpPr>
      <p:grpSpPr>
        <a:xfrm>
          <a:off x="0" y="0"/>
          <a:ext cx="0" cy="0"/>
          <a:chOff x="0" y="0"/>
          <a:chExt cx="0" cy="0"/>
        </a:xfrm>
      </p:grpSpPr>
      <p:sp>
        <p:nvSpPr>
          <p:cNvPr id="94" name="Google Shape;94;p17"/>
          <p:cNvSpPr txBox="1"/>
          <p:nvPr>
            <p:ph type="title"/>
          </p:nvPr>
        </p:nvSpPr>
        <p:spPr>
          <a:xfrm>
            <a:off x="540075" y="1302300"/>
            <a:ext cx="2659200" cy="25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rPr>
              <a:t>Coding From Our Content Analysis </a:t>
            </a:r>
            <a:r>
              <a:rPr lang="en">
                <a:solidFill>
                  <a:srgbClr val="000000"/>
                </a:solidFill>
              </a:rPr>
              <a:t>Helped </a:t>
            </a:r>
            <a:r>
              <a:rPr lang="en">
                <a:solidFill>
                  <a:srgbClr val="000000"/>
                </a:solidFill>
              </a:rPr>
              <a:t>Derive Themes</a:t>
            </a:r>
            <a:endParaRPr>
              <a:solidFill>
                <a:srgbClr val="000000"/>
              </a:solidFill>
            </a:endParaRPr>
          </a:p>
        </p:txBody>
      </p:sp>
      <p:pic>
        <p:nvPicPr>
          <p:cNvPr descr="Screenshot 2026-01-27 at 1.42.16 PM.png" id="95" name="Google Shape;95;p17"/>
          <p:cNvPicPr preferRelativeResize="0"/>
          <p:nvPr/>
        </p:nvPicPr>
        <p:blipFill>
          <a:blip r:embed="rId3">
            <a:alphaModFix/>
          </a:blip>
          <a:stretch>
            <a:fillRect/>
          </a:stretch>
        </p:blipFill>
        <p:spPr>
          <a:xfrm>
            <a:off x="3808150" y="120075"/>
            <a:ext cx="4903350" cy="4903350"/>
          </a:xfrm>
          <a:prstGeom prst="rect">
            <a:avLst/>
          </a:prstGeom>
          <a:noFill/>
          <a:ln cap="flat" cmpd="sng" w="28575">
            <a:solidFill>
              <a:schemeClr val="dk1"/>
            </a:solidFill>
            <a:prstDash val="solid"/>
            <a:miter lim="8000"/>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9" name="Shape 99"/>
        <p:cNvGrpSpPr/>
        <p:nvPr/>
      </p:nvGrpSpPr>
      <p:grpSpPr>
        <a:xfrm>
          <a:off x="0" y="0"/>
          <a:ext cx="0" cy="0"/>
          <a:chOff x="0" y="0"/>
          <a:chExt cx="0" cy="0"/>
        </a:xfrm>
      </p:grpSpPr>
      <p:sp>
        <p:nvSpPr>
          <p:cNvPr id="100" name="Google Shape;100;p18"/>
          <p:cNvSpPr/>
          <p:nvPr/>
        </p:nvSpPr>
        <p:spPr>
          <a:xfrm>
            <a:off x="130475" y="962338"/>
            <a:ext cx="3699300" cy="3414600"/>
          </a:xfrm>
          <a:prstGeom prst="ellipse">
            <a:avLst/>
          </a:prstGeom>
          <a:solidFill>
            <a:srgbClr val="FFF2CC"/>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01" name="Google Shape;101;p18"/>
          <p:cNvSpPr txBox="1"/>
          <p:nvPr>
            <p:ph type="title"/>
          </p:nvPr>
        </p:nvSpPr>
        <p:spPr>
          <a:xfrm>
            <a:off x="533825" y="1335300"/>
            <a:ext cx="2892600" cy="42474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rPr>
              <a:t>FINDING 1: </a:t>
            </a:r>
            <a:r>
              <a:rPr lang="en">
                <a:solidFill>
                  <a:srgbClr val="000000"/>
                </a:solidFill>
              </a:rPr>
              <a:t>WCPC Has Helped 168 Organizations In Different Themes With Student Projects.</a:t>
            </a:r>
            <a:endParaRPr>
              <a:solidFill>
                <a:srgbClr val="000000"/>
              </a:solidFill>
            </a:endParaRPr>
          </a:p>
        </p:txBody>
      </p:sp>
      <p:pic>
        <p:nvPicPr>
          <p:cNvPr id="102" name="Google Shape;102;p18"/>
          <p:cNvPicPr preferRelativeResize="0"/>
          <p:nvPr/>
        </p:nvPicPr>
        <p:blipFill>
          <a:blip r:embed="rId3">
            <a:alphaModFix/>
          </a:blip>
          <a:stretch>
            <a:fillRect/>
          </a:stretch>
        </p:blipFill>
        <p:spPr>
          <a:xfrm>
            <a:off x="4156925" y="150750"/>
            <a:ext cx="4783825" cy="4460450"/>
          </a:xfrm>
          <a:prstGeom prst="rect">
            <a:avLst/>
          </a:prstGeom>
          <a:noFill/>
          <a:ln cap="flat" cmpd="sng" w="28575">
            <a:solidFill>
              <a:srgbClr val="FFF2CC"/>
            </a:solidFill>
            <a:prstDash val="solid"/>
            <a:round/>
            <a:headEnd len="sm" w="sm" type="none"/>
            <a:tailEnd len="sm" w="sm" type="none"/>
          </a:ln>
        </p:spPr>
      </p:pic>
      <p:sp>
        <p:nvSpPr>
          <p:cNvPr id="103" name="Google Shape;103;p18"/>
          <p:cNvSpPr txBox="1"/>
          <p:nvPr/>
        </p:nvSpPr>
        <p:spPr>
          <a:xfrm>
            <a:off x="4046000" y="4611200"/>
            <a:ext cx="5157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800">
                <a:solidFill>
                  <a:srgbClr val="CCCCCC"/>
                </a:solidFill>
                <a:latin typeface="Average"/>
                <a:ea typeface="Average"/>
                <a:cs typeface="Average"/>
                <a:sym typeface="Average"/>
              </a:rPr>
              <a:t>m</a:t>
            </a:r>
            <a:r>
              <a:rPr i="1" lang="en" sz="1800">
                <a:solidFill>
                  <a:srgbClr val="CCCCCC"/>
                </a:solidFill>
                <a:latin typeface="Average"/>
                <a:ea typeface="Average"/>
                <a:cs typeface="Average"/>
                <a:sym typeface="Average"/>
              </a:rPr>
              <a:t>ost frequent across all projects</a:t>
            </a:r>
            <a:endParaRPr i="1" sz="1800">
              <a:solidFill>
                <a:srgbClr val="CCCCCC"/>
              </a:solidFill>
              <a:latin typeface="Average"/>
              <a:ea typeface="Average"/>
              <a:cs typeface="Average"/>
              <a:sym typeface="Averag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7" name="Shape 107"/>
        <p:cNvGrpSpPr/>
        <p:nvPr/>
      </p:nvGrpSpPr>
      <p:grpSpPr>
        <a:xfrm>
          <a:off x="0" y="0"/>
          <a:ext cx="0" cy="0"/>
          <a:chOff x="0" y="0"/>
          <a:chExt cx="0" cy="0"/>
        </a:xfrm>
      </p:grpSpPr>
      <p:sp>
        <p:nvSpPr>
          <p:cNvPr id="108" name="Google Shape;108;p19"/>
          <p:cNvSpPr txBox="1"/>
          <p:nvPr>
            <p:ph type="title"/>
          </p:nvPr>
        </p:nvSpPr>
        <p:spPr>
          <a:xfrm>
            <a:off x="62950" y="55050"/>
            <a:ext cx="9081000" cy="276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Geographic Mapping Highlights WCPC’s Strong Community Presence</a:t>
            </a:r>
            <a:endParaRPr>
              <a:solidFill>
                <a:srgbClr val="000000"/>
              </a:solidFill>
            </a:endParaRPr>
          </a:p>
        </p:txBody>
      </p:sp>
      <p:sp>
        <p:nvSpPr>
          <p:cNvPr id="109" name="Google Shape;109;p19"/>
          <p:cNvSpPr txBox="1"/>
          <p:nvPr/>
        </p:nvSpPr>
        <p:spPr>
          <a:xfrm>
            <a:off x="0" y="4545875"/>
            <a:ext cx="113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Average"/>
                <a:ea typeface="Average"/>
                <a:cs typeface="Average"/>
                <a:sym typeface="Average"/>
              </a:rPr>
              <a:t>Finding 1</a:t>
            </a:r>
            <a:endParaRPr sz="1800">
              <a:solidFill>
                <a:schemeClr val="lt1"/>
              </a:solidFill>
              <a:latin typeface="Average"/>
              <a:ea typeface="Average"/>
              <a:cs typeface="Average"/>
              <a:sym typeface="Average"/>
            </a:endParaRPr>
          </a:p>
        </p:txBody>
      </p:sp>
      <p:pic>
        <p:nvPicPr>
          <p:cNvPr id="110" name="Google Shape;110;p19"/>
          <p:cNvPicPr preferRelativeResize="0"/>
          <p:nvPr/>
        </p:nvPicPr>
        <p:blipFill>
          <a:blip r:embed="rId3">
            <a:alphaModFix/>
          </a:blip>
          <a:stretch>
            <a:fillRect/>
          </a:stretch>
        </p:blipFill>
        <p:spPr>
          <a:xfrm>
            <a:off x="1131000" y="1119000"/>
            <a:ext cx="7908801" cy="3943125"/>
          </a:xfrm>
          <a:prstGeom prst="rect">
            <a:avLst/>
          </a:prstGeom>
          <a:noFill/>
          <a:ln cap="flat" cmpd="sng" w="28575">
            <a:solidFill>
              <a:schemeClr val="lt1"/>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341450"/>
            <a:ext cx="8553000" cy="275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How The WCPC’s Involvement In The Community Evolved</a:t>
            </a:r>
            <a:endParaRPr>
              <a:solidFill>
                <a:srgbClr val="000000"/>
              </a:solidFill>
            </a:endParaRPr>
          </a:p>
        </p:txBody>
      </p:sp>
      <p:pic>
        <p:nvPicPr>
          <p:cNvPr id="116" name="Google Shape;116;p20" title="Screenshot 2026-02-09 at 2.31.42 PM.png"/>
          <p:cNvPicPr preferRelativeResize="0"/>
          <p:nvPr/>
        </p:nvPicPr>
        <p:blipFill>
          <a:blip r:embed="rId3">
            <a:alphaModFix/>
          </a:blip>
          <a:stretch>
            <a:fillRect/>
          </a:stretch>
        </p:blipFill>
        <p:spPr>
          <a:xfrm>
            <a:off x="1959500" y="1162725"/>
            <a:ext cx="6622649" cy="3820750"/>
          </a:xfrm>
          <a:prstGeom prst="rect">
            <a:avLst/>
          </a:prstGeom>
          <a:noFill/>
          <a:ln cap="flat" cmpd="sng" w="28575">
            <a:solidFill>
              <a:srgbClr val="000000"/>
            </a:solidFill>
            <a:prstDash val="solid"/>
            <a:miter lim="8000"/>
            <a:headEnd len="sm" w="sm" type="none"/>
            <a:tailEnd len="sm" w="sm" type="none"/>
          </a:ln>
        </p:spPr>
      </p:pic>
      <p:sp>
        <p:nvSpPr>
          <p:cNvPr id="117" name="Google Shape;117;p20"/>
          <p:cNvSpPr txBox="1"/>
          <p:nvPr/>
        </p:nvSpPr>
        <p:spPr>
          <a:xfrm>
            <a:off x="121800" y="4545875"/>
            <a:ext cx="113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Average"/>
                <a:ea typeface="Average"/>
                <a:cs typeface="Average"/>
                <a:sym typeface="Average"/>
              </a:rPr>
              <a:t>Finding 1</a:t>
            </a:r>
            <a:endParaRPr sz="1800">
              <a:solidFill>
                <a:schemeClr val="lt1"/>
              </a:solidFill>
              <a:latin typeface="Average"/>
              <a:ea typeface="Average"/>
              <a:cs typeface="Average"/>
              <a:sym typeface="Average"/>
            </a:endParaRPr>
          </a:p>
        </p:txBody>
      </p:sp>
      <p:sp>
        <p:nvSpPr>
          <p:cNvPr id="118" name="Google Shape;118;p20"/>
          <p:cNvSpPr txBox="1"/>
          <p:nvPr/>
        </p:nvSpPr>
        <p:spPr>
          <a:xfrm>
            <a:off x="4096400" y="1162725"/>
            <a:ext cx="1897500" cy="4002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Average"/>
                <a:ea typeface="Average"/>
                <a:cs typeface="Average"/>
                <a:sym typeface="Average"/>
              </a:rPr>
              <a:t>Total Projects Per Year</a:t>
            </a:r>
            <a:endParaRPr>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 name="Shape 122"/>
        <p:cNvGrpSpPr/>
        <p:nvPr/>
      </p:nvGrpSpPr>
      <p:grpSpPr>
        <a:xfrm>
          <a:off x="0" y="0"/>
          <a:ext cx="0" cy="0"/>
          <a:chOff x="0" y="0"/>
          <a:chExt cx="0" cy="0"/>
        </a:xfrm>
      </p:grpSpPr>
      <p:sp>
        <p:nvSpPr>
          <p:cNvPr id="123" name="Google Shape;123;p21"/>
          <p:cNvSpPr/>
          <p:nvPr/>
        </p:nvSpPr>
        <p:spPr>
          <a:xfrm>
            <a:off x="130475" y="962338"/>
            <a:ext cx="3699300" cy="3414600"/>
          </a:xfrm>
          <a:prstGeom prst="ellipse">
            <a:avLst/>
          </a:prstGeom>
          <a:solidFill>
            <a:srgbClr val="E6B8AF"/>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24" name="Google Shape;124;p21"/>
          <p:cNvSpPr txBox="1"/>
          <p:nvPr>
            <p:ph type="title"/>
          </p:nvPr>
        </p:nvSpPr>
        <p:spPr>
          <a:xfrm>
            <a:off x="283775" y="1591750"/>
            <a:ext cx="3392700" cy="27852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rPr>
              <a:t>FINDING 2: </a:t>
            </a:r>
            <a:r>
              <a:rPr lang="en">
                <a:solidFill>
                  <a:srgbClr val="000000"/>
                </a:solidFill>
              </a:rPr>
              <a:t>WCPC Created Long-Term Relationships With Real-Word Impact</a:t>
            </a:r>
            <a:endParaRPr>
              <a:solidFill>
                <a:srgbClr val="000000"/>
              </a:solidFill>
            </a:endParaRPr>
          </a:p>
        </p:txBody>
      </p:sp>
      <p:sp>
        <p:nvSpPr>
          <p:cNvPr id="125" name="Google Shape;125;p21"/>
          <p:cNvSpPr txBox="1"/>
          <p:nvPr/>
        </p:nvSpPr>
        <p:spPr>
          <a:xfrm>
            <a:off x="4219213" y="4593275"/>
            <a:ext cx="5157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800">
                <a:solidFill>
                  <a:srgbClr val="B7B7B7"/>
                </a:solidFill>
                <a:latin typeface="Average"/>
                <a:ea typeface="Average"/>
                <a:cs typeface="Average"/>
                <a:sym typeface="Average"/>
              </a:rPr>
              <a:t>organizations that partnered with WCPC</a:t>
            </a:r>
            <a:endParaRPr i="1" sz="1800">
              <a:solidFill>
                <a:srgbClr val="B7B7B7"/>
              </a:solidFill>
              <a:latin typeface="Average"/>
              <a:ea typeface="Average"/>
              <a:cs typeface="Average"/>
              <a:sym typeface="Average"/>
            </a:endParaRPr>
          </a:p>
        </p:txBody>
      </p:sp>
      <p:pic>
        <p:nvPicPr>
          <p:cNvPr id="126" name="Google Shape;126;p21" title="OrganizationWordCloud2.jpg"/>
          <p:cNvPicPr preferRelativeResize="0"/>
          <p:nvPr/>
        </p:nvPicPr>
        <p:blipFill>
          <a:blip r:embed="rId3">
            <a:alphaModFix/>
          </a:blip>
          <a:stretch>
            <a:fillRect/>
          </a:stretch>
        </p:blipFill>
        <p:spPr>
          <a:xfrm>
            <a:off x="4653925" y="304800"/>
            <a:ext cx="4288476" cy="4288476"/>
          </a:xfrm>
          <a:prstGeom prst="rect">
            <a:avLst/>
          </a:prstGeom>
          <a:noFill/>
          <a:ln cap="flat" cmpd="sng" w="28575">
            <a:solidFill>
              <a:srgbClr val="FCE5CD"/>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445025"/>
            <a:ext cx="2659200" cy="208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rPr>
              <a:t>Most Projects Focused On Program Development</a:t>
            </a:r>
            <a:endParaRPr>
              <a:solidFill>
                <a:srgbClr val="000000"/>
              </a:solidFill>
            </a:endParaRPr>
          </a:p>
        </p:txBody>
      </p:sp>
      <p:pic>
        <p:nvPicPr>
          <p:cNvPr id="132" name="Google Shape;132;p22"/>
          <p:cNvPicPr preferRelativeResize="0"/>
          <p:nvPr/>
        </p:nvPicPr>
        <p:blipFill rotWithShape="1">
          <a:blip r:embed="rId3">
            <a:alphaModFix/>
          </a:blip>
          <a:srcRect b="0" l="24998" r="0" t="0"/>
          <a:stretch/>
        </p:blipFill>
        <p:spPr>
          <a:xfrm>
            <a:off x="3315475" y="244675"/>
            <a:ext cx="5614700" cy="4762900"/>
          </a:xfrm>
          <a:prstGeom prst="rect">
            <a:avLst/>
          </a:prstGeom>
          <a:noFill/>
          <a:ln cap="flat" cmpd="sng" w="28575">
            <a:solidFill>
              <a:srgbClr val="000000"/>
            </a:solidFill>
            <a:prstDash val="solid"/>
            <a:round/>
            <a:headEnd len="sm" w="sm" type="none"/>
            <a:tailEnd len="sm" w="sm" type="none"/>
          </a:ln>
        </p:spPr>
      </p:pic>
      <p:sp>
        <p:nvSpPr>
          <p:cNvPr id="133" name="Google Shape;133;p22"/>
          <p:cNvSpPr txBox="1"/>
          <p:nvPr/>
        </p:nvSpPr>
        <p:spPr>
          <a:xfrm>
            <a:off x="121800" y="4545875"/>
            <a:ext cx="113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Average"/>
                <a:ea typeface="Average"/>
                <a:cs typeface="Average"/>
                <a:sym typeface="Average"/>
              </a:rPr>
              <a:t>Finding 2</a:t>
            </a:r>
            <a:endParaRPr sz="1800">
              <a:solidFill>
                <a:schemeClr val="lt1"/>
              </a:solidFill>
              <a:latin typeface="Average"/>
              <a:ea typeface="Average"/>
              <a:cs typeface="Average"/>
              <a:sym typeface="Average"/>
            </a:endParaRPr>
          </a:p>
        </p:txBody>
      </p:sp>
      <p:sp>
        <p:nvSpPr>
          <p:cNvPr id="134" name="Google Shape;134;p22"/>
          <p:cNvSpPr txBox="1"/>
          <p:nvPr/>
        </p:nvSpPr>
        <p:spPr>
          <a:xfrm>
            <a:off x="3799350" y="315675"/>
            <a:ext cx="4858800" cy="461700"/>
          </a:xfrm>
          <a:prstGeom prst="rect">
            <a:avLst/>
          </a:prstGeom>
          <a:solidFill>
            <a:schemeClr val="dk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Average"/>
                <a:ea typeface="Average"/>
                <a:cs typeface="Average"/>
                <a:sym typeface="Average"/>
              </a:rPr>
              <a:t>Project Themes by Count from Content Analysis</a:t>
            </a:r>
            <a:endParaRPr sz="1800">
              <a:latin typeface="Average"/>
              <a:ea typeface="Average"/>
              <a:cs typeface="Average"/>
              <a:sym typeface="Averag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sp>
        <p:nvSpPr>
          <p:cNvPr id="139" name="Google Shape;139;p23"/>
          <p:cNvSpPr/>
          <p:nvPr/>
        </p:nvSpPr>
        <p:spPr>
          <a:xfrm>
            <a:off x="3014900" y="1848721"/>
            <a:ext cx="3060300" cy="2251200"/>
          </a:xfrm>
          <a:prstGeom prst="ellipse">
            <a:avLst/>
          </a:prstGeom>
          <a:solidFill>
            <a:srgbClr val="D9D2E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
        <p:nvSpPr>
          <p:cNvPr id="140" name="Google Shape;140;p23"/>
          <p:cNvSpPr txBox="1"/>
          <p:nvPr>
            <p:ph type="title"/>
          </p:nvPr>
        </p:nvSpPr>
        <p:spPr>
          <a:xfrm>
            <a:off x="388700" y="225850"/>
            <a:ext cx="8312700" cy="2082000"/>
          </a:xfrm>
          <a:prstGeom prst="rect">
            <a:avLst/>
          </a:prstGeom>
          <a:noFill/>
        </p:spPr>
        <p:txBody>
          <a:bodyPr anchorCtr="0" anchor="t" bIns="91425" lIns="91425" spcFirstLastPara="1" rIns="91425" wrap="square" tIns="91425">
            <a:noAutofit/>
          </a:bodyPr>
          <a:lstStyle/>
          <a:p>
            <a:pPr indent="0" lvl="0" marL="0" rtl="0" algn="ctr">
              <a:spcBef>
                <a:spcPts val="0"/>
              </a:spcBef>
              <a:spcAft>
                <a:spcPts val="0"/>
              </a:spcAft>
              <a:buNone/>
            </a:pPr>
            <a:r>
              <a:rPr lang="en"/>
              <a:t>FINDING 3: Organizations Emphasized That WCPC Projects Help Them Address Capacity Gaps</a:t>
            </a:r>
            <a:endParaRPr/>
          </a:p>
        </p:txBody>
      </p:sp>
      <p:sp>
        <p:nvSpPr>
          <p:cNvPr id="141" name="Google Shape;141;p23"/>
          <p:cNvSpPr txBox="1"/>
          <p:nvPr/>
        </p:nvSpPr>
        <p:spPr>
          <a:xfrm>
            <a:off x="2799650" y="2472250"/>
            <a:ext cx="3490800" cy="21240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800">
                <a:latin typeface="Average"/>
                <a:ea typeface="Average"/>
                <a:cs typeface="Average"/>
                <a:sym typeface="Average"/>
              </a:rPr>
              <a:t>Lack of Time</a:t>
            </a:r>
            <a:endParaRPr sz="1800">
              <a:latin typeface="Average"/>
              <a:ea typeface="Average"/>
              <a:cs typeface="Average"/>
              <a:sym typeface="Average"/>
            </a:endParaRPr>
          </a:p>
          <a:p>
            <a:pPr indent="0" lvl="0" marL="0" rtl="0" algn="ctr">
              <a:lnSpc>
                <a:spcPct val="150000"/>
              </a:lnSpc>
              <a:spcBef>
                <a:spcPts val="0"/>
              </a:spcBef>
              <a:spcAft>
                <a:spcPts val="0"/>
              </a:spcAft>
              <a:buNone/>
            </a:pPr>
            <a:r>
              <a:rPr lang="en" sz="1800">
                <a:latin typeface="Average"/>
                <a:ea typeface="Average"/>
                <a:cs typeface="Average"/>
                <a:sym typeface="Average"/>
              </a:rPr>
              <a:t>Insufficient</a:t>
            </a:r>
            <a:r>
              <a:rPr lang="en" sz="1800">
                <a:latin typeface="Average"/>
                <a:ea typeface="Average"/>
                <a:cs typeface="Average"/>
                <a:sym typeface="Average"/>
              </a:rPr>
              <a:t> Funding </a:t>
            </a:r>
            <a:endParaRPr sz="1800">
              <a:latin typeface="Average"/>
              <a:ea typeface="Average"/>
              <a:cs typeface="Average"/>
              <a:sym typeface="Average"/>
            </a:endParaRPr>
          </a:p>
          <a:p>
            <a:pPr indent="0" lvl="0" marL="0" rtl="0" algn="l">
              <a:lnSpc>
                <a:spcPct val="150000"/>
              </a:lnSpc>
              <a:spcBef>
                <a:spcPts val="0"/>
              </a:spcBef>
              <a:spcAft>
                <a:spcPts val="0"/>
              </a:spcAft>
              <a:buNone/>
            </a:pPr>
            <a:r>
              <a:t/>
            </a:r>
            <a:endParaRPr sz="1800">
              <a:latin typeface="Average"/>
              <a:ea typeface="Average"/>
              <a:cs typeface="Average"/>
              <a:sym typeface="Average"/>
            </a:endParaRPr>
          </a:p>
          <a:p>
            <a:pPr indent="0" lvl="0" marL="0" rtl="0" algn="ctr">
              <a:lnSpc>
                <a:spcPct val="150000"/>
              </a:lnSpc>
              <a:spcBef>
                <a:spcPts val="0"/>
              </a:spcBef>
              <a:spcAft>
                <a:spcPts val="0"/>
              </a:spcAft>
              <a:buNone/>
            </a:pPr>
            <a:r>
              <a:t/>
            </a:r>
            <a:endParaRPr sz="1800">
              <a:latin typeface="Average"/>
              <a:ea typeface="Average"/>
              <a:cs typeface="Average"/>
              <a:sym typeface="Average"/>
            </a:endParaRPr>
          </a:p>
          <a:p>
            <a:pPr indent="0" lvl="0" marL="0" rtl="0" algn="ctr">
              <a:lnSpc>
                <a:spcPct val="150000"/>
              </a:lnSpc>
              <a:spcBef>
                <a:spcPts val="0"/>
              </a:spcBef>
              <a:spcAft>
                <a:spcPts val="0"/>
              </a:spcAft>
              <a:buNone/>
            </a:pPr>
            <a:r>
              <a:t/>
            </a:r>
            <a:endParaRPr sz="1800">
              <a:latin typeface="Average"/>
              <a:ea typeface="Average"/>
              <a:cs typeface="Average"/>
              <a:sym typeface="Averag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 name="Shape 145"/>
        <p:cNvGrpSpPr/>
        <p:nvPr/>
      </p:nvGrpSpPr>
      <p:grpSpPr>
        <a:xfrm>
          <a:off x="0" y="0"/>
          <a:ext cx="0" cy="0"/>
          <a:chOff x="0" y="0"/>
          <a:chExt cx="0" cy="0"/>
        </a:xfrm>
      </p:grpSpPr>
      <p:sp>
        <p:nvSpPr>
          <p:cNvPr id="146" name="Google Shape;146;p24"/>
          <p:cNvSpPr txBox="1"/>
          <p:nvPr>
            <p:ph type="title"/>
          </p:nvPr>
        </p:nvSpPr>
        <p:spPr>
          <a:xfrm>
            <a:off x="232200" y="345250"/>
            <a:ext cx="8911800" cy="67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Students Apply Their Skills To Build Practical Resources That Strengthen Organizational Capacity</a:t>
            </a:r>
            <a:endParaRPr/>
          </a:p>
        </p:txBody>
      </p:sp>
      <p:grpSp>
        <p:nvGrpSpPr>
          <p:cNvPr id="147" name="Google Shape;147;p24"/>
          <p:cNvGrpSpPr/>
          <p:nvPr/>
        </p:nvGrpSpPr>
        <p:grpSpPr>
          <a:xfrm>
            <a:off x="5672725" y="1304875"/>
            <a:ext cx="2628925" cy="3416400"/>
            <a:chOff x="431925" y="1304875"/>
            <a:chExt cx="2628925" cy="3416400"/>
          </a:xfrm>
        </p:grpSpPr>
        <p:sp>
          <p:nvSpPr>
            <p:cNvPr id="148" name="Google Shape;148;p24"/>
            <p:cNvSpPr txBox="1"/>
            <p:nvPr/>
          </p:nvSpPr>
          <p:spPr>
            <a:xfrm>
              <a:off x="431925" y="1304875"/>
              <a:ext cx="2628900" cy="464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149" name="Google Shape;149;p24"/>
            <p:cNvSpPr/>
            <p:nvPr/>
          </p:nvSpPr>
          <p:spPr>
            <a:xfrm>
              <a:off x="4319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grpSp>
      <p:sp>
        <p:nvSpPr>
          <p:cNvPr id="150" name="Google Shape;150;p24"/>
          <p:cNvSpPr txBox="1"/>
          <p:nvPr>
            <p:ph idx="4294967295" type="body"/>
          </p:nvPr>
        </p:nvSpPr>
        <p:spPr>
          <a:xfrm>
            <a:off x="5681913" y="1304875"/>
            <a:ext cx="2628900" cy="46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000000"/>
                </a:solidFill>
              </a:rPr>
              <a:t>Project Examples</a:t>
            </a:r>
            <a:endParaRPr>
              <a:solidFill>
                <a:srgbClr val="000000"/>
              </a:solidFill>
            </a:endParaRPr>
          </a:p>
        </p:txBody>
      </p:sp>
      <p:sp>
        <p:nvSpPr>
          <p:cNvPr id="151" name="Google Shape;151;p24"/>
          <p:cNvSpPr txBox="1"/>
          <p:nvPr>
            <p:ph idx="4294967295" type="body"/>
          </p:nvPr>
        </p:nvSpPr>
        <p:spPr>
          <a:xfrm>
            <a:off x="5749125" y="1472600"/>
            <a:ext cx="2494500" cy="3172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t/>
            </a:r>
            <a:endParaRPr sz="1600">
              <a:solidFill>
                <a:schemeClr val="dk1"/>
              </a:solidFill>
            </a:endParaRPr>
          </a:p>
          <a:p>
            <a:pPr indent="-330200" lvl="0" marL="457200" rtl="0" algn="l">
              <a:lnSpc>
                <a:spcPct val="200000"/>
              </a:lnSpc>
              <a:spcBef>
                <a:spcPts val="1600"/>
              </a:spcBef>
              <a:spcAft>
                <a:spcPts val="0"/>
              </a:spcAft>
              <a:buClr>
                <a:schemeClr val="dk1"/>
              </a:buClr>
              <a:buSzPts val="1600"/>
              <a:buChar char="●"/>
            </a:pPr>
            <a:r>
              <a:rPr lang="en" sz="1600">
                <a:solidFill>
                  <a:schemeClr val="dk1"/>
                </a:solidFill>
              </a:rPr>
              <a:t>Translation</a:t>
            </a:r>
            <a:r>
              <a:rPr lang="en" sz="1600">
                <a:solidFill>
                  <a:schemeClr val="dk1"/>
                </a:solidFill>
              </a:rPr>
              <a:t> tool</a:t>
            </a:r>
            <a:endParaRPr sz="1600">
              <a:solidFill>
                <a:schemeClr val="dk1"/>
              </a:solidFill>
            </a:endParaRPr>
          </a:p>
          <a:p>
            <a:pPr indent="-330200" lvl="0" marL="457200" rtl="0" algn="l">
              <a:lnSpc>
                <a:spcPct val="200000"/>
              </a:lnSpc>
              <a:spcBef>
                <a:spcPts val="0"/>
              </a:spcBef>
              <a:spcAft>
                <a:spcPts val="0"/>
              </a:spcAft>
              <a:buClr>
                <a:schemeClr val="dk1"/>
              </a:buClr>
              <a:buSzPts val="1600"/>
              <a:buChar char="●"/>
            </a:pPr>
            <a:r>
              <a:rPr lang="en" sz="1600">
                <a:solidFill>
                  <a:schemeClr val="dk1"/>
                </a:solidFill>
              </a:rPr>
              <a:t>Assistive technology</a:t>
            </a:r>
            <a:endParaRPr sz="1600">
              <a:solidFill>
                <a:schemeClr val="dk1"/>
              </a:solidFill>
            </a:endParaRPr>
          </a:p>
          <a:p>
            <a:pPr indent="-330200" lvl="0" marL="457200" rtl="0" algn="l">
              <a:lnSpc>
                <a:spcPct val="200000"/>
              </a:lnSpc>
              <a:spcBef>
                <a:spcPts val="0"/>
              </a:spcBef>
              <a:spcAft>
                <a:spcPts val="0"/>
              </a:spcAft>
              <a:buClr>
                <a:schemeClr val="dk1"/>
              </a:buClr>
              <a:buSzPts val="1600"/>
              <a:buChar char="●"/>
            </a:pPr>
            <a:r>
              <a:rPr lang="en" sz="1600">
                <a:solidFill>
                  <a:schemeClr val="dk1"/>
                </a:solidFill>
              </a:rPr>
              <a:t>Community outreach</a:t>
            </a:r>
            <a:endParaRPr sz="1600">
              <a:solidFill>
                <a:schemeClr val="dk1"/>
              </a:solidFill>
            </a:endParaRPr>
          </a:p>
        </p:txBody>
      </p:sp>
      <p:sp>
        <p:nvSpPr>
          <p:cNvPr id="152" name="Google Shape;152;p24"/>
          <p:cNvSpPr txBox="1"/>
          <p:nvPr/>
        </p:nvSpPr>
        <p:spPr>
          <a:xfrm>
            <a:off x="133525" y="4645400"/>
            <a:ext cx="113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B7B7B7"/>
                </a:solidFill>
                <a:latin typeface="Average"/>
                <a:ea typeface="Average"/>
                <a:cs typeface="Average"/>
                <a:sym typeface="Average"/>
              </a:rPr>
              <a:t>Finding 3</a:t>
            </a:r>
            <a:endParaRPr sz="1800">
              <a:solidFill>
                <a:srgbClr val="B7B7B7"/>
              </a:solidFill>
              <a:latin typeface="Average"/>
              <a:ea typeface="Average"/>
              <a:cs typeface="Average"/>
              <a:sym typeface="Average"/>
            </a:endParaRPr>
          </a:p>
        </p:txBody>
      </p:sp>
      <p:pic>
        <p:nvPicPr>
          <p:cNvPr id="153" name="Google Shape;153;p24"/>
          <p:cNvPicPr preferRelativeResize="0"/>
          <p:nvPr/>
        </p:nvPicPr>
        <p:blipFill>
          <a:blip r:embed="rId3">
            <a:alphaModFix/>
          </a:blip>
          <a:stretch>
            <a:fillRect/>
          </a:stretch>
        </p:blipFill>
        <p:spPr>
          <a:xfrm>
            <a:off x="544300" y="1468863"/>
            <a:ext cx="4660923" cy="3088424"/>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287225"/>
            <a:ext cx="8520600" cy="119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Our Deliverable Was The Best Way To Consolidate Information About WCPC’s Impact</a:t>
            </a:r>
            <a:endParaRPr>
              <a:solidFill>
                <a:srgbClr val="000000"/>
              </a:solidFill>
            </a:endParaRPr>
          </a:p>
        </p:txBody>
      </p:sp>
      <p:sp>
        <p:nvSpPr>
          <p:cNvPr id="159" name="Google Shape;159;p25"/>
          <p:cNvSpPr txBox="1"/>
          <p:nvPr/>
        </p:nvSpPr>
        <p:spPr>
          <a:xfrm>
            <a:off x="567325" y="2728025"/>
            <a:ext cx="83991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latin typeface="Average"/>
              <a:ea typeface="Average"/>
              <a:cs typeface="Average"/>
              <a:sym typeface="Average"/>
            </a:endParaRPr>
          </a:p>
          <a:p>
            <a:pPr indent="0" lvl="0" marL="0" rtl="0" algn="l">
              <a:spcBef>
                <a:spcPts val="0"/>
              </a:spcBef>
              <a:spcAft>
                <a:spcPts val="0"/>
              </a:spcAft>
              <a:buNone/>
            </a:pPr>
            <a:r>
              <a:t/>
            </a:r>
            <a:endParaRPr sz="1800">
              <a:latin typeface="Average"/>
              <a:ea typeface="Average"/>
              <a:cs typeface="Average"/>
              <a:sym typeface="Average"/>
            </a:endParaRPr>
          </a:p>
          <a:p>
            <a:pPr indent="0" lvl="0" marL="0" rtl="0" algn="l">
              <a:spcBef>
                <a:spcPts val="0"/>
              </a:spcBef>
              <a:spcAft>
                <a:spcPts val="0"/>
              </a:spcAft>
              <a:buNone/>
            </a:pPr>
            <a:r>
              <a:t/>
            </a:r>
            <a:endParaRPr sz="1800">
              <a:latin typeface="Average"/>
              <a:ea typeface="Average"/>
              <a:cs typeface="Average"/>
              <a:sym typeface="Average"/>
            </a:endParaRPr>
          </a:p>
          <a:p>
            <a:pPr indent="0" lvl="0" marL="0" rtl="0" algn="l">
              <a:spcBef>
                <a:spcPts val="0"/>
              </a:spcBef>
              <a:spcAft>
                <a:spcPts val="0"/>
              </a:spcAft>
              <a:buNone/>
            </a:pPr>
            <a:r>
              <a:t/>
            </a:r>
            <a:endParaRPr sz="1800">
              <a:latin typeface="Average"/>
              <a:ea typeface="Average"/>
              <a:cs typeface="Average"/>
              <a:sym typeface="Average"/>
            </a:endParaRPr>
          </a:p>
          <a:p>
            <a:pPr indent="0" lvl="0" marL="0" rtl="0" algn="l">
              <a:spcBef>
                <a:spcPts val="0"/>
              </a:spcBef>
              <a:spcAft>
                <a:spcPts val="0"/>
              </a:spcAft>
              <a:buNone/>
            </a:pPr>
            <a:r>
              <a:t/>
            </a:r>
            <a:endParaRPr sz="1800">
              <a:latin typeface="Average"/>
              <a:ea typeface="Average"/>
              <a:cs typeface="Average"/>
              <a:sym typeface="Average"/>
            </a:endParaRPr>
          </a:p>
          <a:p>
            <a:pPr indent="0" lvl="0" marL="0" rtl="0" algn="l">
              <a:spcBef>
                <a:spcPts val="0"/>
              </a:spcBef>
              <a:spcAft>
                <a:spcPts val="0"/>
              </a:spcAft>
              <a:buNone/>
            </a:pPr>
            <a:r>
              <a:t/>
            </a:r>
            <a:endParaRPr sz="1800">
              <a:latin typeface="Average"/>
              <a:ea typeface="Average"/>
              <a:cs typeface="Average"/>
              <a:sym typeface="Average"/>
            </a:endParaRPr>
          </a:p>
          <a:p>
            <a:pPr indent="0" lvl="0" marL="0" rtl="0" algn="l">
              <a:spcBef>
                <a:spcPts val="0"/>
              </a:spcBef>
              <a:spcAft>
                <a:spcPts val="0"/>
              </a:spcAft>
              <a:buNone/>
            </a:pPr>
            <a:r>
              <a:t/>
            </a:r>
            <a:endParaRPr sz="1800">
              <a:latin typeface="Average"/>
              <a:ea typeface="Average"/>
              <a:cs typeface="Average"/>
              <a:sym typeface="Average"/>
            </a:endParaRPr>
          </a:p>
          <a:p>
            <a:pPr indent="457200" lvl="0" marL="3200400" rtl="0" algn="l">
              <a:spcBef>
                <a:spcPts val="0"/>
              </a:spcBef>
              <a:spcAft>
                <a:spcPts val="0"/>
              </a:spcAft>
              <a:buNone/>
            </a:pPr>
            <a:r>
              <a:rPr lang="en" sz="1800" u="sng">
                <a:solidFill>
                  <a:srgbClr val="4A86E8"/>
                </a:solidFill>
                <a:latin typeface="Average"/>
                <a:ea typeface="Average"/>
                <a:cs typeface="Average"/>
                <a:sym typeface="Average"/>
                <a:hlinkClick r:id="rId3">
                  <a:extLst>
                    <a:ext uri="{A12FA001-AC4F-418D-AE19-62706E023703}">
                      <ahyp:hlinkClr val="tx"/>
                    </a:ext>
                  </a:extLst>
                </a:hlinkClick>
              </a:rPr>
              <a:t>https://tbakomolafe-pqasu.wordpress.com/</a:t>
            </a:r>
            <a:r>
              <a:rPr lang="en" sz="1800">
                <a:solidFill>
                  <a:srgbClr val="4A86E8"/>
                </a:solidFill>
                <a:latin typeface="Average"/>
                <a:ea typeface="Average"/>
                <a:cs typeface="Average"/>
                <a:sym typeface="Average"/>
              </a:rPr>
              <a:t> </a:t>
            </a:r>
            <a:endParaRPr sz="1800">
              <a:solidFill>
                <a:srgbClr val="4A86E8"/>
              </a:solidFill>
              <a:latin typeface="Average"/>
              <a:ea typeface="Average"/>
              <a:cs typeface="Average"/>
              <a:sym typeface="Average"/>
            </a:endParaRPr>
          </a:p>
        </p:txBody>
      </p:sp>
      <p:pic>
        <p:nvPicPr>
          <p:cNvPr id="160" name="Google Shape;160;p25"/>
          <p:cNvPicPr preferRelativeResize="0"/>
          <p:nvPr/>
        </p:nvPicPr>
        <p:blipFill rotWithShape="1">
          <a:blip r:embed="rId4">
            <a:alphaModFix/>
          </a:blip>
          <a:srcRect b="0" l="8716" r="9518" t="0"/>
          <a:stretch/>
        </p:blipFill>
        <p:spPr>
          <a:xfrm>
            <a:off x="3752125" y="1477625"/>
            <a:ext cx="5249925" cy="3068899"/>
          </a:xfrm>
          <a:prstGeom prst="rect">
            <a:avLst/>
          </a:prstGeom>
          <a:noFill/>
          <a:ln cap="flat" cmpd="sng" w="28575">
            <a:solidFill>
              <a:schemeClr val="lt1"/>
            </a:solidFill>
            <a:prstDash val="solid"/>
            <a:round/>
            <a:headEnd len="sm" w="sm" type="none"/>
            <a:tailEnd len="sm" w="sm" type="none"/>
          </a:ln>
        </p:spPr>
      </p:pic>
      <p:pic>
        <p:nvPicPr>
          <p:cNvPr id="161" name="Google Shape;161;p25" title="frame.png"/>
          <p:cNvPicPr preferRelativeResize="0"/>
          <p:nvPr/>
        </p:nvPicPr>
        <p:blipFill>
          <a:blip r:embed="rId5">
            <a:alphaModFix/>
          </a:blip>
          <a:stretch>
            <a:fillRect/>
          </a:stretch>
        </p:blipFill>
        <p:spPr>
          <a:xfrm>
            <a:off x="842350" y="1606475"/>
            <a:ext cx="1952225" cy="2811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Recommendations (What WCPC Should Do Next)</a:t>
            </a:r>
            <a:endParaRPr/>
          </a:p>
        </p:txBody>
      </p:sp>
      <p:sp>
        <p:nvSpPr>
          <p:cNvPr id="167" name="Google Shape;167;p26"/>
          <p:cNvSpPr txBox="1"/>
          <p:nvPr/>
        </p:nvSpPr>
        <p:spPr>
          <a:xfrm>
            <a:off x="719875" y="1722475"/>
            <a:ext cx="3762600" cy="1569900"/>
          </a:xfrm>
          <a:prstGeom prst="rect">
            <a:avLst/>
          </a:prstGeom>
          <a:noFill/>
          <a:ln>
            <a:noFill/>
          </a:ln>
        </p:spPr>
        <p:txBody>
          <a:bodyPr anchorCtr="0" anchor="t" bIns="91425" lIns="91425" spcFirstLastPara="1" rIns="91425" wrap="square" tIns="91425">
            <a:spAutoFit/>
          </a:bodyPr>
          <a:lstStyle/>
          <a:p>
            <a:pPr indent="-342900" lvl="0" marL="457200" rtl="0" algn="l">
              <a:lnSpc>
                <a:spcPct val="200000"/>
              </a:lnSpc>
              <a:spcBef>
                <a:spcPts val="0"/>
              </a:spcBef>
              <a:spcAft>
                <a:spcPts val="0"/>
              </a:spcAft>
              <a:buClr>
                <a:schemeClr val="dk1"/>
              </a:buClr>
              <a:buSzPts val="1800"/>
              <a:buFont typeface="Average"/>
              <a:buChar char="●"/>
            </a:pPr>
            <a:r>
              <a:rPr lang="en" sz="1800">
                <a:solidFill>
                  <a:schemeClr val="dk1"/>
                </a:solidFill>
                <a:latin typeface="Average"/>
                <a:ea typeface="Average"/>
                <a:cs typeface="Average"/>
                <a:sym typeface="Average"/>
              </a:rPr>
              <a:t>Maintain a living archive</a:t>
            </a:r>
            <a:endParaRPr sz="1800">
              <a:solidFill>
                <a:schemeClr val="dk1"/>
              </a:solidFill>
              <a:latin typeface="Average"/>
              <a:ea typeface="Average"/>
              <a:cs typeface="Average"/>
              <a:sym typeface="Average"/>
            </a:endParaRPr>
          </a:p>
          <a:p>
            <a:pPr indent="-342900" lvl="0" marL="457200" rtl="0" algn="l">
              <a:lnSpc>
                <a:spcPct val="200000"/>
              </a:lnSpc>
              <a:spcBef>
                <a:spcPts val="0"/>
              </a:spcBef>
              <a:spcAft>
                <a:spcPts val="0"/>
              </a:spcAft>
              <a:buClr>
                <a:schemeClr val="dk1"/>
              </a:buClr>
              <a:buSzPts val="1800"/>
              <a:buFont typeface="Average"/>
              <a:buChar char="●"/>
            </a:pPr>
            <a:r>
              <a:rPr lang="en" sz="1800">
                <a:solidFill>
                  <a:schemeClr val="dk1"/>
                </a:solidFill>
                <a:latin typeface="Average"/>
                <a:ea typeface="Average"/>
                <a:cs typeface="Average"/>
                <a:sym typeface="Average"/>
              </a:rPr>
              <a:t>Adopt standard tags</a:t>
            </a:r>
            <a:endParaRPr sz="1800">
              <a:solidFill>
                <a:schemeClr val="dk1"/>
              </a:solidFill>
              <a:latin typeface="Average"/>
              <a:ea typeface="Average"/>
              <a:cs typeface="Average"/>
              <a:sym typeface="Average"/>
            </a:endParaRPr>
          </a:p>
          <a:p>
            <a:pPr indent="-342900" lvl="0" marL="457200" rtl="0" algn="l">
              <a:lnSpc>
                <a:spcPct val="200000"/>
              </a:lnSpc>
              <a:spcBef>
                <a:spcPts val="0"/>
              </a:spcBef>
              <a:spcAft>
                <a:spcPts val="0"/>
              </a:spcAft>
              <a:buClr>
                <a:schemeClr val="dk1"/>
              </a:buClr>
              <a:buSzPts val="1800"/>
              <a:buFont typeface="Average"/>
              <a:buChar char="●"/>
            </a:pPr>
            <a:r>
              <a:rPr lang="en" sz="1800">
                <a:solidFill>
                  <a:schemeClr val="dk1"/>
                </a:solidFill>
                <a:latin typeface="Average"/>
                <a:ea typeface="Average"/>
                <a:cs typeface="Average"/>
                <a:sym typeface="Average"/>
              </a:rPr>
              <a:t>Networking and Feedback</a:t>
            </a:r>
            <a:endParaRPr sz="1800">
              <a:solidFill>
                <a:schemeClr val="dk1"/>
              </a:solidFill>
              <a:latin typeface="Average"/>
              <a:ea typeface="Average"/>
              <a:cs typeface="Average"/>
              <a:sym typeface="Average"/>
            </a:endParaRPr>
          </a:p>
        </p:txBody>
      </p:sp>
      <p:pic>
        <p:nvPicPr>
          <p:cNvPr id="168" name="Google Shape;168;p26"/>
          <p:cNvPicPr preferRelativeResize="0"/>
          <p:nvPr/>
        </p:nvPicPr>
        <p:blipFill>
          <a:blip r:embed="rId3">
            <a:alphaModFix/>
          </a:blip>
          <a:stretch>
            <a:fillRect/>
          </a:stretch>
        </p:blipFill>
        <p:spPr>
          <a:xfrm>
            <a:off x="4743325" y="1466350"/>
            <a:ext cx="4088975" cy="2723250"/>
          </a:xfrm>
          <a:prstGeom prst="rect">
            <a:avLst/>
          </a:prstGeom>
          <a:noFill/>
          <a:ln cap="flat" cmpd="sng" w="28575">
            <a:solidFill>
              <a:srgbClr val="000000"/>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2" name="Shape 172"/>
        <p:cNvGrpSpPr/>
        <p:nvPr/>
      </p:nvGrpSpPr>
      <p:grpSpPr>
        <a:xfrm>
          <a:off x="0" y="0"/>
          <a:ext cx="0" cy="0"/>
          <a:chOff x="0" y="0"/>
          <a:chExt cx="0" cy="0"/>
        </a:xfrm>
      </p:grpSpPr>
      <p:sp>
        <p:nvSpPr>
          <p:cNvPr id="173" name="Google Shape;173;p27"/>
          <p:cNvSpPr txBox="1"/>
          <p:nvPr>
            <p:ph type="title"/>
          </p:nvPr>
        </p:nvSpPr>
        <p:spPr>
          <a:xfrm>
            <a:off x="311700" y="374575"/>
            <a:ext cx="8520600" cy="1450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000000"/>
                </a:solidFill>
              </a:rPr>
              <a:t>THANK YOU!!</a:t>
            </a:r>
            <a:endParaRPr b="1">
              <a:solidFill>
                <a:srgbClr val="000000"/>
              </a:solidFill>
            </a:endParaRPr>
          </a:p>
          <a:p>
            <a:pPr indent="0" lvl="0" marL="0" rtl="0" algn="ctr">
              <a:spcBef>
                <a:spcPts val="0"/>
              </a:spcBef>
              <a:spcAft>
                <a:spcPts val="0"/>
              </a:spcAft>
              <a:buNone/>
            </a:pPr>
            <a:r>
              <a:t/>
            </a:r>
            <a:endParaRPr b="1">
              <a:solidFill>
                <a:srgbClr val="000000"/>
              </a:solidFill>
            </a:endParaRPr>
          </a:p>
          <a:p>
            <a:pPr indent="0" lvl="0" marL="0" rtl="0" algn="ctr">
              <a:spcBef>
                <a:spcPts val="0"/>
              </a:spcBef>
              <a:spcAft>
                <a:spcPts val="0"/>
              </a:spcAft>
              <a:buNone/>
            </a:pPr>
            <a:r>
              <a:rPr b="1" lang="en">
                <a:solidFill>
                  <a:srgbClr val="000000"/>
                </a:solidFill>
              </a:rPr>
              <a:t>ANY QUESTIONS? </a:t>
            </a:r>
            <a:endParaRPr b="1">
              <a:solidFill>
                <a:srgbClr val="000000"/>
              </a:solidFill>
            </a:endParaRPr>
          </a:p>
        </p:txBody>
      </p:sp>
      <p:pic>
        <p:nvPicPr>
          <p:cNvPr id="174" name="Google Shape;174;p27"/>
          <p:cNvPicPr preferRelativeResize="0"/>
          <p:nvPr/>
        </p:nvPicPr>
        <p:blipFill>
          <a:blip r:embed="rId3">
            <a:alphaModFix/>
          </a:blip>
          <a:stretch>
            <a:fillRect/>
          </a:stretch>
        </p:blipFill>
        <p:spPr>
          <a:xfrm>
            <a:off x="152400" y="2103150"/>
            <a:ext cx="8839200" cy="2946400"/>
          </a:xfrm>
          <a:prstGeom prst="rect">
            <a:avLst/>
          </a:prstGeom>
          <a:noFill/>
          <a:ln cap="flat" cmpd="sng" w="38100">
            <a:solidFill>
              <a:schemeClr val="lt1"/>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