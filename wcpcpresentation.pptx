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embeddedFontLst>
    <p:embeddedFont>
      <p:font typeface="Average"/>
      <p:regular r:id="rId20"/>
    </p:embeddedFont>
    <p:embeddedFont>
      <p:font typeface="Oswald"/>
      <p:regular r:id="rId21"/>
      <p:bold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Average-regular.fntdata"/><Relationship Id="rId11" Type="http://schemas.openxmlformats.org/officeDocument/2006/relationships/slide" Target="slides/slide6.xml"/><Relationship Id="rId22" Type="http://schemas.openxmlformats.org/officeDocument/2006/relationships/font" Target="fonts/Oswald-bold.fntdata"/><Relationship Id="rId10" Type="http://schemas.openxmlformats.org/officeDocument/2006/relationships/slide" Target="slides/slide5.xml"/><Relationship Id="rId21" Type="http://schemas.openxmlformats.org/officeDocument/2006/relationships/font" Target="fonts/Oswald-regular.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c6f980f91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c6f980f9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MALAK</a:t>
            </a:r>
            <a:endParaRPr/>
          </a:p>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c6f980f91_0_5: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c6f980f91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Adam</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Our sponsor is: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Amanda Wittman who is part of the faculty at WPI who focuses on data driven storytelling and specializes in Ripple effect mapping</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t/>
            </a:r>
            <a:endParaRPr sz="400"/>
          </a:p>
          <a:p>
            <a:pPr indent="0" lvl="0" marL="0" rtl="0" algn="l">
              <a:spcBef>
                <a:spcPts val="0"/>
              </a:spcBef>
              <a:spcAft>
                <a:spcPts val="0"/>
              </a:spcAft>
              <a:buNone/>
            </a:pPr>
            <a:r>
              <a:rPr lang="en"/>
              <a:t>Our motivation for this project is to first gain a deeper understanding of the projects the WCPC has undertaken over the years.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believe that the WCPC’s impact deserves to be seen and recognized, and with their 25th anniversary coming up, this is the perfect opportunity to celebrate their accomplishments.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Finally, we would like to have information about the projects the WCPC has taken part in to be easily available to the public.</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af11720ca7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af11720ca7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500">
                <a:solidFill>
                  <a:schemeClr val="dk1"/>
                </a:solidFill>
              </a:rPr>
              <a:t>Tolu</a:t>
            </a:r>
            <a:endParaRPr sz="1500">
              <a:solidFill>
                <a:schemeClr val="dk1"/>
              </a:solidFill>
            </a:endParaRPr>
          </a:p>
          <a:p>
            <a:pPr indent="0" lvl="0" marL="0" rtl="0" algn="l">
              <a:spcBef>
                <a:spcPts val="0"/>
              </a:spcBef>
              <a:spcAft>
                <a:spcPts val="0"/>
              </a:spcAft>
              <a:buClr>
                <a:schemeClr val="dk1"/>
              </a:buClr>
              <a:buSzPts val="1100"/>
              <a:buFont typeface="Arial"/>
              <a:buNone/>
            </a:pPr>
            <a:r>
              <a:rPr lang="en" sz="1500">
                <a:solidFill>
                  <a:schemeClr val="dk1"/>
                </a:solidFill>
              </a:rPr>
              <a:t>High-impact learning is at the heart of WCPC projects. These practices, like community-based learning, push students beyond the classroom into real-world challenges. Although these approaches require time and trust, which is a challenge in short-term projects, they improve critical thinking and leadership skills while benefiting communities through hands-on findings. </a:t>
            </a:r>
            <a:endParaRPr sz="1500">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af11720ca7_1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3af11720ca7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Adam</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Impact assessment </a:t>
            </a:r>
            <a:r>
              <a:rPr lang="en"/>
              <a:t>provides</a:t>
            </a:r>
            <a:r>
              <a:rPr lang="en"/>
              <a:t> a better </a:t>
            </a:r>
            <a:r>
              <a:rPr lang="en"/>
              <a:t>understanding</a:t>
            </a:r>
            <a:r>
              <a:rPr lang="en"/>
              <a:t> of a project.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Impact assessment is important because:</a:t>
            </a:r>
            <a:endParaRPr/>
          </a:p>
          <a:p>
            <a:pPr indent="-317500" lvl="0" marL="457200" rtl="0" algn="l">
              <a:spcBef>
                <a:spcPts val="0"/>
              </a:spcBef>
              <a:spcAft>
                <a:spcPts val="0"/>
              </a:spcAft>
              <a:buSzPts val="1400"/>
              <a:buChar char="●"/>
            </a:pPr>
            <a:r>
              <a:rPr lang="en"/>
              <a:t>Impact assessment increases community support because the community obtains a better understanding of how effective a project is</a:t>
            </a:r>
            <a:endParaRPr/>
          </a:p>
          <a:p>
            <a:pPr indent="-317500" lvl="0" marL="457200" rtl="0" algn="l">
              <a:spcBef>
                <a:spcPts val="0"/>
              </a:spcBef>
              <a:spcAft>
                <a:spcPts val="0"/>
              </a:spcAft>
              <a:buSzPts val="1400"/>
              <a:buChar char="●"/>
            </a:pPr>
            <a:r>
              <a:rPr lang="en"/>
              <a:t>Impact assessment reveals ways to improve future implementation of a project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Theory of Change (ToC) is a description of how a project plans to be implemented. A ToC includes the inputs, outputs, and actions that will be put into how a project will happen. A good ToC is important for impact assessment because it can reveal any </a:t>
            </a:r>
            <a:r>
              <a:rPr lang="en"/>
              <a:t>actual</a:t>
            </a:r>
            <a:r>
              <a:rPr lang="en"/>
              <a:t> outcome that was unintended.</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Ripple Effects Mapping (REM) is a visual and interactive way of assessing the impact of a project.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af00c88963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af00c88963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Malak</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NOT ABOUT THE WCPCCCCC</a:t>
            </a:r>
            <a:endParaRPr/>
          </a:p>
          <a:p>
            <a:pPr indent="0" lvl="0" marL="0" rtl="0" algn="l">
              <a:spcBef>
                <a:spcPts val="0"/>
              </a:spcBef>
              <a:spcAft>
                <a:spcPts val="0"/>
              </a:spcAft>
              <a:buNone/>
            </a:pPr>
            <a:r>
              <a:rPr lang="en"/>
              <a:t>GENERAL IDEA OF HOW TO PROMOTE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aeae5108c5_3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aeae5108c5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Tolu</a:t>
            </a:r>
            <a:endParaRPr/>
          </a:p>
          <a:p>
            <a:pPr indent="0" lvl="0" marL="0" rtl="0" algn="l">
              <a:spcBef>
                <a:spcPts val="0"/>
              </a:spcBef>
              <a:spcAft>
                <a:spcPts val="0"/>
              </a:spcAft>
              <a:buNone/>
            </a:pPr>
            <a:r>
              <a:t/>
            </a:r>
            <a:endParaRPr sz="1900"/>
          </a:p>
          <a:p>
            <a:pPr indent="0" lvl="0" marL="0" rtl="0" algn="l">
              <a:spcBef>
                <a:spcPts val="0"/>
              </a:spcBef>
              <a:spcAft>
                <a:spcPts val="0"/>
              </a:spcAft>
              <a:buNone/>
            </a:pPr>
            <a:r>
              <a:rPr lang="en" sz="1900"/>
              <a:t>Thus, o</a:t>
            </a:r>
            <a:r>
              <a:rPr lang="en" sz="1900"/>
              <a:t>ur overall goal is to assist the Worcester Community Project Center in documenting stories and impacts on individuals and communities in the greater Worcester Area. This means going beyond numbers to capture and celebrate the real experiences and outcomes behind WCPC projects.</a:t>
            </a:r>
            <a:endParaRPr sz="1900"/>
          </a:p>
          <a:p>
            <a:pPr indent="0" lvl="0" marL="0" rtl="0" algn="l">
              <a:spcBef>
                <a:spcPts val="0"/>
              </a:spcBef>
              <a:spcAft>
                <a:spcPts val="0"/>
              </a:spcAft>
              <a:buNone/>
            </a:pPr>
            <a:r>
              <a:t/>
            </a:r>
            <a:endParaRPr sz="1900"/>
          </a:p>
          <a:p>
            <a:pPr indent="0" lvl="0" marL="0" rtl="0" algn="l">
              <a:spcBef>
                <a:spcPts val="0"/>
              </a:spcBef>
              <a:spcAft>
                <a:spcPts val="0"/>
              </a:spcAft>
              <a:buNone/>
            </a:pPr>
            <a:r>
              <a:rPr lang="en" sz="1900"/>
              <a:t>For 25 years, WCPC has partnered with local organizations and students to create meaningful change. But without a structured way to record and share these stories, much of that impact can go unnoticed.</a:t>
            </a:r>
            <a:endParaRPr sz="19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c6f980f91_0_1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c6f980f9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Adam</a:t>
            </a:r>
            <a:endParaRPr/>
          </a:p>
          <a:p>
            <a:pPr indent="0" lvl="0" marL="0" rtl="0" algn="l">
              <a:spcBef>
                <a:spcPts val="0"/>
              </a:spcBef>
              <a:spcAft>
                <a:spcPts val="0"/>
              </a:spcAft>
              <a:buNone/>
            </a:pPr>
            <a:r>
              <a:t/>
            </a:r>
            <a:endParaRPr/>
          </a:p>
          <a:p>
            <a:pPr indent="0" lvl="0" marL="0" rtl="0" algn="l">
              <a:lnSpc>
                <a:spcPct val="150000"/>
              </a:lnSpc>
              <a:spcBef>
                <a:spcPts val="0"/>
              </a:spcBef>
              <a:spcAft>
                <a:spcPts val="0"/>
              </a:spcAft>
              <a:buClr>
                <a:schemeClr val="dk1"/>
              </a:buClr>
              <a:buSzPts val="1100"/>
              <a:buFont typeface="Arial"/>
              <a:buNone/>
            </a:pPr>
            <a:r>
              <a:rPr lang="en">
                <a:solidFill>
                  <a:schemeClr val="dk1"/>
                </a:solidFill>
              </a:rPr>
              <a:t>Our outlined objectives will guide us in selecting effective strategies and methods to measure the WCPC’s impact on the greater Worcester area. </a:t>
            </a:r>
            <a:endParaRPr>
              <a:solidFill>
                <a:schemeClr val="dk1"/>
              </a:solidFill>
            </a:endParaRPr>
          </a:p>
          <a:p>
            <a:pPr indent="0" lvl="0" marL="0" rtl="0" algn="l">
              <a:lnSpc>
                <a:spcPct val="150000"/>
              </a:lnSpc>
              <a:spcBef>
                <a:spcPts val="1000"/>
              </a:spcBef>
              <a:spcAft>
                <a:spcPts val="0"/>
              </a:spcAft>
              <a:buClr>
                <a:schemeClr val="dk1"/>
              </a:buClr>
              <a:buSzPts val="1100"/>
              <a:buFont typeface="Arial"/>
              <a:buNone/>
            </a:pPr>
            <a:r>
              <a:rPr lang="en">
                <a:solidFill>
                  <a:schemeClr val="dk1"/>
                </a:solidFill>
              </a:rPr>
              <a:t>Our objectives are:</a:t>
            </a:r>
            <a:endParaRPr>
              <a:solidFill>
                <a:schemeClr val="dk1"/>
              </a:solidFill>
            </a:endParaRPr>
          </a:p>
          <a:p>
            <a:pPr indent="-298450" lvl="0" marL="457200" rtl="0" algn="l">
              <a:lnSpc>
                <a:spcPct val="150000"/>
              </a:lnSpc>
              <a:spcBef>
                <a:spcPts val="0"/>
              </a:spcBef>
              <a:spcAft>
                <a:spcPts val="0"/>
              </a:spcAft>
              <a:buClr>
                <a:schemeClr val="dk1"/>
              </a:buClr>
              <a:buSzPts val="1100"/>
              <a:buAutoNum type="arabicPeriod"/>
            </a:pPr>
            <a:r>
              <a:rPr b="1" lang="en">
                <a:solidFill>
                  <a:schemeClr val="dk1"/>
                </a:solidFill>
              </a:rPr>
              <a:t>Identify</a:t>
            </a:r>
            <a:r>
              <a:rPr lang="en">
                <a:solidFill>
                  <a:schemeClr val="dk1"/>
                </a:solidFill>
              </a:rPr>
              <a:t> the different themes and topics of WCPC.</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
                <a:solidFill>
                  <a:schemeClr val="dk1"/>
                </a:solidFill>
              </a:rPr>
              <a:t>Understand </a:t>
            </a:r>
            <a:r>
              <a:rPr lang="en">
                <a:solidFill>
                  <a:schemeClr val="dk1"/>
                </a:solidFill>
              </a:rPr>
              <a:t>the Impact of the WCPC on a key aspect of the greater Worcester Community</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
                <a:solidFill>
                  <a:schemeClr val="dk1"/>
                </a:solidFill>
              </a:rPr>
              <a:t>Develop </a:t>
            </a:r>
            <a:r>
              <a:rPr lang="en">
                <a:solidFill>
                  <a:schemeClr val="dk1"/>
                </a:solidFill>
              </a:rPr>
              <a:t>and get feedback on promotional materials</a:t>
            </a:r>
            <a:r>
              <a:rPr b="1" lang="en">
                <a:solidFill>
                  <a:schemeClr val="dk1"/>
                </a:solidFill>
              </a:rPr>
              <a:t> </a:t>
            </a:r>
            <a:endParaRPr>
              <a:solidFill>
                <a:schemeClr val="dk1"/>
              </a:solidFill>
            </a:endParaRPr>
          </a:p>
          <a:p>
            <a:pPr indent="0" lvl="0" marL="0" rtl="0" algn="l">
              <a:lnSpc>
                <a:spcPct val="150000"/>
              </a:lnSpc>
              <a:spcBef>
                <a:spcPts val="1000"/>
              </a:spcBef>
              <a:spcAft>
                <a:spcPts val="0"/>
              </a:spcAft>
              <a:buClr>
                <a:schemeClr val="dk1"/>
              </a:buClr>
              <a:buSzPts val="1100"/>
              <a:buFont typeface="Arial"/>
              <a:buNone/>
            </a:pPr>
            <a:r>
              <a:rPr lang="en">
                <a:solidFill>
                  <a:schemeClr val="dk1"/>
                </a:solidFill>
              </a:rPr>
              <a:t>These objectives will also help us establish clear plans for promoting and sharing the data we collect</a:t>
            </a:r>
            <a:endParaRPr>
              <a:solidFill>
                <a:schemeClr val="dk1"/>
              </a:solidFill>
            </a:endParaRPr>
          </a:p>
          <a:p>
            <a:pPr indent="0" lvl="0" marL="0" rtl="0" algn="l">
              <a:lnSpc>
                <a:spcPct val="150000"/>
              </a:lnSpc>
              <a:spcBef>
                <a:spcPts val="1000"/>
              </a:spcBef>
              <a:spcAft>
                <a:spcPts val="1000"/>
              </a:spcAft>
              <a:buClr>
                <a:schemeClr val="dk1"/>
              </a:buClr>
              <a:buSzPts val="1100"/>
              <a:buFont typeface="Arial"/>
              <a:buNone/>
            </a:pPr>
            <a:r>
              <a:rPr lang="en">
                <a:solidFill>
                  <a:schemeClr val="dk1"/>
                </a:solidFill>
              </a:rPr>
              <a:t>and that any outreach efforts are supported by the community.</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c6f980f91_0_37: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c6f980f91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800">
                <a:solidFill>
                  <a:schemeClr val="dk1"/>
                </a:solidFill>
              </a:rPr>
              <a:t>So how do we capture and organize 25 years of WCPC projects to understand their impact? This is where Objective 1 comes in.</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800">
                <a:solidFill>
                  <a:schemeClr val="dk1"/>
                </a:solidFill>
              </a:rPr>
              <a:t>Our first objective is to identify key themes and topics from WCPC projects using content analysis. This means going through WCPC’s website and analyzing the projects by (categorizing) dividing them into categories like location, sponsor, and topics, which will be structured in an Excel </a:t>
            </a:r>
            <a:r>
              <a:rPr lang="en" sz="1800">
                <a:solidFill>
                  <a:schemeClr val="dk1"/>
                </a:solidFill>
              </a:rPr>
              <a:t>sheet, </a:t>
            </a:r>
            <a:r>
              <a:rPr lang="en" sz="1800">
                <a:solidFill>
                  <a:schemeClr val="dk1"/>
                </a:solidFill>
              </a:rPr>
              <a:t>and then coding the data. Once coded, we use network mapping to visualize connections among projects, sponsors, and themes. </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800">
                <a:solidFill>
                  <a:schemeClr val="dk1"/>
                </a:solidFill>
              </a:rPr>
              <a:t>Combining content analysis with network mapping strengthens our ability to understand the WCPC’s impact. It will help us identify patterns and project characteristics, while networking mapping translates these findings into a visual physical map. </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800">
                <a:solidFill>
                  <a:schemeClr val="dk1"/>
                </a:solidFill>
              </a:rPr>
              <a:t>This approach reveals not just what WCPC has done, but how its work has shaped relationships, strengthened partnerships, and supported communities over the past twenty-five years. By visualizing these content analysis steps, we create a clear and more accessible understanding of WCPC’s long-term influence—fulfilling the core purpose of Objective 1. </a:t>
            </a:r>
            <a:endParaRPr sz="1800">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eae5108c5_3_4: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aeae5108c5_3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Adam</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For objective 2, we will use REM and interviews to gain a visual and interactive understanding of the impact of the WCPC.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will be conducting semi-structured interviews for:</a:t>
            </a:r>
            <a:endParaRPr/>
          </a:p>
          <a:p>
            <a:pPr indent="-317500" lvl="0" marL="457200" rtl="0" algn="l">
              <a:spcBef>
                <a:spcPts val="0"/>
              </a:spcBef>
              <a:spcAft>
                <a:spcPts val="0"/>
              </a:spcAft>
              <a:buSzPts val="1400"/>
              <a:buChar char="●"/>
            </a:pPr>
            <a:r>
              <a:rPr lang="en"/>
              <a:t>Community leaders, who can give us a broad and big picture understanding of a project and its impact</a:t>
            </a:r>
            <a:endParaRPr/>
          </a:p>
          <a:p>
            <a:pPr indent="-317500" lvl="0" marL="457200" rtl="0" algn="l">
              <a:spcBef>
                <a:spcPts val="0"/>
              </a:spcBef>
              <a:spcAft>
                <a:spcPts val="0"/>
              </a:spcAft>
              <a:buSzPts val="1400"/>
              <a:buChar char="●"/>
            </a:pPr>
            <a:r>
              <a:rPr lang="en"/>
              <a:t>Community </a:t>
            </a:r>
            <a:r>
              <a:rPr lang="en"/>
              <a:t>members, who can share personal experiences of a project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Each interview will last within one hour.</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During each interview, we will have participants help us construct a visual network map that describes of chains of effects of a project.</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solidFill>
                  <a:schemeClr val="dk1"/>
                </a:solidFill>
              </a:rPr>
              <a:t>An effect describes an outcome caused directly or indirectly by a project.</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solidFill>
                  <a:schemeClr val="dk1"/>
                </a:solidFill>
              </a:rPr>
              <a:t>Some sample questions include:</a:t>
            </a:r>
            <a:endParaRPr>
              <a:solidFill>
                <a:schemeClr val="dk1"/>
              </a:solidFill>
            </a:endParaRPr>
          </a:p>
          <a:p>
            <a:pPr indent="-298450" lvl="0" marL="457200" rtl="0" algn="l">
              <a:lnSpc>
                <a:spcPct val="150000"/>
              </a:lnSpc>
              <a:spcBef>
                <a:spcPts val="1200"/>
              </a:spcBef>
              <a:spcAft>
                <a:spcPts val="0"/>
              </a:spcAft>
              <a:buClr>
                <a:schemeClr val="dk1"/>
              </a:buClr>
              <a:buSzPts val="1100"/>
              <a:buChar char="●"/>
            </a:pPr>
            <a:r>
              <a:rPr lang="en">
                <a:solidFill>
                  <a:schemeClr val="dk1"/>
                </a:solidFill>
              </a:rPr>
              <a:t>“Can you describe a specific experience you had with the program and how it affected you or your community?”</a:t>
            </a:r>
            <a:endParaRPr>
              <a:solidFill>
                <a:schemeClr val="dk1"/>
              </a:solidFill>
            </a:endParaRPr>
          </a:p>
          <a:p>
            <a:pPr indent="-298450" lvl="0" marL="457200" rtl="0" algn="l">
              <a:lnSpc>
                <a:spcPct val="150000"/>
              </a:lnSpc>
              <a:spcBef>
                <a:spcPts val="0"/>
              </a:spcBef>
              <a:spcAft>
                <a:spcPts val="0"/>
              </a:spcAft>
              <a:buClr>
                <a:schemeClr val="dk1"/>
              </a:buClr>
              <a:buSzPts val="1100"/>
              <a:buChar char="●"/>
            </a:pPr>
            <a:r>
              <a:rPr lang="en">
                <a:solidFill>
                  <a:schemeClr val="dk1"/>
                </a:solidFill>
              </a:rPr>
              <a:t>“What challenges did you face, and how did the program influence those challenges?”</a:t>
            </a:r>
            <a:endParaRPr>
              <a:solidFill>
                <a:schemeClr val="dk1"/>
              </a:solidFill>
            </a:endParaRPr>
          </a:p>
          <a:p>
            <a:pPr indent="-298450" lvl="0" marL="457200" rtl="0" algn="l">
              <a:lnSpc>
                <a:spcPct val="150000"/>
              </a:lnSpc>
              <a:spcBef>
                <a:spcPts val="0"/>
              </a:spcBef>
              <a:spcAft>
                <a:spcPts val="0"/>
              </a:spcAft>
              <a:buClr>
                <a:schemeClr val="dk1"/>
              </a:buClr>
              <a:buSzPts val="1100"/>
              <a:buChar char="●"/>
            </a:pPr>
            <a:r>
              <a:rPr lang="en">
                <a:solidFill>
                  <a:schemeClr val="dk1"/>
                </a:solidFill>
              </a:rPr>
              <a:t>“Were there any outcomes you did not expect, and how did they occur?”</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Each interview will provide a small REM map. After we finish conducting interviews, we will combine all of the small REM maps into one large cohesive REM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Since some effects might be revealed in several small REM maps, the combining process would help us understand each effect more and learn about multiple links to one effect.</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aeae5108c5_3_9: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aeae5108c5_3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solidFill>
                  <a:schemeClr val="dk1"/>
                </a:solidFill>
              </a:rPr>
              <a:t>Objective 3 of our project focuses on creating promotional materials that communicate the WCPC’s work in a way that is clear, accessible, and meaningful to the community.</a:t>
            </a:r>
            <a:br>
              <a:rPr lang="en">
                <a:solidFill>
                  <a:schemeClr val="dk1"/>
                </a:solidFill>
              </a:rPr>
            </a:br>
            <a:r>
              <a:rPr lang="en">
                <a:solidFill>
                  <a:schemeClr val="dk1"/>
                </a:solidFill>
              </a:rPr>
              <a:t>Our process begins with drafting materials based on the data we’ve collected — including research findings, interviews, and surveys. Instead of presenting the information in a technical way, we use two main strategies: </a:t>
            </a:r>
            <a:r>
              <a:rPr b="1" lang="en">
                <a:solidFill>
                  <a:schemeClr val="dk1"/>
                </a:solidFill>
              </a:rPr>
              <a:t>reorganizing information to make it efficient</a:t>
            </a:r>
            <a:r>
              <a:rPr lang="en">
                <a:solidFill>
                  <a:schemeClr val="dk1"/>
                </a:solidFill>
              </a:rPr>
              <a:t> and </a:t>
            </a:r>
            <a:r>
              <a:rPr b="1" lang="en">
                <a:solidFill>
                  <a:schemeClr val="dk1"/>
                </a:solidFill>
              </a:rPr>
              <a:t>easy content translation</a:t>
            </a:r>
            <a:r>
              <a:rPr lang="en">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
                <a:solidFill>
                  <a:schemeClr val="dk1"/>
                </a:solidFill>
              </a:rPr>
              <a:t>Reorganizing information to make it efficient</a:t>
            </a:r>
            <a:r>
              <a:rPr lang="en">
                <a:solidFill>
                  <a:schemeClr val="dk1"/>
                </a:solidFill>
              </a:rPr>
              <a:t> means taking raw information and structuring it into visuals and key messages that people can quickly understand.</a:t>
            </a:r>
            <a:br>
              <a:rPr lang="en">
                <a:solidFill>
                  <a:schemeClr val="dk1"/>
                </a:solidFill>
              </a:rPr>
            </a:br>
            <a:r>
              <a:rPr b="1" lang="en">
                <a:solidFill>
                  <a:schemeClr val="dk1"/>
                </a:solidFill>
              </a:rPr>
              <a:t>Easy content translation</a:t>
            </a:r>
            <a:r>
              <a:rPr lang="en">
                <a:solidFill>
                  <a:schemeClr val="dk1"/>
                </a:solidFill>
              </a:rPr>
              <a:t> means breaking down complex ideas into simple, relatable language so non-experts can easily follow the message.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Both of these help us turn our findings into stories, graphics, and materials that reflect the experiences, values, and needs of the community. Once the draft materials are created, we move into the feedback phase to make sure what we’ve developed becomes a truly effective and representative final project.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aeae5108c5_4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aeae5108c5_4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solidFill>
                  <a:schemeClr val="dk1"/>
                </a:solidFill>
              </a:rPr>
              <a:t>To refine these materials, we use two methods: </a:t>
            </a:r>
            <a:r>
              <a:rPr b="1" lang="en">
                <a:solidFill>
                  <a:schemeClr val="dk1"/>
                </a:solidFill>
              </a:rPr>
              <a:t>focus groups</a:t>
            </a:r>
            <a:r>
              <a:rPr lang="en">
                <a:solidFill>
                  <a:schemeClr val="dk1"/>
                </a:solidFill>
              </a:rPr>
              <a:t> and </a:t>
            </a:r>
            <a:r>
              <a:rPr b="1" lang="en">
                <a:solidFill>
                  <a:schemeClr val="dk1"/>
                </a:solidFill>
              </a:rPr>
              <a:t>object response testing</a:t>
            </a:r>
            <a:r>
              <a:rPr lang="en">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Focus groups bring together 8 to 10 community members for a guided conversation. These 90-minute discussions help us understand not just what people think of the materials, but </a:t>
            </a:r>
            <a:r>
              <a:rPr i="1" lang="en">
                <a:solidFill>
                  <a:schemeClr val="dk1"/>
                </a:solidFill>
              </a:rPr>
              <a:t>why</a:t>
            </a:r>
            <a:r>
              <a:rPr lang="en">
                <a:solidFill>
                  <a:schemeClr val="dk1"/>
                </a:solidFill>
              </a:rPr>
              <a:t> they interpret them that way. We record the sessions with consent and then analyze the transcripts for common themes, strengths, and areas where the materials can be improved.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Object response testing is much quicker. Participants view the materials and give immediate reactions. This helps us understand what stands out at first glance — what is clear, what is confusing, and what instantly catches someone’s attention.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Using both methods together gives us a full picture: deep, thoughtful feedback from the focus groups, and instant impressions from the object testing. After that, we make final adjustments to ensure the promotional materials are accurate, engaging, and grounded in community perspectives.</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c6f980f91_0_42: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c6f980f91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MALAK</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Our expected outcomes include a full summary of the community data we collected, an evaluation of the partnerships we studied, and a clearer picture of the barriers and needs in Worcester. We’ll start creating draft promotional materials using </a:t>
            </a:r>
            <a:r>
              <a:rPr b="1" lang="en">
                <a:solidFill>
                  <a:schemeClr val="dk1"/>
                </a:solidFill>
              </a:rPr>
              <a:t>reorganizing information to make it efficient</a:t>
            </a:r>
            <a:r>
              <a:rPr lang="en">
                <a:solidFill>
                  <a:schemeClr val="dk1"/>
                </a:solidFill>
              </a:rPr>
              <a:t> and </a:t>
            </a:r>
            <a:r>
              <a:rPr b="1" lang="en">
                <a:solidFill>
                  <a:schemeClr val="dk1"/>
                </a:solidFill>
              </a:rPr>
              <a:t>easy content translation</a:t>
            </a:r>
            <a:r>
              <a:rPr lang="en">
                <a:solidFill>
                  <a:schemeClr val="dk1"/>
                </a:solidFill>
              </a:rPr>
              <a:t>, and then refine them based on feedback from focus groups and object response testing.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We’ll also be creating a major map that visualizes the network of the chains of effect, so people can easily see how different factors and partnerships connect and influence each other.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Our final deliverable will be an interactive website that highlights the WCPC’s work, showcases community stories, and presents data insights in a way that’s engaging and easy for anyone to understand. All supporting documents — including interview guides, protocols, and analyses — will also be included to round out the full project package.</a:t>
            </a:r>
            <a:endParaRPr>
              <a:solidFill>
                <a:schemeClr val="dk1"/>
              </a:solidFill>
            </a:endParaRPr>
          </a:p>
          <a:p>
            <a:pPr indent="0" lvl="0" marL="0" rtl="0" algn="l">
              <a:spcBef>
                <a:spcPts val="1200"/>
              </a:spcBef>
              <a:spcAft>
                <a:spcPts val="0"/>
              </a:spcAft>
              <a:buNone/>
            </a:pPr>
            <a:r>
              <a:t/>
            </a: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c6f980f91_0_33: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c6f980f91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Tolu</a:t>
            </a:r>
            <a:endParaRPr/>
          </a:p>
          <a:p>
            <a:pPr indent="0" lvl="0" marL="0" rtl="0" algn="l">
              <a:spcBef>
                <a:spcPts val="0"/>
              </a:spcBef>
              <a:spcAft>
                <a:spcPts val="0"/>
              </a:spcAft>
              <a:buNone/>
            </a:pPr>
            <a:r>
              <a:t/>
            </a:r>
            <a:endParaRPr/>
          </a:p>
          <a:p>
            <a:pPr indent="0" lvl="0" marL="0" rtl="0" algn="l">
              <a:spcBef>
                <a:spcPts val="0"/>
              </a:spcBef>
              <a:spcAft>
                <a:spcPts val="0"/>
              </a:spcAft>
              <a:buNone/>
            </a:pPr>
            <a:r>
              <a:rPr lang="en" sz="1800"/>
              <a:t>Here’s our timeline for the project. In the first few weeks, we focus on Objective 1: collecting archives, conducting content analysis, and starting network mapping. This begins in Weeks 1-2 and wraps up by early Week 3, with the network map finalized.</a:t>
            </a:r>
            <a:endParaRPr sz="1800"/>
          </a:p>
          <a:p>
            <a:pPr indent="0" lvl="0" marL="0" rtl="0" algn="l">
              <a:spcBef>
                <a:spcPts val="0"/>
              </a:spcBef>
              <a:spcAft>
                <a:spcPts val="0"/>
              </a:spcAft>
              <a:buNone/>
            </a:pPr>
            <a:r>
              <a:t/>
            </a:r>
            <a:endParaRPr sz="1800"/>
          </a:p>
          <a:p>
            <a:pPr indent="0" lvl="0" marL="0" rtl="0" algn="l">
              <a:spcBef>
                <a:spcPts val="0"/>
              </a:spcBef>
              <a:spcAft>
                <a:spcPts val="0"/>
              </a:spcAft>
              <a:buNone/>
            </a:pPr>
            <a:r>
              <a:rPr lang="en" sz="1800"/>
              <a:t>Next, Objective 2 involves interviews and Ripple Effects Mapping to understand community impact. We’ll start contacting partners and sponsors in Week 1, schedule interviews for late Week 2 through Week 3, and create REM maps alongside interviews till the end of Week 5.</a:t>
            </a:r>
            <a:endParaRPr sz="1800"/>
          </a:p>
          <a:p>
            <a:pPr indent="0" lvl="0" marL="0" rtl="0" algn="l">
              <a:spcBef>
                <a:spcPts val="0"/>
              </a:spcBef>
              <a:spcAft>
                <a:spcPts val="0"/>
              </a:spcAft>
              <a:buNone/>
            </a:pPr>
            <a:r>
              <a:t/>
            </a:r>
            <a:endParaRPr sz="1800"/>
          </a:p>
          <a:p>
            <a:pPr indent="0" lvl="0" marL="0" rtl="0" algn="l">
              <a:spcBef>
                <a:spcPts val="0"/>
              </a:spcBef>
              <a:spcAft>
                <a:spcPts val="0"/>
              </a:spcAft>
              <a:buNone/>
            </a:pPr>
            <a:r>
              <a:rPr lang="en" sz="1800"/>
              <a:t>Finally, Objective 3 is about developing promotional materials/deliverables and getting feedback through focus groups. Drafting starts as early as Week 2, with a finalized draft by the end of Week 5. Feedback and revisions will happen in Weeks 6 and 7.</a:t>
            </a:r>
            <a:endParaRPr sz="1800"/>
          </a:p>
          <a:p>
            <a:pPr indent="0" lvl="0" marL="0" rtl="0" algn="l">
              <a:spcBef>
                <a:spcPts val="0"/>
              </a:spcBef>
              <a:spcAft>
                <a:spcPts val="0"/>
              </a:spcAft>
              <a:buNone/>
            </a:pPr>
            <a:r>
              <a:t/>
            </a:r>
            <a:endParaRPr sz="1800"/>
          </a:p>
          <a:p>
            <a:pPr indent="0" lvl="0" marL="0" rtl="0" algn="l">
              <a:spcBef>
                <a:spcPts val="0"/>
              </a:spcBef>
              <a:spcAft>
                <a:spcPts val="0"/>
              </a:spcAft>
              <a:buNone/>
            </a:pPr>
            <a:r>
              <a:rPr lang="en" sz="1800"/>
              <a:t>This structured timeline ensures we meet all objectives and deliver a comprehensive analysis of WCPC’s impact.</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c6f980f91_0_122: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c6f980f91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grpSp>
        <p:nvGrpSpPr>
          <p:cNvPr id="10" name="Google Shape;10;p2"/>
          <p:cNvGrpSpPr/>
          <p:nvPr/>
        </p:nvGrpSpPr>
        <p:grpSpPr>
          <a:xfrm>
            <a:off x="4350279" y="2855377"/>
            <a:ext cx="443589" cy="105632"/>
            <a:chOff x="4137525" y="2915950"/>
            <a:chExt cx="869100" cy="207000"/>
          </a:xfrm>
        </p:grpSpPr>
        <p:sp>
          <p:nvSpPr>
            <p:cNvPr id="11" name="Google Shape;11;p2"/>
            <p:cNvSpPr/>
            <p:nvPr/>
          </p:nvSpPr>
          <p:spPr>
            <a:xfrm>
              <a:off x="446857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47996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41375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671258" y="990800"/>
            <a:ext cx="7801500" cy="1730100"/>
          </a:xfrm>
          <a:prstGeom prst="rect">
            <a:avLst/>
          </a:prstGeom>
        </p:spPr>
        <p:txBody>
          <a:bodyPr anchorCtr="0" anchor="b" bIns="91425" lIns="91425" spcFirstLastPara="1" rIns="91425" wrap="square" tIns="91425">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5" name="Google Shape;15;p2"/>
          <p:cNvSpPr txBox="1"/>
          <p:nvPr>
            <p:ph idx="1" type="subTitle"/>
          </p:nvPr>
        </p:nvSpPr>
        <p:spPr>
          <a:xfrm>
            <a:off x="671250" y="3174876"/>
            <a:ext cx="78015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6" name="Google Shape;16;p2"/>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671250" y="2141250"/>
            <a:ext cx="7852200" cy="8610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23" name="Google Shape;23;p4"/>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8" name="Google Shape;28;p5"/>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6"/>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5" name="Google Shape;35;p7"/>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490250" y="526350"/>
            <a:ext cx="6227100" cy="40908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8" name="Google Shape;38;p8"/>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 name="Google Shape;4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2" name="Google Shape;42;p9"/>
          <p:cNvSpPr txBox="1"/>
          <p:nvPr>
            <p:ph type="title"/>
          </p:nvPr>
        </p:nvSpPr>
        <p:spPr>
          <a:xfrm>
            <a:off x="265500" y="1081400"/>
            <a:ext cx="4045200" cy="1710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3" name="Google Shape;43;p9"/>
          <p:cNvSpPr txBox="1"/>
          <p:nvPr>
            <p:ph idx="1" type="subTitle"/>
          </p:nvPr>
        </p:nvSpPr>
        <p:spPr>
          <a:xfrm>
            <a:off x="265500" y="2845201"/>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2100"/>
              <a:buNone/>
              <a:defRPr sz="2100">
                <a:solidFill>
                  <a:schemeClr val="dk1"/>
                </a:solidFill>
              </a:defRPr>
            </a:lvl1pPr>
            <a:lvl2pPr lvl="1" algn="ctr">
              <a:lnSpc>
                <a:spcPct val="100000"/>
              </a:lnSpc>
              <a:spcBef>
                <a:spcPts val="0"/>
              </a:spcBef>
              <a:spcAft>
                <a:spcPts val="0"/>
              </a:spcAft>
              <a:buClr>
                <a:schemeClr val="dk1"/>
              </a:buClr>
              <a:buSzPts val="2100"/>
              <a:buNone/>
              <a:defRPr sz="2100">
                <a:solidFill>
                  <a:schemeClr val="dk1"/>
                </a:solidFill>
              </a:defRPr>
            </a:lvl2pPr>
            <a:lvl3pPr lvl="2" algn="ctr">
              <a:lnSpc>
                <a:spcPct val="100000"/>
              </a:lnSpc>
              <a:spcBef>
                <a:spcPts val="0"/>
              </a:spcBef>
              <a:spcAft>
                <a:spcPts val="0"/>
              </a:spcAft>
              <a:buClr>
                <a:schemeClr val="dk1"/>
              </a:buClr>
              <a:buSzPts val="2100"/>
              <a:buNone/>
              <a:defRPr sz="2100">
                <a:solidFill>
                  <a:schemeClr val="dk1"/>
                </a:solidFill>
              </a:defRPr>
            </a:lvl3pPr>
            <a:lvl4pPr lvl="3" algn="ctr">
              <a:lnSpc>
                <a:spcPct val="100000"/>
              </a:lnSpc>
              <a:spcBef>
                <a:spcPts val="0"/>
              </a:spcBef>
              <a:spcAft>
                <a:spcPts val="0"/>
              </a:spcAft>
              <a:buClr>
                <a:schemeClr val="dk1"/>
              </a:buClr>
              <a:buSzPts val="2100"/>
              <a:buNone/>
              <a:defRPr sz="2100">
                <a:solidFill>
                  <a:schemeClr val="dk1"/>
                </a:solidFill>
              </a:defRPr>
            </a:lvl4pPr>
            <a:lvl5pPr lvl="4" algn="ctr">
              <a:lnSpc>
                <a:spcPct val="100000"/>
              </a:lnSpc>
              <a:spcBef>
                <a:spcPts val="0"/>
              </a:spcBef>
              <a:spcAft>
                <a:spcPts val="0"/>
              </a:spcAft>
              <a:buClr>
                <a:schemeClr val="dk1"/>
              </a:buClr>
              <a:buSzPts val="2100"/>
              <a:buNone/>
              <a:defRPr sz="2100">
                <a:solidFill>
                  <a:schemeClr val="dk1"/>
                </a:solidFill>
              </a:defRPr>
            </a:lvl5pPr>
            <a:lvl6pPr lvl="5" algn="ctr">
              <a:lnSpc>
                <a:spcPct val="100000"/>
              </a:lnSpc>
              <a:spcBef>
                <a:spcPts val="0"/>
              </a:spcBef>
              <a:spcAft>
                <a:spcPts val="0"/>
              </a:spcAft>
              <a:buClr>
                <a:schemeClr val="dk1"/>
              </a:buClr>
              <a:buSzPts val="2100"/>
              <a:buNone/>
              <a:defRPr sz="2100">
                <a:solidFill>
                  <a:schemeClr val="dk1"/>
                </a:solidFill>
              </a:defRPr>
            </a:lvl6pPr>
            <a:lvl7pPr lvl="6" algn="ctr">
              <a:lnSpc>
                <a:spcPct val="100000"/>
              </a:lnSpc>
              <a:spcBef>
                <a:spcPts val="0"/>
              </a:spcBef>
              <a:spcAft>
                <a:spcPts val="0"/>
              </a:spcAft>
              <a:buClr>
                <a:schemeClr val="dk1"/>
              </a:buClr>
              <a:buSzPts val="2100"/>
              <a:buNone/>
              <a:defRPr sz="2100">
                <a:solidFill>
                  <a:schemeClr val="dk1"/>
                </a:solidFill>
              </a:defRPr>
            </a:lvl7pPr>
            <a:lvl8pPr lvl="7" algn="ctr">
              <a:lnSpc>
                <a:spcPct val="100000"/>
              </a:lnSpc>
              <a:spcBef>
                <a:spcPts val="0"/>
              </a:spcBef>
              <a:spcAft>
                <a:spcPts val="0"/>
              </a:spcAft>
              <a:buClr>
                <a:schemeClr val="dk1"/>
              </a:buClr>
              <a:buSzPts val="2100"/>
              <a:buNone/>
              <a:defRPr sz="2100">
                <a:solidFill>
                  <a:schemeClr val="dk1"/>
                </a:solidFill>
              </a:defRPr>
            </a:lvl8pPr>
            <a:lvl9pPr lvl="8" algn="ctr">
              <a:lnSpc>
                <a:spcPct val="100000"/>
              </a:lnSpc>
              <a:spcBef>
                <a:spcPts val="0"/>
              </a:spcBef>
              <a:spcAft>
                <a:spcPts val="0"/>
              </a:spcAft>
              <a:buClr>
                <a:schemeClr val="dk1"/>
              </a:buClr>
              <a:buSzPts val="2100"/>
              <a:buNone/>
              <a:defRPr sz="2100">
                <a:solidFill>
                  <a:schemeClr val="dk1"/>
                </a:solidFill>
              </a:defRPr>
            </a:lvl9pPr>
          </a:lstStyle>
          <a:p/>
        </p:txBody>
      </p:sp>
      <p:sp>
        <p:nvSpPr>
          <p:cNvPr id="44" name="Google Shape;44;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1600"/>
              </a:spcBef>
              <a:spcAft>
                <a:spcPts val="0"/>
              </a:spcAft>
              <a:buClr>
                <a:schemeClr val="lt1"/>
              </a:buClr>
              <a:buSzPts val="1400"/>
              <a:buChar char="○"/>
              <a:defRPr>
                <a:solidFill>
                  <a:schemeClr val="lt1"/>
                </a:solidFill>
              </a:defRPr>
            </a:lvl2pPr>
            <a:lvl3pPr indent="-317500" lvl="2" marL="1371600">
              <a:spcBef>
                <a:spcPts val="1600"/>
              </a:spcBef>
              <a:spcAft>
                <a:spcPts val="0"/>
              </a:spcAft>
              <a:buClr>
                <a:schemeClr val="lt1"/>
              </a:buClr>
              <a:buSzPts val="1400"/>
              <a:buChar char="■"/>
              <a:defRPr>
                <a:solidFill>
                  <a:schemeClr val="lt1"/>
                </a:solidFill>
              </a:defRPr>
            </a:lvl3pPr>
            <a:lvl4pPr indent="-317500" lvl="3" marL="1828800">
              <a:spcBef>
                <a:spcPts val="1600"/>
              </a:spcBef>
              <a:spcAft>
                <a:spcPts val="0"/>
              </a:spcAft>
              <a:buClr>
                <a:schemeClr val="lt1"/>
              </a:buClr>
              <a:buSzPts val="1400"/>
              <a:buChar char="●"/>
              <a:defRPr>
                <a:solidFill>
                  <a:schemeClr val="lt1"/>
                </a:solidFill>
              </a:defRPr>
            </a:lvl4pPr>
            <a:lvl5pPr indent="-317500" lvl="4" marL="2286000">
              <a:spcBef>
                <a:spcPts val="1600"/>
              </a:spcBef>
              <a:spcAft>
                <a:spcPts val="0"/>
              </a:spcAft>
              <a:buClr>
                <a:schemeClr val="lt1"/>
              </a:buClr>
              <a:buSzPts val="1400"/>
              <a:buChar char="○"/>
              <a:defRPr>
                <a:solidFill>
                  <a:schemeClr val="lt1"/>
                </a:solidFill>
              </a:defRPr>
            </a:lvl5pPr>
            <a:lvl6pPr indent="-317500" lvl="5" marL="2743200">
              <a:spcBef>
                <a:spcPts val="1600"/>
              </a:spcBef>
              <a:spcAft>
                <a:spcPts val="0"/>
              </a:spcAft>
              <a:buClr>
                <a:schemeClr val="lt1"/>
              </a:buClr>
              <a:buSzPts val="1400"/>
              <a:buChar char="■"/>
              <a:defRPr>
                <a:solidFill>
                  <a:schemeClr val="lt1"/>
                </a:solidFill>
              </a:defRPr>
            </a:lvl6pPr>
            <a:lvl7pPr indent="-317500" lvl="6" marL="3200400">
              <a:spcBef>
                <a:spcPts val="1600"/>
              </a:spcBef>
              <a:spcAft>
                <a:spcPts val="0"/>
              </a:spcAft>
              <a:buClr>
                <a:schemeClr val="lt1"/>
              </a:buClr>
              <a:buSzPts val="1400"/>
              <a:buChar char="●"/>
              <a:defRPr>
                <a:solidFill>
                  <a:schemeClr val="lt1"/>
                </a:solidFill>
              </a:defRPr>
            </a:lvl7pPr>
            <a:lvl8pPr indent="-317500" lvl="7" marL="3657600">
              <a:spcBef>
                <a:spcPts val="1600"/>
              </a:spcBef>
              <a:spcAft>
                <a:spcPts val="0"/>
              </a:spcAft>
              <a:buClr>
                <a:schemeClr val="lt1"/>
              </a:buClr>
              <a:buSzPts val="1400"/>
              <a:buChar char="○"/>
              <a:defRPr>
                <a:solidFill>
                  <a:schemeClr val="lt1"/>
                </a:solidFill>
              </a:defRPr>
            </a:lvl8pPr>
            <a:lvl9pPr indent="-317500" lvl="8" marL="4114800">
              <a:spcBef>
                <a:spcPts val="1600"/>
              </a:spcBef>
              <a:spcAft>
                <a:spcPts val="1600"/>
              </a:spcAft>
              <a:buClr>
                <a:schemeClr val="lt1"/>
              </a:buClr>
              <a:buSzPts val="1400"/>
              <a:buChar char="■"/>
              <a:defRPr>
                <a:solidFill>
                  <a:schemeClr val="lt1"/>
                </a:solidFill>
              </a:defRPr>
            </a:lvl9pPr>
          </a:lstStyle>
          <a:p/>
        </p:txBody>
      </p:sp>
      <p:sp>
        <p:nvSpPr>
          <p:cNvPr id="45" name="Google Shape;45;p9"/>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 name="Shape 46"/>
        <p:cNvGrpSpPr/>
        <p:nvPr/>
      </p:nvGrpSpPr>
      <p:grpSpPr>
        <a:xfrm>
          <a:off x="0" y="0"/>
          <a:ext cx="0" cy="0"/>
          <a:chOff x="0" y="0"/>
          <a:chExt cx="0" cy="0"/>
        </a:xfrm>
      </p:grpSpPr>
      <p:sp>
        <p:nvSpPr>
          <p:cNvPr id="47" name="Google Shape;47;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Clr>
                <a:schemeClr val="dk1"/>
              </a:buClr>
              <a:buSzPts val="2100"/>
              <a:buFont typeface="Oswald"/>
              <a:buNone/>
              <a:defRPr sz="2100">
                <a:solidFill>
                  <a:schemeClr val="dk1"/>
                </a:solidFill>
                <a:latin typeface="Oswald"/>
                <a:ea typeface="Oswald"/>
                <a:cs typeface="Oswald"/>
                <a:sym typeface="Oswald"/>
              </a:defRPr>
            </a:lvl1pPr>
          </a:lstStyle>
          <a:p/>
        </p:txBody>
      </p:sp>
      <p:sp>
        <p:nvSpPr>
          <p:cNvPr id="48" name="Google Shape;48;p10"/>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9" name="Shape 49"/>
        <p:cNvGrpSpPr/>
        <p:nvPr/>
      </p:nvGrpSpPr>
      <p:grpSpPr>
        <a:xfrm>
          <a:off x="0" y="0"/>
          <a:ext cx="0" cy="0"/>
          <a:chOff x="0" y="0"/>
          <a:chExt cx="0" cy="0"/>
        </a:xfrm>
      </p:grpSpPr>
      <p:sp>
        <p:nvSpPr>
          <p:cNvPr id="50" name="Google Shape;50;p11"/>
          <p:cNvSpPr txBox="1"/>
          <p:nvPr>
            <p:ph hasCustomPrompt="1" type="title"/>
          </p:nvPr>
        </p:nvSpPr>
        <p:spPr>
          <a:xfrm>
            <a:off x="311700" y="1255275"/>
            <a:ext cx="8520600" cy="18906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1" name="Google Shape;51;p11"/>
          <p:cNvSpPr txBox="1"/>
          <p:nvPr>
            <p:ph idx="1" type="body"/>
          </p:nvPr>
        </p:nvSpPr>
        <p:spPr>
          <a:xfrm>
            <a:off x="311700" y="32284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52" name="Google Shape;52;p11"/>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12"/>
          <p:cNvSpPr txBox="1"/>
          <p:nvPr>
            <p:ph idx="12" type="sldNum"/>
          </p:nvPr>
        </p:nvSpPr>
        <p:spPr>
          <a:xfrm>
            <a:off x="8490250" y="468100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lat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1pPr>
            <a:lvl2pPr lvl="1">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2pPr>
            <a:lvl3pPr lvl="2">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3pPr>
            <a:lvl4pPr lvl="3">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4pPr>
            <a:lvl5pPr lvl="4">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5pPr>
            <a:lvl6pPr lvl="5">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6pPr>
            <a:lvl7pPr lvl="6">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7pPr>
            <a:lvl8pPr lvl="7">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8pPr>
            <a:lvl9pPr lvl="8">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accent3"/>
              </a:buClr>
              <a:buSzPts val="1800"/>
              <a:buFont typeface="Average"/>
              <a:buChar char="●"/>
              <a:defRPr sz="1800">
                <a:solidFill>
                  <a:schemeClr val="accent3"/>
                </a:solidFill>
                <a:latin typeface="Average"/>
                <a:ea typeface="Average"/>
                <a:cs typeface="Average"/>
                <a:sym typeface="Average"/>
              </a:defRPr>
            </a:lvl1pPr>
            <a:lvl2pPr indent="-317500" lvl="1" marL="914400">
              <a:lnSpc>
                <a:spcPct val="115000"/>
              </a:lnSpc>
              <a:spcBef>
                <a:spcPts val="1600"/>
              </a:spcBef>
              <a:spcAft>
                <a:spcPts val="0"/>
              </a:spcAft>
              <a:buClr>
                <a:schemeClr val="accent3"/>
              </a:buClr>
              <a:buSzPts val="1400"/>
              <a:buFont typeface="Average"/>
              <a:buChar char="○"/>
              <a:defRPr>
                <a:solidFill>
                  <a:schemeClr val="accent3"/>
                </a:solidFill>
                <a:latin typeface="Average"/>
                <a:ea typeface="Average"/>
                <a:cs typeface="Average"/>
                <a:sym typeface="Average"/>
              </a:defRPr>
            </a:lvl2pPr>
            <a:lvl3pPr indent="-317500" lvl="2" marL="1371600">
              <a:lnSpc>
                <a:spcPct val="115000"/>
              </a:lnSpc>
              <a:spcBef>
                <a:spcPts val="1600"/>
              </a:spcBef>
              <a:spcAft>
                <a:spcPts val="0"/>
              </a:spcAft>
              <a:buClr>
                <a:schemeClr val="accent3"/>
              </a:buClr>
              <a:buSzPts val="1400"/>
              <a:buFont typeface="Average"/>
              <a:buChar char="■"/>
              <a:defRPr>
                <a:solidFill>
                  <a:schemeClr val="accent3"/>
                </a:solidFill>
                <a:latin typeface="Average"/>
                <a:ea typeface="Average"/>
                <a:cs typeface="Average"/>
                <a:sym typeface="Average"/>
              </a:defRPr>
            </a:lvl3pPr>
            <a:lvl4pPr indent="-317500" lvl="3" marL="1828800">
              <a:lnSpc>
                <a:spcPct val="115000"/>
              </a:lnSpc>
              <a:spcBef>
                <a:spcPts val="1600"/>
              </a:spcBef>
              <a:spcAft>
                <a:spcPts val="0"/>
              </a:spcAft>
              <a:buClr>
                <a:schemeClr val="accent3"/>
              </a:buClr>
              <a:buSzPts val="1400"/>
              <a:buFont typeface="Average"/>
              <a:buChar char="●"/>
              <a:defRPr>
                <a:solidFill>
                  <a:schemeClr val="accent3"/>
                </a:solidFill>
                <a:latin typeface="Average"/>
                <a:ea typeface="Average"/>
                <a:cs typeface="Average"/>
                <a:sym typeface="Average"/>
              </a:defRPr>
            </a:lvl4pPr>
            <a:lvl5pPr indent="-317500" lvl="4" marL="2286000">
              <a:lnSpc>
                <a:spcPct val="115000"/>
              </a:lnSpc>
              <a:spcBef>
                <a:spcPts val="1600"/>
              </a:spcBef>
              <a:spcAft>
                <a:spcPts val="0"/>
              </a:spcAft>
              <a:buClr>
                <a:schemeClr val="accent3"/>
              </a:buClr>
              <a:buSzPts val="1400"/>
              <a:buFont typeface="Average"/>
              <a:buChar char="○"/>
              <a:defRPr>
                <a:solidFill>
                  <a:schemeClr val="accent3"/>
                </a:solidFill>
                <a:latin typeface="Average"/>
                <a:ea typeface="Average"/>
                <a:cs typeface="Average"/>
                <a:sym typeface="Average"/>
              </a:defRPr>
            </a:lvl5pPr>
            <a:lvl6pPr indent="-317500" lvl="5" marL="2743200">
              <a:lnSpc>
                <a:spcPct val="115000"/>
              </a:lnSpc>
              <a:spcBef>
                <a:spcPts val="1600"/>
              </a:spcBef>
              <a:spcAft>
                <a:spcPts val="0"/>
              </a:spcAft>
              <a:buClr>
                <a:schemeClr val="accent3"/>
              </a:buClr>
              <a:buSzPts val="1400"/>
              <a:buFont typeface="Average"/>
              <a:buChar char="■"/>
              <a:defRPr>
                <a:solidFill>
                  <a:schemeClr val="accent3"/>
                </a:solidFill>
                <a:latin typeface="Average"/>
                <a:ea typeface="Average"/>
                <a:cs typeface="Average"/>
                <a:sym typeface="Average"/>
              </a:defRPr>
            </a:lvl6pPr>
            <a:lvl7pPr indent="-317500" lvl="6" marL="3200400">
              <a:lnSpc>
                <a:spcPct val="115000"/>
              </a:lnSpc>
              <a:spcBef>
                <a:spcPts val="1600"/>
              </a:spcBef>
              <a:spcAft>
                <a:spcPts val="0"/>
              </a:spcAft>
              <a:buClr>
                <a:schemeClr val="accent3"/>
              </a:buClr>
              <a:buSzPts val="1400"/>
              <a:buFont typeface="Average"/>
              <a:buChar char="●"/>
              <a:defRPr>
                <a:solidFill>
                  <a:schemeClr val="accent3"/>
                </a:solidFill>
                <a:latin typeface="Average"/>
                <a:ea typeface="Average"/>
                <a:cs typeface="Average"/>
                <a:sym typeface="Average"/>
              </a:defRPr>
            </a:lvl7pPr>
            <a:lvl8pPr indent="-317500" lvl="7" marL="3657600">
              <a:lnSpc>
                <a:spcPct val="115000"/>
              </a:lnSpc>
              <a:spcBef>
                <a:spcPts val="1600"/>
              </a:spcBef>
              <a:spcAft>
                <a:spcPts val="0"/>
              </a:spcAft>
              <a:buClr>
                <a:schemeClr val="accent3"/>
              </a:buClr>
              <a:buSzPts val="1400"/>
              <a:buFont typeface="Average"/>
              <a:buChar char="○"/>
              <a:defRPr>
                <a:solidFill>
                  <a:schemeClr val="accent3"/>
                </a:solidFill>
                <a:latin typeface="Average"/>
                <a:ea typeface="Average"/>
                <a:cs typeface="Average"/>
                <a:sym typeface="Average"/>
              </a:defRPr>
            </a:lvl8pPr>
            <a:lvl9pPr indent="-317500" lvl="8" marL="4114800">
              <a:lnSpc>
                <a:spcPct val="115000"/>
              </a:lnSpc>
              <a:spcBef>
                <a:spcPts val="1600"/>
              </a:spcBef>
              <a:spcAft>
                <a:spcPts val="1600"/>
              </a:spcAft>
              <a:buClr>
                <a:schemeClr val="accent3"/>
              </a:buClr>
              <a:buSzPts val="1400"/>
              <a:buFont typeface="Average"/>
              <a:buChar char="■"/>
              <a:defRPr>
                <a:solidFill>
                  <a:schemeClr val="accent3"/>
                </a:solidFill>
                <a:latin typeface="Average"/>
                <a:ea typeface="Average"/>
                <a:cs typeface="Average"/>
                <a:sym typeface="Average"/>
              </a:defRPr>
            </a:lvl9pPr>
          </a:lstStyle>
          <a:p/>
        </p:txBody>
      </p:sp>
      <p:sp>
        <p:nvSpPr>
          <p:cNvPr id="8" name="Google Shape;8;p1"/>
          <p:cNvSpPr txBox="1"/>
          <p:nvPr>
            <p:ph idx="12" type="sldNum"/>
          </p:nvPr>
        </p:nvSpPr>
        <p:spPr>
          <a:xfrm>
            <a:off x="8490250" y="4681009"/>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accent3"/>
                </a:solidFill>
                <a:latin typeface="Average"/>
                <a:ea typeface="Average"/>
                <a:cs typeface="Average"/>
                <a:sym typeface="Average"/>
              </a:defRPr>
            </a:lvl1pPr>
            <a:lvl2pPr lvl="1" algn="r">
              <a:buNone/>
              <a:defRPr sz="1000">
                <a:solidFill>
                  <a:schemeClr val="accent3"/>
                </a:solidFill>
                <a:latin typeface="Average"/>
                <a:ea typeface="Average"/>
                <a:cs typeface="Average"/>
                <a:sym typeface="Average"/>
              </a:defRPr>
            </a:lvl2pPr>
            <a:lvl3pPr lvl="2" algn="r">
              <a:buNone/>
              <a:defRPr sz="1000">
                <a:solidFill>
                  <a:schemeClr val="accent3"/>
                </a:solidFill>
                <a:latin typeface="Average"/>
                <a:ea typeface="Average"/>
                <a:cs typeface="Average"/>
                <a:sym typeface="Average"/>
              </a:defRPr>
            </a:lvl3pPr>
            <a:lvl4pPr lvl="3" algn="r">
              <a:buNone/>
              <a:defRPr sz="1000">
                <a:solidFill>
                  <a:schemeClr val="accent3"/>
                </a:solidFill>
                <a:latin typeface="Average"/>
                <a:ea typeface="Average"/>
                <a:cs typeface="Average"/>
                <a:sym typeface="Average"/>
              </a:defRPr>
            </a:lvl4pPr>
            <a:lvl5pPr lvl="4" algn="r">
              <a:buNone/>
              <a:defRPr sz="1000">
                <a:solidFill>
                  <a:schemeClr val="accent3"/>
                </a:solidFill>
                <a:latin typeface="Average"/>
                <a:ea typeface="Average"/>
                <a:cs typeface="Average"/>
                <a:sym typeface="Average"/>
              </a:defRPr>
            </a:lvl5pPr>
            <a:lvl6pPr lvl="5" algn="r">
              <a:buNone/>
              <a:defRPr sz="1000">
                <a:solidFill>
                  <a:schemeClr val="accent3"/>
                </a:solidFill>
                <a:latin typeface="Average"/>
                <a:ea typeface="Average"/>
                <a:cs typeface="Average"/>
                <a:sym typeface="Average"/>
              </a:defRPr>
            </a:lvl6pPr>
            <a:lvl7pPr lvl="6" algn="r">
              <a:buNone/>
              <a:defRPr sz="1000">
                <a:solidFill>
                  <a:schemeClr val="accent3"/>
                </a:solidFill>
                <a:latin typeface="Average"/>
                <a:ea typeface="Average"/>
                <a:cs typeface="Average"/>
                <a:sym typeface="Average"/>
              </a:defRPr>
            </a:lvl7pPr>
            <a:lvl8pPr lvl="7" algn="r">
              <a:buNone/>
              <a:defRPr sz="1000">
                <a:solidFill>
                  <a:schemeClr val="accent3"/>
                </a:solidFill>
                <a:latin typeface="Average"/>
                <a:ea typeface="Average"/>
                <a:cs typeface="Average"/>
                <a:sym typeface="Average"/>
              </a:defRPr>
            </a:lvl8pPr>
            <a:lvl9pPr lvl="8" algn="r">
              <a:buNone/>
              <a:defRPr sz="1000">
                <a:solidFill>
                  <a:schemeClr val="accent3"/>
                </a:solidFill>
                <a:latin typeface="Average"/>
                <a:ea typeface="Average"/>
                <a:cs typeface="Average"/>
                <a:sym typeface="Average"/>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3"/>
          <p:cNvSpPr txBox="1"/>
          <p:nvPr>
            <p:ph type="ctrTitle"/>
          </p:nvPr>
        </p:nvSpPr>
        <p:spPr>
          <a:xfrm>
            <a:off x="671258" y="990800"/>
            <a:ext cx="7801500" cy="17301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Documenting the last 25 Years of the Worcester Community Project Center</a:t>
            </a:r>
            <a:endParaRPr/>
          </a:p>
        </p:txBody>
      </p:sp>
      <p:sp>
        <p:nvSpPr>
          <p:cNvPr id="60" name="Google Shape;60;p13"/>
          <p:cNvSpPr txBox="1"/>
          <p:nvPr>
            <p:ph idx="1" type="subTitle"/>
          </p:nvPr>
        </p:nvSpPr>
        <p:spPr>
          <a:xfrm>
            <a:off x="420750" y="3174875"/>
            <a:ext cx="8302500" cy="792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Team Members: Toluwani Akomolafe, Adam Beckman, &amp; Malak Haida</a:t>
            </a:r>
            <a:endParaRPr/>
          </a:p>
          <a:p>
            <a:pPr indent="0" lvl="0" marL="0" rtl="0" algn="ctr">
              <a:spcBef>
                <a:spcPts val="0"/>
              </a:spcBef>
              <a:spcAft>
                <a:spcPts val="0"/>
              </a:spcAft>
              <a:buNone/>
            </a:pPr>
            <a:r>
              <a:rPr lang="en"/>
              <a:t>Sponsor: Amanda Wittman </a:t>
            </a:r>
            <a:br>
              <a:rPr lang="en"/>
            </a:b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4"/>
          <p:cNvSpPr txBox="1"/>
          <p:nvPr>
            <p:ph type="title"/>
          </p:nvPr>
        </p:nvSpPr>
        <p:spPr>
          <a:xfrm>
            <a:off x="-2641912" y="414500"/>
            <a:ext cx="85206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Our Motivation</a:t>
            </a:r>
            <a:endParaRPr/>
          </a:p>
        </p:txBody>
      </p:sp>
      <p:pic>
        <p:nvPicPr>
          <p:cNvPr id="66" name="Google Shape;66;p14"/>
          <p:cNvPicPr preferRelativeResize="0"/>
          <p:nvPr/>
        </p:nvPicPr>
        <p:blipFill rotWithShape="1">
          <a:blip r:embed="rId3">
            <a:alphaModFix/>
          </a:blip>
          <a:srcRect b="0" l="6191" r="0" t="5069"/>
          <a:stretch/>
        </p:blipFill>
        <p:spPr>
          <a:xfrm>
            <a:off x="962250" y="1243775"/>
            <a:ext cx="1312275" cy="1327975"/>
          </a:xfrm>
          <a:prstGeom prst="rect">
            <a:avLst/>
          </a:prstGeom>
          <a:noFill/>
          <a:ln>
            <a:noFill/>
          </a:ln>
        </p:spPr>
      </p:pic>
      <p:pic>
        <p:nvPicPr>
          <p:cNvPr id="67" name="Google Shape;67;p14"/>
          <p:cNvPicPr preferRelativeResize="0"/>
          <p:nvPr/>
        </p:nvPicPr>
        <p:blipFill rotWithShape="1">
          <a:blip r:embed="rId4">
            <a:alphaModFix/>
          </a:blip>
          <a:srcRect b="25166" l="2315" r="0" t="17481"/>
          <a:stretch/>
        </p:blipFill>
        <p:spPr>
          <a:xfrm>
            <a:off x="3436775" y="540988"/>
            <a:ext cx="5188525" cy="4061524"/>
          </a:xfrm>
          <a:prstGeom prst="rect">
            <a:avLst/>
          </a:prstGeom>
          <a:noFill/>
          <a:ln cap="flat" cmpd="sng" w="38100">
            <a:solidFill>
              <a:srgbClr val="0F1115"/>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5"/>
          <p:cNvSpPr txBox="1"/>
          <p:nvPr>
            <p:ph type="title"/>
          </p:nvPr>
        </p:nvSpPr>
        <p:spPr>
          <a:xfrm>
            <a:off x="311700" y="445025"/>
            <a:ext cx="8520600" cy="1112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High-Impact Learning Influences C</a:t>
            </a:r>
            <a:r>
              <a:rPr lang="en"/>
              <a:t>ommunities</a:t>
            </a:r>
            <a:r>
              <a:rPr lang="en"/>
              <a:t> Through P</a:t>
            </a:r>
            <a:r>
              <a:rPr lang="en"/>
              <a:t>ractices</a:t>
            </a:r>
            <a:r>
              <a:rPr lang="en"/>
              <a:t> Like Community-Based Learning</a:t>
            </a:r>
            <a:endParaRPr/>
          </a:p>
        </p:txBody>
      </p:sp>
      <p:grpSp>
        <p:nvGrpSpPr>
          <p:cNvPr id="73" name="Google Shape;73;p15"/>
          <p:cNvGrpSpPr/>
          <p:nvPr/>
        </p:nvGrpSpPr>
        <p:grpSpPr>
          <a:xfrm>
            <a:off x="666275" y="1731616"/>
            <a:ext cx="7585203" cy="730999"/>
            <a:chOff x="424813" y="1177875"/>
            <a:chExt cx="8294371" cy="849900"/>
          </a:xfrm>
        </p:grpSpPr>
        <p:sp>
          <p:nvSpPr>
            <p:cNvPr id="74" name="Google Shape;74;p15"/>
            <p:cNvSpPr/>
            <p:nvPr/>
          </p:nvSpPr>
          <p:spPr>
            <a:xfrm>
              <a:off x="2927684" y="1177875"/>
              <a:ext cx="5791500" cy="849900"/>
            </a:xfrm>
            <a:prstGeom prst="rect">
              <a:avLst/>
            </a:prstGeom>
            <a:solidFill>
              <a:schemeClr val="dk1"/>
            </a:solidFill>
            <a:ln>
              <a:noFill/>
            </a:ln>
          </p:spPr>
          <p:txBody>
            <a:bodyPr anchorCtr="0" anchor="ctr" bIns="83600" lIns="83600" spcFirstLastPara="1" rIns="83600" wrap="square" tIns="83600">
              <a:noAutofit/>
            </a:bodyPr>
            <a:lstStyle/>
            <a:p>
              <a:pPr indent="0" lvl="0" marL="0" rtl="0" algn="l">
                <a:spcBef>
                  <a:spcPts val="0"/>
                </a:spcBef>
                <a:spcAft>
                  <a:spcPts val="0"/>
                </a:spcAft>
                <a:buNone/>
              </a:pPr>
              <a:r>
                <a:t/>
              </a:r>
              <a:endParaRPr/>
            </a:p>
          </p:txBody>
        </p:sp>
        <p:sp>
          <p:nvSpPr>
            <p:cNvPr id="75" name="Google Shape;75;p15"/>
            <p:cNvSpPr/>
            <p:nvPr/>
          </p:nvSpPr>
          <p:spPr>
            <a:xfrm>
              <a:off x="424813" y="1177875"/>
              <a:ext cx="3055800" cy="849900"/>
            </a:xfrm>
            <a:prstGeom prst="homePlate">
              <a:avLst>
                <a:gd fmla="val 26719" name="adj"/>
              </a:avLst>
            </a:prstGeom>
            <a:solidFill>
              <a:schemeClr val="accent5"/>
            </a:solidFill>
            <a:ln>
              <a:noFill/>
            </a:ln>
          </p:spPr>
          <p:txBody>
            <a:bodyPr anchorCtr="0" anchor="ctr" bIns="83600" lIns="83600" spcFirstLastPara="1" rIns="83600" wrap="square" tIns="83600">
              <a:noAutofit/>
            </a:bodyPr>
            <a:lstStyle/>
            <a:p>
              <a:pPr indent="0" lvl="0" marL="0" rtl="0" algn="l">
                <a:spcBef>
                  <a:spcPts val="0"/>
                </a:spcBef>
                <a:spcAft>
                  <a:spcPts val="0"/>
                </a:spcAft>
                <a:buNone/>
              </a:pPr>
              <a:r>
                <a:t/>
              </a:r>
              <a:endParaRPr/>
            </a:p>
          </p:txBody>
        </p:sp>
      </p:grpSp>
      <p:sp>
        <p:nvSpPr>
          <p:cNvPr id="76" name="Google Shape;76;p15"/>
          <p:cNvSpPr txBox="1"/>
          <p:nvPr>
            <p:ph idx="4294967295" type="body"/>
          </p:nvPr>
        </p:nvSpPr>
        <p:spPr>
          <a:xfrm>
            <a:off x="771290" y="1731881"/>
            <a:ext cx="2408700" cy="730800"/>
          </a:xfrm>
          <a:prstGeom prst="rect">
            <a:avLst/>
          </a:prstGeom>
        </p:spPr>
        <p:txBody>
          <a:bodyPr anchorCtr="0" anchor="ctr" bIns="83600" lIns="83600" spcFirstLastPara="1" rIns="83600" wrap="square" tIns="83600">
            <a:noAutofit/>
          </a:bodyPr>
          <a:lstStyle/>
          <a:p>
            <a:pPr indent="0" lvl="0" marL="0" rtl="0" algn="l">
              <a:lnSpc>
                <a:spcPct val="100000"/>
              </a:lnSpc>
              <a:spcBef>
                <a:spcPts val="0"/>
              </a:spcBef>
              <a:spcAft>
                <a:spcPts val="0"/>
              </a:spcAft>
              <a:buNone/>
            </a:pPr>
            <a:r>
              <a:rPr lang="en" sz="1646">
                <a:solidFill>
                  <a:schemeClr val="lt1"/>
                </a:solidFill>
                <a:latin typeface="Oswald"/>
                <a:ea typeface="Oswald"/>
                <a:cs typeface="Oswald"/>
                <a:sym typeface="Oswald"/>
              </a:rPr>
              <a:t>Community-Based Learning</a:t>
            </a:r>
            <a:endParaRPr sz="1646">
              <a:solidFill>
                <a:schemeClr val="lt1"/>
              </a:solidFill>
              <a:latin typeface="Oswald"/>
              <a:ea typeface="Oswald"/>
              <a:cs typeface="Oswald"/>
              <a:sym typeface="Oswald"/>
            </a:endParaRPr>
          </a:p>
        </p:txBody>
      </p:sp>
      <p:sp>
        <p:nvSpPr>
          <p:cNvPr id="77" name="Google Shape;77;p15"/>
          <p:cNvSpPr txBox="1"/>
          <p:nvPr>
            <p:ph idx="4294967295" type="body"/>
          </p:nvPr>
        </p:nvSpPr>
        <p:spPr>
          <a:xfrm>
            <a:off x="3460546" y="1731843"/>
            <a:ext cx="4674600" cy="730800"/>
          </a:xfrm>
          <a:prstGeom prst="rect">
            <a:avLst/>
          </a:prstGeom>
        </p:spPr>
        <p:txBody>
          <a:bodyPr anchorCtr="0" anchor="ctr" bIns="83600" lIns="83600" spcFirstLastPara="1" rIns="83600" wrap="square" tIns="83600">
            <a:noAutofit/>
          </a:bodyPr>
          <a:lstStyle/>
          <a:p>
            <a:pPr indent="-313571" lvl="0" marL="418095" rtl="0" algn="l">
              <a:spcBef>
                <a:spcPts val="0"/>
              </a:spcBef>
              <a:spcAft>
                <a:spcPts val="0"/>
              </a:spcAft>
              <a:buClr>
                <a:schemeClr val="lt1"/>
              </a:buClr>
              <a:buSzPts val="1646"/>
              <a:buFont typeface="Oswald"/>
              <a:buChar char="●"/>
            </a:pPr>
            <a:r>
              <a:rPr lang="en" sz="1646">
                <a:solidFill>
                  <a:schemeClr val="lt1"/>
                </a:solidFill>
                <a:latin typeface="Oswald"/>
                <a:ea typeface="Oswald"/>
                <a:cs typeface="Oswald"/>
                <a:sym typeface="Oswald"/>
              </a:rPr>
              <a:t>Benefits, Values, Challenges</a:t>
            </a:r>
            <a:endParaRPr sz="1646">
              <a:solidFill>
                <a:schemeClr val="lt1"/>
              </a:solidFill>
              <a:latin typeface="Oswald"/>
              <a:ea typeface="Oswald"/>
              <a:cs typeface="Oswald"/>
              <a:sym typeface="Oswald"/>
            </a:endParaRPr>
          </a:p>
        </p:txBody>
      </p:sp>
      <p:pic>
        <p:nvPicPr>
          <p:cNvPr id="78" name="Google Shape;78;p15"/>
          <p:cNvPicPr preferRelativeResize="0"/>
          <p:nvPr/>
        </p:nvPicPr>
        <p:blipFill rotWithShape="1">
          <a:blip r:embed="rId3">
            <a:alphaModFix/>
          </a:blip>
          <a:srcRect b="0" l="10328" r="14607" t="0"/>
          <a:stretch/>
        </p:blipFill>
        <p:spPr>
          <a:xfrm>
            <a:off x="3275950" y="2637075"/>
            <a:ext cx="2592100" cy="2266950"/>
          </a:xfrm>
          <a:prstGeom prst="rect">
            <a:avLst/>
          </a:prstGeom>
          <a:noFill/>
          <a:ln cap="flat" cmpd="sng" w="38100">
            <a:solidFill>
              <a:schemeClr val="accent5"/>
            </a:solidFill>
            <a:prstDash val="solid"/>
            <a:round/>
            <a:headEnd len="sm" w="sm" type="none"/>
            <a:tailEnd len="sm" w="sm" type="none"/>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6"/>
          <p:cNvSpPr txBox="1"/>
          <p:nvPr>
            <p:ph type="title"/>
          </p:nvPr>
        </p:nvSpPr>
        <p:spPr>
          <a:xfrm>
            <a:off x="311700" y="1791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Impact Assessment Provides a Better Understanding of a Project</a:t>
            </a:r>
            <a:endParaRPr/>
          </a:p>
        </p:txBody>
      </p:sp>
      <p:grpSp>
        <p:nvGrpSpPr>
          <p:cNvPr id="84" name="Google Shape;84;p16"/>
          <p:cNvGrpSpPr/>
          <p:nvPr/>
        </p:nvGrpSpPr>
        <p:grpSpPr>
          <a:xfrm>
            <a:off x="424825" y="1251164"/>
            <a:ext cx="8294360" cy="799416"/>
            <a:chOff x="424813" y="2075689"/>
            <a:chExt cx="8294360" cy="849900"/>
          </a:xfrm>
        </p:grpSpPr>
        <p:sp>
          <p:nvSpPr>
            <p:cNvPr id="85" name="Google Shape;85;p16"/>
            <p:cNvSpPr/>
            <p:nvPr/>
          </p:nvSpPr>
          <p:spPr>
            <a:xfrm>
              <a:off x="2927672" y="2075689"/>
              <a:ext cx="5791500" cy="8499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6"/>
            <p:cNvSpPr/>
            <p:nvPr/>
          </p:nvSpPr>
          <p:spPr>
            <a:xfrm>
              <a:off x="424813" y="2075689"/>
              <a:ext cx="3055800" cy="849900"/>
            </a:xfrm>
            <a:prstGeom prst="homePlate">
              <a:avLst>
                <a:gd fmla="val 26719"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 name="Google Shape;87;p16"/>
          <p:cNvSpPr txBox="1"/>
          <p:nvPr>
            <p:ph idx="4294967295" type="body"/>
          </p:nvPr>
        </p:nvSpPr>
        <p:spPr>
          <a:xfrm>
            <a:off x="539675" y="1251275"/>
            <a:ext cx="2422500" cy="799200"/>
          </a:xfrm>
          <a:prstGeom prst="rect">
            <a:avLst/>
          </a:prstGeom>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
                <a:solidFill>
                  <a:schemeClr val="lt1"/>
                </a:solidFill>
                <a:latin typeface="Oswald"/>
                <a:ea typeface="Oswald"/>
                <a:cs typeface="Oswald"/>
                <a:sym typeface="Oswald"/>
              </a:rPr>
              <a:t>Measuring Impact</a:t>
            </a:r>
            <a:endParaRPr>
              <a:solidFill>
                <a:schemeClr val="lt1"/>
              </a:solidFill>
              <a:latin typeface="Oswald"/>
              <a:ea typeface="Oswald"/>
              <a:cs typeface="Oswald"/>
              <a:sym typeface="Oswald"/>
            </a:endParaRPr>
          </a:p>
        </p:txBody>
      </p:sp>
      <p:sp>
        <p:nvSpPr>
          <p:cNvPr id="88" name="Google Shape;88;p16"/>
          <p:cNvSpPr txBox="1"/>
          <p:nvPr>
            <p:ph idx="4294967295" type="body"/>
          </p:nvPr>
        </p:nvSpPr>
        <p:spPr>
          <a:xfrm>
            <a:off x="3480453" y="1251290"/>
            <a:ext cx="5111700" cy="799200"/>
          </a:xfrm>
          <a:prstGeom prst="rect">
            <a:avLst/>
          </a:prstGeom>
        </p:spPr>
        <p:txBody>
          <a:bodyPr anchorCtr="0" anchor="ctr" bIns="91425" lIns="91425" spcFirstLastPara="1" rIns="91425" wrap="square" tIns="91425">
            <a:noAutofit/>
          </a:bodyPr>
          <a:lstStyle/>
          <a:p>
            <a:pPr indent="-342900" lvl="0" marL="457200" rtl="0" algn="l">
              <a:spcBef>
                <a:spcPts val="0"/>
              </a:spcBef>
              <a:spcAft>
                <a:spcPts val="0"/>
              </a:spcAft>
              <a:buClr>
                <a:schemeClr val="lt1"/>
              </a:buClr>
              <a:buSzPts val="1800"/>
              <a:buFont typeface="Oswald"/>
              <a:buChar char="●"/>
            </a:pPr>
            <a:r>
              <a:rPr lang="en">
                <a:solidFill>
                  <a:schemeClr val="lt1"/>
                </a:solidFill>
                <a:latin typeface="Oswald"/>
                <a:ea typeface="Oswald"/>
                <a:cs typeface="Oswald"/>
                <a:sym typeface="Oswald"/>
              </a:rPr>
              <a:t>Importance and Theory of Change (ToC)</a:t>
            </a:r>
            <a:endParaRPr>
              <a:solidFill>
                <a:schemeClr val="lt1"/>
              </a:solidFill>
              <a:latin typeface="Oswald"/>
              <a:ea typeface="Oswald"/>
              <a:cs typeface="Oswald"/>
              <a:sym typeface="Oswald"/>
            </a:endParaRPr>
          </a:p>
          <a:p>
            <a:pPr indent="-342900" lvl="0" marL="457200" rtl="0" algn="l">
              <a:spcBef>
                <a:spcPts val="0"/>
              </a:spcBef>
              <a:spcAft>
                <a:spcPts val="0"/>
              </a:spcAft>
              <a:buClr>
                <a:schemeClr val="lt1"/>
              </a:buClr>
              <a:buSzPts val="1800"/>
              <a:buFont typeface="Oswald"/>
              <a:buChar char="●"/>
            </a:pPr>
            <a:r>
              <a:rPr lang="en">
                <a:solidFill>
                  <a:schemeClr val="lt1"/>
                </a:solidFill>
                <a:latin typeface="Oswald"/>
                <a:ea typeface="Oswald"/>
                <a:cs typeface="Oswald"/>
                <a:sym typeface="Oswald"/>
              </a:rPr>
              <a:t>Ripple Effects Mapping (REM)</a:t>
            </a:r>
            <a:endParaRPr>
              <a:solidFill>
                <a:schemeClr val="lt1"/>
              </a:solidFill>
              <a:latin typeface="Oswald"/>
              <a:ea typeface="Oswald"/>
              <a:cs typeface="Oswald"/>
              <a:sym typeface="Oswald"/>
            </a:endParaRPr>
          </a:p>
        </p:txBody>
      </p:sp>
      <p:pic>
        <p:nvPicPr>
          <p:cNvPr id="89" name="Google Shape;89;p16"/>
          <p:cNvPicPr preferRelativeResize="0"/>
          <p:nvPr/>
        </p:nvPicPr>
        <p:blipFill>
          <a:blip r:embed="rId3">
            <a:alphaModFix/>
          </a:blip>
          <a:stretch>
            <a:fillRect/>
          </a:stretch>
        </p:blipFill>
        <p:spPr>
          <a:xfrm>
            <a:off x="2059625" y="2571755"/>
            <a:ext cx="5024750" cy="1565300"/>
          </a:xfrm>
          <a:prstGeom prst="rect">
            <a:avLst/>
          </a:prstGeom>
          <a:noFill/>
          <a:ln cap="flat" cmpd="sng" w="38100">
            <a:solidFill>
              <a:srgbClr val="0F1115"/>
            </a:solidFill>
            <a:prstDash val="solid"/>
            <a:round/>
            <a:headEnd len="sm" w="sm" type="none"/>
            <a:tailEnd len="sm" w="sm" type="none"/>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7"/>
          <p:cNvSpPr txBox="1"/>
          <p:nvPr>
            <p:ph type="title"/>
          </p:nvPr>
        </p:nvSpPr>
        <p:spPr>
          <a:xfrm>
            <a:off x="241125" y="145050"/>
            <a:ext cx="8520600" cy="1020900"/>
          </a:xfrm>
          <a:prstGeom prst="rect">
            <a:avLst/>
          </a:prstGeom>
        </p:spPr>
        <p:txBody>
          <a:bodyPr anchorCtr="0" anchor="t" bIns="91425" lIns="91425" spcFirstLastPara="1" rIns="91425" wrap="square" tIns="91425">
            <a:noAutofit/>
          </a:bodyPr>
          <a:lstStyle/>
          <a:p>
            <a:pPr indent="0" lvl="0" marL="0" rtl="0" algn="l">
              <a:lnSpc>
                <a:spcPct val="100000"/>
              </a:lnSpc>
              <a:spcBef>
                <a:spcPts val="1200"/>
              </a:spcBef>
              <a:spcAft>
                <a:spcPts val="1200"/>
              </a:spcAft>
              <a:buNone/>
            </a:pPr>
            <a:r>
              <a:rPr lang="en"/>
              <a:t>Promoting and Communicating the Outcomes Will Demonstrate Impact </a:t>
            </a:r>
            <a:endParaRPr/>
          </a:p>
        </p:txBody>
      </p:sp>
      <p:grpSp>
        <p:nvGrpSpPr>
          <p:cNvPr id="95" name="Google Shape;95;p17"/>
          <p:cNvGrpSpPr/>
          <p:nvPr/>
        </p:nvGrpSpPr>
        <p:grpSpPr>
          <a:xfrm>
            <a:off x="749914" y="1570602"/>
            <a:ext cx="7860565" cy="952690"/>
            <a:chOff x="424813" y="2974405"/>
            <a:chExt cx="8294360" cy="849933"/>
          </a:xfrm>
        </p:grpSpPr>
        <p:sp>
          <p:nvSpPr>
            <p:cNvPr id="96" name="Google Shape;96;p17"/>
            <p:cNvSpPr/>
            <p:nvPr/>
          </p:nvSpPr>
          <p:spPr>
            <a:xfrm>
              <a:off x="2927672" y="2974438"/>
              <a:ext cx="5791500" cy="849900"/>
            </a:xfrm>
            <a:prstGeom prst="rect">
              <a:avLst/>
            </a:prstGeom>
            <a:solidFill>
              <a:schemeClr val="dk1"/>
            </a:solidFill>
            <a:ln>
              <a:noFill/>
            </a:ln>
          </p:spPr>
          <p:txBody>
            <a:bodyPr anchorCtr="0" anchor="ctr" bIns="81725" lIns="81725" spcFirstLastPara="1" rIns="81725" wrap="square" tIns="81725">
              <a:noAutofit/>
            </a:bodyPr>
            <a:lstStyle/>
            <a:p>
              <a:pPr indent="0" lvl="0" marL="0" rtl="0" algn="l">
                <a:spcBef>
                  <a:spcPts val="0"/>
                </a:spcBef>
                <a:spcAft>
                  <a:spcPts val="0"/>
                </a:spcAft>
                <a:buNone/>
              </a:pPr>
              <a:r>
                <a:t/>
              </a:r>
              <a:endParaRPr/>
            </a:p>
          </p:txBody>
        </p:sp>
        <p:sp>
          <p:nvSpPr>
            <p:cNvPr id="97" name="Google Shape;97;p17"/>
            <p:cNvSpPr/>
            <p:nvPr/>
          </p:nvSpPr>
          <p:spPr>
            <a:xfrm>
              <a:off x="424813" y="2974405"/>
              <a:ext cx="3055800" cy="849900"/>
            </a:xfrm>
            <a:prstGeom prst="homePlate">
              <a:avLst>
                <a:gd fmla="val 26719" name="adj"/>
              </a:avLst>
            </a:prstGeom>
            <a:solidFill>
              <a:schemeClr val="accent5"/>
            </a:solidFill>
            <a:ln>
              <a:noFill/>
            </a:ln>
          </p:spPr>
          <p:txBody>
            <a:bodyPr anchorCtr="0" anchor="ctr" bIns="81725" lIns="81725" spcFirstLastPara="1" rIns="81725" wrap="square" tIns="81725">
              <a:noAutofit/>
            </a:bodyPr>
            <a:lstStyle/>
            <a:p>
              <a:pPr indent="0" lvl="0" marL="0" rtl="0" algn="l">
                <a:spcBef>
                  <a:spcPts val="0"/>
                </a:spcBef>
                <a:spcAft>
                  <a:spcPts val="0"/>
                </a:spcAft>
                <a:buNone/>
              </a:pPr>
              <a:r>
                <a:t/>
              </a:r>
              <a:endParaRPr/>
            </a:p>
          </p:txBody>
        </p:sp>
      </p:grpSp>
      <p:sp>
        <p:nvSpPr>
          <p:cNvPr id="98" name="Google Shape;98;p17"/>
          <p:cNvSpPr txBox="1"/>
          <p:nvPr>
            <p:ph idx="4294967295" type="body"/>
          </p:nvPr>
        </p:nvSpPr>
        <p:spPr>
          <a:xfrm>
            <a:off x="852583" y="1650159"/>
            <a:ext cx="2166000" cy="714600"/>
          </a:xfrm>
          <a:prstGeom prst="rect">
            <a:avLst/>
          </a:prstGeom>
        </p:spPr>
        <p:txBody>
          <a:bodyPr anchorCtr="0" anchor="ctr" bIns="81725" lIns="81725" spcFirstLastPara="1" rIns="81725" wrap="square" tIns="81725">
            <a:noAutofit/>
          </a:bodyPr>
          <a:lstStyle/>
          <a:p>
            <a:pPr indent="0" lvl="0" marL="0" rtl="0" algn="l">
              <a:lnSpc>
                <a:spcPct val="100000"/>
              </a:lnSpc>
              <a:spcBef>
                <a:spcPts val="0"/>
              </a:spcBef>
              <a:spcAft>
                <a:spcPts val="0"/>
              </a:spcAft>
              <a:buNone/>
            </a:pPr>
            <a:r>
              <a:rPr lang="en" sz="1809">
                <a:solidFill>
                  <a:schemeClr val="lt1"/>
                </a:solidFill>
                <a:latin typeface="Oswald"/>
                <a:ea typeface="Oswald"/>
                <a:cs typeface="Oswald"/>
                <a:sym typeface="Oswald"/>
              </a:rPr>
              <a:t>Promoting Outcomes </a:t>
            </a:r>
            <a:endParaRPr sz="1809">
              <a:solidFill>
                <a:schemeClr val="lt1"/>
              </a:solidFill>
              <a:latin typeface="Oswald"/>
              <a:ea typeface="Oswald"/>
              <a:cs typeface="Oswald"/>
              <a:sym typeface="Oswald"/>
            </a:endParaRPr>
          </a:p>
        </p:txBody>
      </p:sp>
      <p:sp>
        <p:nvSpPr>
          <p:cNvPr id="99" name="Google Shape;99;p17"/>
          <p:cNvSpPr txBox="1"/>
          <p:nvPr>
            <p:ph idx="4294967295" type="body"/>
          </p:nvPr>
        </p:nvSpPr>
        <p:spPr>
          <a:xfrm>
            <a:off x="3481600" y="1605700"/>
            <a:ext cx="5129100" cy="917400"/>
          </a:xfrm>
          <a:prstGeom prst="rect">
            <a:avLst/>
          </a:prstGeom>
        </p:spPr>
        <p:txBody>
          <a:bodyPr anchorCtr="0" anchor="ctr" bIns="81725" lIns="81725" spcFirstLastPara="1" rIns="81725" wrap="square" tIns="81725">
            <a:noAutofit/>
          </a:bodyPr>
          <a:lstStyle/>
          <a:p>
            <a:pPr indent="-330200" lvl="0" marL="457200" rtl="0" algn="l">
              <a:spcBef>
                <a:spcPts val="0"/>
              </a:spcBef>
              <a:spcAft>
                <a:spcPts val="0"/>
              </a:spcAft>
              <a:buClr>
                <a:srgbClr val="3D3D3D"/>
              </a:buClr>
              <a:buSzPts val="1600"/>
              <a:buFont typeface="Oswald"/>
              <a:buChar char="●"/>
            </a:pPr>
            <a:r>
              <a:rPr lang="en" sz="1600">
                <a:solidFill>
                  <a:srgbClr val="3D3D3D"/>
                </a:solidFill>
                <a:latin typeface="Oswald"/>
                <a:ea typeface="Oswald"/>
                <a:cs typeface="Oswald"/>
                <a:sym typeface="Oswald"/>
              </a:rPr>
              <a:t>Promote to amplify the lived stories </a:t>
            </a:r>
            <a:endParaRPr sz="1600">
              <a:solidFill>
                <a:srgbClr val="3D3D3D"/>
              </a:solidFill>
              <a:latin typeface="Oswald"/>
              <a:ea typeface="Oswald"/>
              <a:cs typeface="Oswald"/>
              <a:sym typeface="Oswald"/>
            </a:endParaRPr>
          </a:p>
          <a:p>
            <a:pPr indent="-330200" lvl="0" marL="457200" rtl="0" algn="l">
              <a:spcBef>
                <a:spcPts val="0"/>
              </a:spcBef>
              <a:spcAft>
                <a:spcPts val="0"/>
              </a:spcAft>
              <a:buClr>
                <a:srgbClr val="3D3D3D"/>
              </a:buClr>
              <a:buSzPts val="1600"/>
              <a:buFont typeface="Oswald"/>
              <a:buChar char="●"/>
            </a:pPr>
            <a:r>
              <a:rPr lang="en" sz="1600">
                <a:solidFill>
                  <a:srgbClr val="3D3D3D"/>
                </a:solidFill>
                <a:latin typeface="Oswald"/>
                <a:ea typeface="Oswald"/>
                <a:cs typeface="Oswald"/>
                <a:sym typeface="Oswald"/>
              </a:rPr>
              <a:t>Build a resonant and public </a:t>
            </a:r>
            <a:r>
              <a:rPr lang="en" sz="1600">
                <a:solidFill>
                  <a:srgbClr val="3D3D3D"/>
                </a:solidFill>
                <a:latin typeface="Oswald"/>
                <a:ea typeface="Oswald"/>
                <a:cs typeface="Oswald"/>
                <a:sym typeface="Oswald"/>
              </a:rPr>
              <a:t>brand</a:t>
            </a:r>
            <a:endParaRPr sz="1600">
              <a:solidFill>
                <a:srgbClr val="3D3D3D"/>
              </a:solidFill>
              <a:latin typeface="Oswald"/>
              <a:ea typeface="Oswald"/>
              <a:cs typeface="Oswald"/>
              <a:sym typeface="Oswald"/>
            </a:endParaRPr>
          </a:p>
        </p:txBody>
      </p:sp>
      <p:pic>
        <p:nvPicPr>
          <p:cNvPr id="100" name="Google Shape;100;p17"/>
          <p:cNvPicPr preferRelativeResize="0"/>
          <p:nvPr/>
        </p:nvPicPr>
        <p:blipFill>
          <a:blip r:embed="rId3">
            <a:alphaModFix/>
          </a:blip>
          <a:stretch>
            <a:fillRect/>
          </a:stretch>
        </p:blipFill>
        <p:spPr>
          <a:xfrm>
            <a:off x="3538275" y="2752500"/>
            <a:ext cx="2067450" cy="2067450"/>
          </a:xfrm>
          <a:prstGeom prst="rect">
            <a:avLst/>
          </a:prstGeom>
          <a:noFill/>
          <a:ln cap="flat" cmpd="sng" w="38100">
            <a:solidFill>
              <a:schemeClr val="accent5"/>
            </a:solidFill>
            <a:prstDash val="solid"/>
            <a:round/>
            <a:headEnd len="sm" w="sm" type="none"/>
            <a:tailEnd len="sm" w="sm" type="none"/>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436375" y="526350"/>
            <a:ext cx="3774300" cy="4090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
              <a:t>Overall Goal: </a:t>
            </a:r>
            <a:endParaRPr b="1"/>
          </a:p>
          <a:p>
            <a:pPr indent="0" lvl="0" marL="0" rtl="0" algn="l">
              <a:spcBef>
                <a:spcPts val="1000"/>
              </a:spcBef>
              <a:spcAft>
                <a:spcPts val="0"/>
              </a:spcAft>
              <a:buNone/>
            </a:pPr>
            <a:r>
              <a:rPr lang="en" sz="3000"/>
              <a:t>Assist the WCPC in documenting the stories and impact</a:t>
            </a:r>
            <a:r>
              <a:rPr lang="en" sz="3000"/>
              <a:t> on individuals and communities</a:t>
            </a:r>
            <a:r>
              <a:rPr lang="en" sz="3000"/>
              <a:t>. </a:t>
            </a:r>
            <a:endParaRPr sz="3000"/>
          </a:p>
        </p:txBody>
      </p:sp>
      <p:pic>
        <p:nvPicPr>
          <p:cNvPr id="106" name="Google Shape;106;p18"/>
          <p:cNvPicPr preferRelativeResize="0"/>
          <p:nvPr/>
        </p:nvPicPr>
        <p:blipFill>
          <a:blip r:embed="rId3">
            <a:alphaModFix/>
          </a:blip>
          <a:stretch>
            <a:fillRect/>
          </a:stretch>
        </p:blipFill>
        <p:spPr>
          <a:xfrm>
            <a:off x="4335650" y="1270550"/>
            <a:ext cx="4503548" cy="3003469"/>
          </a:xfrm>
          <a:prstGeom prst="rect">
            <a:avLst/>
          </a:prstGeom>
          <a:noFill/>
          <a:ln cap="flat" cmpd="sng" w="38100">
            <a:solidFill>
              <a:srgbClr val="0F1115"/>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Objectives</a:t>
            </a:r>
            <a:endParaRPr/>
          </a:p>
        </p:txBody>
      </p:sp>
      <p:grpSp>
        <p:nvGrpSpPr>
          <p:cNvPr id="112" name="Google Shape;112;p19"/>
          <p:cNvGrpSpPr/>
          <p:nvPr/>
        </p:nvGrpSpPr>
        <p:grpSpPr>
          <a:xfrm>
            <a:off x="431925" y="1304875"/>
            <a:ext cx="2628925" cy="3416400"/>
            <a:chOff x="431925" y="1304875"/>
            <a:chExt cx="2628925" cy="3416400"/>
          </a:xfrm>
        </p:grpSpPr>
        <p:sp>
          <p:nvSpPr>
            <p:cNvPr id="113" name="Google Shape;113;p19"/>
            <p:cNvSpPr txBox="1"/>
            <p:nvPr/>
          </p:nvSpPr>
          <p:spPr>
            <a:xfrm>
              <a:off x="431925" y="1304875"/>
              <a:ext cx="2628900" cy="46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9"/>
            <p:cNvSpPr/>
            <p:nvPr/>
          </p:nvSpPr>
          <p:spPr>
            <a:xfrm>
              <a:off x="431950" y="1304875"/>
              <a:ext cx="2628900" cy="34164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 name="Google Shape;115;p19"/>
          <p:cNvSpPr txBox="1"/>
          <p:nvPr>
            <p:ph idx="4294967295" type="body"/>
          </p:nvPr>
        </p:nvSpPr>
        <p:spPr>
          <a:xfrm>
            <a:off x="506425" y="1304875"/>
            <a:ext cx="2494500" cy="46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000">
                <a:solidFill>
                  <a:schemeClr val="lt1"/>
                </a:solidFill>
                <a:latin typeface="Oswald"/>
                <a:ea typeface="Oswald"/>
                <a:cs typeface="Oswald"/>
                <a:sym typeface="Oswald"/>
              </a:rPr>
              <a:t>Objective 1</a:t>
            </a:r>
            <a:endParaRPr sz="2000">
              <a:solidFill>
                <a:schemeClr val="lt1"/>
              </a:solidFill>
              <a:latin typeface="Oswald"/>
              <a:ea typeface="Oswald"/>
              <a:cs typeface="Oswald"/>
              <a:sym typeface="Oswald"/>
            </a:endParaRPr>
          </a:p>
        </p:txBody>
      </p:sp>
      <p:sp>
        <p:nvSpPr>
          <p:cNvPr id="116" name="Google Shape;116;p19"/>
          <p:cNvSpPr txBox="1"/>
          <p:nvPr>
            <p:ph idx="4294967295" type="body"/>
          </p:nvPr>
        </p:nvSpPr>
        <p:spPr>
          <a:xfrm>
            <a:off x="508325" y="1850300"/>
            <a:ext cx="2478600" cy="1149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latin typeface="Oswald"/>
                <a:ea typeface="Oswald"/>
                <a:cs typeface="Oswald"/>
                <a:sym typeface="Oswald"/>
              </a:rPr>
              <a:t>Identify the different themes and topics of WCPC.</a:t>
            </a:r>
            <a:endParaRPr>
              <a:latin typeface="Oswald"/>
              <a:ea typeface="Oswald"/>
              <a:cs typeface="Oswald"/>
              <a:sym typeface="Oswald"/>
            </a:endParaRPr>
          </a:p>
          <a:p>
            <a:pPr indent="0" lvl="0" marL="0" rtl="0" algn="l">
              <a:spcBef>
                <a:spcPts val="1600"/>
              </a:spcBef>
              <a:spcAft>
                <a:spcPts val="1600"/>
              </a:spcAft>
              <a:buNone/>
            </a:pPr>
            <a:r>
              <a:t/>
            </a:r>
            <a:endParaRPr sz="1600"/>
          </a:p>
        </p:txBody>
      </p:sp>
      <p:grpSp>
        <p:nvGrpSpPr>
          <p:cNvPr id="117" name="Google Shape;117;p19"/>
          <p:cNvGrpSpPr/>
          <p:nvPr/>
        </p:nvGrpSpPr>
        <p:grpSpPr>
          <a:xfrm>
            <a:off x="3320450" y="1304875"/>
            <a:ext cx="2632500" cy="3416400"/>
            <a:chOff x="3320450" y="1304875"/>
            <a:chExt cx="2632500" cy="3416400"/>
          </a:xfrm>
        </p:grpSpPr>
        <p:sp>
          <p:nvSpPr>
            <p:cNvPr id="118" name="Google Shape;118;p19"/>
            <p:cNvSpPr txBox="1"/>
            <p:nvPr/>
          </p:nvSpPr>
          <p:spPr>
            <a:xfrm>
              <a:off x="3324050" y="1304875"/>
              <a:ext cx="2628900" cy="46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9"/>
            <p:cNvSpPr/>
            <p:nvPr/>
          </p:nvSpPr>
          <p:spPr>
            <a:xfrm>
              <a:off x="3320450" y="1304875"/>
              <a:ext cx="2628900" cy="34164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0" name="Google Shape;120;p19"/>
          <p:cNvSpPr txBox="1"/>
          <p:nvPr>
            <p:ph idx="4294967295" type="body"/>
          </p:nvPr>
        </p:nvSpPr>
        <p:spPr>
          <a:xfrm>
            <a:off x="3389450" y="1304875"/>
            <a:ext cx="2494500" cy="46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000">
                <a:solidFill>
                  <a:schemeClr val="lt1"/>
                </a:solidFill>
                <a:latin typeface="Oswald"/>
                <a:ea typeface="Oswald"/>
                <a:cs typeface="Oswald"/>
                <a:sym typeface="Oswald"/>
              </a:rPr>
              <a:t>Objective 2</a:t>
            </a:r>
            <a:endParaRPr sz="2000">
              <a:solidFill>
                <a:schemeClr val="lt1"/>
              </a:solidFill>
              <a:latin typeface="Oswald"/>
              <a:ea typeface="Oswald"/>
              <a:cs typeface="Oswald"/>
              <a:sym typeface="Oswald"/>
            </a:endParaRPr>
          </a:p>
        </p:txBody>
      </p:sp>
      <p:sp>
        <p:nvSpPr>
          <p:cNvPr id="121" name="Google Shape;121;p19"/>
          <p:cNvSpPr txBox="1"/>
          <p:nvPr>
            <p:ph idx="4294967295" type="body"/>
          </p:nvPr>
        </p:nvSpPr>
        <p:spPr>
          <a:xfrm>
            <a:off x="3396775" y="1850300"/>
            <a:ext cx="2478600" cy="2794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a:latin typeface="Oswald"/>
                <a:ea typeface="Oswald"/>
                <a:cs typeface="Oswald"/>
                <a:sym typeface="Oswald"/>
              </a:rPr>
              <a:t>Understand the impact of the WCPC on a key aspect of the greater Worcester Community</a:t>
            </a:r>
            <a:endParaRPr>
              <a:latin typeface="Oswald"/>
              <a:ea typeface="Oswald"/>
              <a:cs typeface="Oswald"/>
              <a:sym typeface="Oswald"/>
            </a:endParaRPr>
          </a:p>
        </p:txBody>
      </p:sp>
      <p:grpSp>
        <p:nvGrpSpPr>
          <p:cNvPr id="122" name="Google Shape;122;p19"/>
          <p:cNvGrpSpPr/>
          <p:nvPr/>
        </p:nvGrpSpPr>
        <p:grpSpPr>
          <a:xfrm>
            <a:off x="6212550" y="1304875"/>
            <a:ext cx="2632500" cy="3416400"/>
            <a:chOff x="6212550" y="1304875"/>
            <a:chExt cx="2632500" cy="3416400"/>
          </a:xfrm>
        </p:grpSpPr>
        <p:sp>
          <p:nvSpPr>
            <p:cNvPr id="123" name="Google Shape;123;p19"/>
            <p:cNvSpPr/>
            <p:nvPr/>
          </p:nvSpPr>
          <p:spPr>
            <a:xfrm>
              <a:off x="6215400" y="1304875"/>
              <a:ext cx="2628900" cy="34164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9"/>
            <p:cNvSpPr txBox="1"/>
            <p:nvPr/>
          </p:nvSpPr>
          <p:spPr>
            <a:xfrm>
              <a:off x="6212550" y="1304875"/>
              <a:ext cx="2632500" cy="46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9"/>
          <p:cNvSpPr txBox="1"/>
          <p:nvPr>
            <p:ph idx="4294967295" type="body"/>
          </p:nvPr>
        </p:nvSpPr>
        <p:spPr>
          <a:xfrm>
            <a:off x="6272475" y="1304875"/>
            <a:ext cx="2494500" cy="461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000">
                <a:solidFill>
                  <a:schemeClr val="lt1"/>
                </a:solidFill>
                <a:latin typeface="Oswald"/>
                <a:ea typeface="Oswald"/>
                <a:cs typeface="Oswald"/>
                <a:sym typeface="Oswald"/>
              </a:rPr>
              <a:t>Objective 3</a:t>
            </a:r>
            <a:endParaRPr sz="2000">
              <a:solidFill>
                <a:schemeClr val="lt1"/>
              </a:solidFill>
              <a:latin typeface="Oswald"/>
              <a:ea typeface="Oswald"/>
              <a:cs typeface="Oswald"/>
              <a:sym typeface="Oswald"/>
            </a:endParaRPr>
          </a:p>
          <a:p>
            <a:pPr indent="0" lvl="0" marL="0" rtl="0" algn="l">
              <a:spcBef>
                <a:spcPts val="0"/>
              </a:spcBef>
              <a:spcAft>
                <a:spcPts val="0"/>
              </a:spcAft>
              <a:buNone/>
            </a:pPr>
            <a:r>
              <a:t/>
            </a:r>
            <a:endParaRPr>
              <a:solidFill>
                <a:schemeClr val="lt1"/>
              </a:solidFill>
            </a:endParaRPr>
          </a:p>
        </p:txBody>
      </p:sp>
      <p:sp>
        <p:nvSpPr>
          <p:cNvPr id="126" name="Google Shape;126;p19"/>
          <p:cNvSpPr txBox="1"/>
          <p:nvPr>
            <p:ph idx="4294967295" type="body"/>
          </p:nvPr>
        </p:nvSpPr>
        <p:spPr>
          <a:xfrm>
            <a:off x="6286400" y="1850300"/>
            <a:ext cx="2478600" cy="2794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a:latin typeface="Oswald"/>
                <a:ea typeface="Oswald"/>
                <a:cs typeface="Oswald"/>
                <a:sym typeface="Oswald"/>
              </a:rPr>
              <a:t>Develop and get feedback on promotional materials</a:t>
            </a:r>
            <a:endParaRPr>
              <a:latin typeface="Oswald"/>
              <a:ea typeface="Oswald"/>
              <a:cs typeface="Oswald"/>
              <a:sym typeface="Oswa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0"/>
          <p:cNvSpPr txBox="1"/>
          <p:nvPr>
            <p:ph type="title"/>
          </p:nvPr>
        </p:nvSpPr>
        <p:spPr>
          <a:xfrm>
            <a:off x="84000" y="2921925"/>
            <a:ext cx="4343700" cy="1999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2000"/>
              <a:t>Combining Content Analysis </a:t>
            </a:r>
            <a:r>
              <a:rPr lang="en" sz="2000"/>
              <a:t>with</a:t>
            </a:r>
            <a:r>
              <a:rPr lang="en" sz="2000"/>
              <a:t> Network Mapping Strengthens Our Ability to Understand WCPC’s Impact</a:t>
            </a:r>
            <a:endParaRPr sz="2000"/>
          </a:p>
        </p:txBody>
      </p:sp>
      <p:sp>
        <p:nvSpPr>
          <p:cNvPr id="132" name="Google Shape;132;p20"/>
          <p:cNvSpPr txBox="1"/>
          <p:nvPr>
            <p:ph idx="2" type="body"/>
          </p:nvPr>
        </p:nvSpPr>
        <p:spPr>
          <a:xfrm>
            <a:off x="35175" y="1099050"/>
            <a:ext cx="2796600" cy="492600"/>
          </a:xfrm>
          <a:prstGeom prst="rect">
            <a:avLst/>
          </a:prstGeom>
        </p:spPr>
        <p:txBody>
          <a:bodyPr anchorCtr="0" anchor="ctr" bIns="91425" lIns="91425" spcFirstLastPara="1" rIns="91425" wrap="square" tIns="91425">
            <a:spAutoFit/>
          </a:bodyPr>
          <a:lstStyle/>
          <a:p>
            <a:pPr indent="0" lvl="0" marL="0" rtl="0" algn="ctr">
              <a:spcBef>
                <a:spcPts val="0"/>
              </a:spcBef>
              <a:spcAft>
                <a:spcPts val="1600"/>
              </a:spcAft>
              <a:buNone/>
            </a:pPr>
            <a:r>
              <a:rPr lang="en" sz="2000">
                <a:solidFill>
                  <a:schemeClr val="dk1"/>
                </a:solidFill>
                <a:latin typeface="Oswald"/>
                <a:ea typeface="Oswald"/>
                <a:cs typeface="Oswald"/>
                <a:sym typeface="Oswald"/>
              </a:rPr>
              <a:t>C</a:t>
            </a:r>
            <a:r>
              <a:rPr lang="en" sz="2000">
                <a:solidFill>
                  <a:schemeClr val="dk1"/>
                </a:solidFill>
                <a:latin typeface="Oswald"/>
                <a:ea typeface="Oswald"/>
                <a:cs typeface="Oswald"/>
                <a:sym typeface="Oswald"/>
              </a:rPr>
              <a:t>ontent Analysis </a:t>
            </a:r>
            <a:r>
              <a:rPr lang="en" sz="2000">
                <a:solidFill>
                  <a:schemeClr val="dk1"/>
                </a:solidFill>
                <a:latin typeface="Oswald"/>
                <a:ea typeface="Oswald"/>
                <a:cs typeface="Oswald"/>
                <a:sym typeface="Oswald"/>
              </a:rPr>
              <a:t>Steps</a:t>
            </a:r>
            <a:endParaRPr sz="2000">
              <a:solidFill>
                <a:schemeClr val="dk1"/>
              </a:solidFill>
              <a:latin typeface="Oswald"/>
              <a:ea typeface="Oswald"/>
              <a:cs typeface="Oswald"/>
              <a:sym typeface="Oswald"/>
            </a:endParaRPr>
          </a:p>
        </p:txBody>
      </p:sp>
      <p:pic>
        <p:nvPicPr>
          <p:cNvPr id="133" name="Google Shape;133;p20"/>
          <p:cNvPicPr preferRelativeResize="0"/>
          <p:nvPr/>
        </p:nvPicPr>
        <p:blipFill>
          <a:blip r:embed="rId3">
            <a:alphaModFix/>
          </a:blip>
          <a:stretch>
            <a:fillRect/>
          </a:stretch>
        </p:blipFill>
        <p:spPr>
          <a:xfrm>
            <a:off x="5036900" y="2890575"/>
            <a:ext cx="2061899" cy="2061899"/>
          </a:xfrm>
          <a:prstGeom prst="rect">
            <a:avLst/>
          </a:prstGeom>
          <a:noFill/>
          <a:ln cap="flat" cmpd="sng" w="38100">
            <a:solidFill>
              <a:schemeClr val="lt1"/>
            </a:solidFill>
            <a:prstDash val="solid"/>
            <a:round/>
            <a:headEnd len="sm" w="sm" type="none"/>
            <a:tailEnd len="sm" w="sm" type="none"/>
          </a:ln>
        </p:spPr>
      </p:pic>
      <p:sp>
        <p:nvSpPr>
          <p:cNvPr id="134" name="Google Shape;134;p20"/>
          <p:cNvSpPr/>
          <p:nvPr/>
        </p:nvSpPr>
        <p:spPr>
          <a:xfrm>
            <a:off x="288975" y="1769313"/>
            <a:ext cx="1350300" cy="645900"/>
          </a:xfrm>
          <a:prstGeom prst="rect">
            <a:avLst/>
          </a:prstGeom>
          <a:solidFill>
            <a:srgbClr val="D9D2E9"/>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Oswald"/>
                <a:ea typeface="Oswald"/>
                <a:cs typeface="Oswald"/>
                <a:sym typeface="Oswald"/>
              </a:rPr>
              <a:t>Analyze WCPC Projects</a:t>
            </a:r>
            <a:endParaRPr>
              <a:latin typeface="Oswald"/>
              <a:ea typeface="Oswald"/>
              <a:cs typeface="Oswald"/>
              <a:sym typeface="Oswald"/>
            </a:endParaRPr>
          </a:p>
        </p:txBody>
      </p:sp>
      <p:sp>
        <p:nvSpPr>
          <p:cNvPr id="135" name="Google Shape;135;p20"/>
          <p:cNvSpPr/>
          <p:nvPr/>
        </p:nvSpPr>
        <p:spPr>
          <a:xfrm>
            <a:off x="2212338" y="1769313"/>
            <a:ext cx="1350300" cy="645900"/>
          </a:xfrm>
          <a:prstGeom prst="rect">
            <a:avLst/>
          </a:prstGeom>
          <a:solidFill>
            <a:srgbClr val="D9D2E9"/>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Oswald"/>
                <a:ea typeface="Oswald"/>
                <a:cs typeface="Oswald"/>
                <a:sym typeface="Oswald"/>
              </a:rPr>
              <a:t>Divide into Categories</a:t>
            </a:r>
            <a:endParaRPr>
              <a:latin typeface="Oswald"/>
              <a:ea typeface="Oswald"/>
              <a:cs typeface="Oswald"/>
              <a:sym typeface="Oswald"/>
            </a:endParaRPr>
          </a:p>
        </p:txBody>
      </p:sp>
      <p:sp>
        <p:nvSpPr>
          <p:cNvPr id="136" name="Google Shape;136;p20"/>
          <p:cNvSpPr/>
          <p:nvPr/>
        </p:nvSpPr>
        <p:spPr>
          <a:xfrm>
            <a:off x="4135700" y="1769313"/>
            <a:ext cx="1350300" cy="645900"/>
          </a:xfrm>
          <a:prstGeom prst="rect">
            <a:avLst/>
          </a:prstGeom>
          <a:solidFill>
            <a:srgbClr val="D9D2E9"/>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Oswald"/>
                <a:ea typeface="Oswald"/>
                <a:cs typeface="Oswald"/>
                <a:sym typeface="Oswald"/>
              </a:rPr>
              <a:t>Identify Patterns</a:t>
            </a:r>
            <a:endParaRPr>
              <a:latin typeface="Oswald"/>
              <a:ea typeface="Oswald"/>
              <a:cs typeface="Oswald"/>
              <a:sym typeface="Oswald"/>
            </a:endParaRPr>
          </a:p>
        </p:txBody>
      </p:sp>
      <p:sp>
        <p:nvSpPr>
          <p:cNvPr id="137" name="Google Shape;137;p20"/>
          <p:cNvSpPr/>
          <p:nvPr/>
        </p:nvSpPr>
        <p:spPr>
          <a:xfrm>
            <a:off x="6107309" y="1769325"/>
            <a:ext cx="991500" cy="645900"/>
          </a:xfrm>
          <a:prstGeom prst="rect">
            <a:avLst/>
          </a:prstGeom>
          <a:solidFill>
            <a:srgbClr val="D9D2E9"/>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Oswald"/>
                <a:ea typeface="Oswald"/>
                <a:cs typeface="Oswald"/>
                <a:sym typeface="Oswald"/>
              </a:rPr>
              <a:t>Code the Data</a:t>
            </a:r>
            <a:endParaRPr>
              <a:latin typeface="Oswald"/>
              <a:ea typeface="Oswald"/>
              <a:cs typeface="Oswald"/>
              <a:sym typeface="Oswald"/>
            </a:endParaRPr>
          </a:p>
        </p:txBody>
      </p:sp>
      <p:sp>
        <p:nvSpPr>
          <p:cNvPr id="138" name="Google Shape;138;p20"/>
          <p:cNvSpPr/>
          <p:nvPr/>
        </p:nvSpPr>
        <p:spPr>
          <a:xfrm>
            <a:off x="7720122" y="1769325"/>
            <a:ext cx="991500" cy="645900"/>
          </a:xfrm>
          <a:prstGeom prst="rect">
            <a:avLst/>
          </a:prstGeom>
          <a:solidFill>
            <a:srgbClr val="D9D2E9"/>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Oswald"/>
                <a:ea typeface="Oswald"/>
                <a:cs typeface="Oswald"/>
                <a:sym typeface="Oswald"/>
              </a:rPr>
              <a:t>Network Mapping</a:t>
            </a:r>
            <a:endParaRPr>
              <a:latin typeface="Oswald"/>
              <a:ea typeface="Oswald"/>
              <a:cs typeface="Oswald"/>
              <a:sym typeface="Oswald"/>
            </a:endParaRPr>
          </a:p>
        </p:txBody>
      </p:sp>
      <p:cxnSp>
        <p:nvCxnSpPr>
          <p:cNvPr id="139" name="Google Shape;139;p20"/>
          <p:cNvCxnSpPr>
            <a:stCxn id="134" idx="3"/>
            <a:endCxn id="135" idx="1"/>
          </p:cNvCxnSpPr>
          <p:nvPr/>
        </p:nvCxnSpPr>
        <p:spPr>
          <a:xfrm>
            <a:off x="1639275" y="2092263"/>
            <a:ext cx="573000" cy="0"/>
          </a:xfrm>
          <a:prstGeom prst="straightConnector1">
            <a:avLst/>
          </a:prstGeom>
          <a:noFill/>
          <a:ln cap="flat" cmpd="sng" w="28575">
            <a:solidFill>
              <a:schemeClr val="accent5"/>
            </a:solidFill>
            <a:prstDash val="solid"/>
            <a:round/>
            <a:headEnd len="med" w="med" type="none"/>
            <a:tailEnd len="med" w="med" type="triangle"/>
          </a:ln>
        </p:spPr>
      </p:cxnSp>
      <p:cxnSp>
        <p:nvCxnSpPr>
          <p:cNvPr id="140" name="Google Shape;140;p20"/>
          <p:cNvCxnSpPr>
            <a:stCxn id="135" idx="3"/>
            <a:endCxn id="136" idx="1"/>
          </p:cNvCxnSpPr>
          <p:nvPr/>
        </p:nvCxnSpPr>
        <p:spPr>
          <a:xfrm>
            <a:off x="3562638" y="2092263"/>
            <a:ext cx="573000" cy="0"/>
          </a:xfrm>
          <a:prstGeom prst="straightConnector1">
            <a:avLst/>
          </a:prstGeom>
          <a:noFill/>
          <a:ln cap="flat" cmpd="sng" w="28575">
            <a:solidFill>
              <a:schemeClr val="accent5"/>
            </a:solidFill>
            <a:prstDash val="solid"/>
            <a:round/>
            <a:headEnd len="med" w="med" type="none"/>
            <a:tailEnd len="med" w="med" type="triangle"/>
          </a:ln>
        </p:spPr>
      </p:cxnSp>
      <p:cxnSp>
        <p:nvCxnSpPr>
          <p:cNvPr id="141" name="Google Shape;141;p20"/>
          <p:cNvCxnSpPr>
            <a:stCxn id="136" idx="3"/>
            <a:endCxn id="137" idx="1"/>
          </p:cNvCxnSpPr>
          <p:nvPr/>
        </p:nvCxnSpPr>
        <p:spPr>
          <a:xfrm>
            <a:off x="5486000" y="2092263"/>
            <a:ext cx="621300" cy="0"/>
          </a:xfrm>
          <a:prstGeom prst="straightConnector1">
            <a:avLst/>
          </a:prstGeom>
          <a:noFill/>
          <a:ln cap="flat" cmpd="sng" w="28575">
            <a:solidFill>
              <a:schemeClr val="accent5"/>
            </a:solidFill>
            <a:prstDash val="solid"/>
            <a:round/>
            <a:headEnd len="med" w="med" type="none"/>
            <a:tailEnd len="med" w="med" type="triangle"/>
          </a:ln>
        </p:spPr>
      </p:cxnSp>
      <p:cxnSp>
        <p:nvCxnSpPr>
          <p:cNvPr id="142" name="Google Shape;142;p20"/>
          <p:cNvCxnSpPr>
            <a:stCxn id="137" idx="3"/>
            <a:endCxn id="138" idx="1"/>
          </p:cNvCxnSpPr>
          <p:nvPr/>
        </p:nvCxnSpPr>
        <p:spPr>
          <a:xfrm>
            <a:off x="7098809" y="2092275"/>
            <a:ext cx="621300" cy="0"/>
          </a:xfrm>
          <a:prstGeom prst="straightConnector1">
            <a:avLst/>
          </a:prstGeom>
          <a:noFill/>
          <a:ln cap="flat" cmpd="sng" w="28575">
            <a:solidFill>
              <a:schemeClr val="accent5"/>
            </a:solidFill>
            <a:prstDash val="solid"/>
            <a:round/>
            <a:headEnd len="med" w="med" type="none"/>
            <a:tailEnd len="med" w="med" type="triangle"/>
          </a:ln>
        </p:spPr>
      </p:cxnSp>
      <p:cxnSp>
        <p:nvCxnSpPr>
          <p:cNvPr id="143" name="Google Shape;143;p20"/>
          <p:cNvCxnSpPr>
            <a:stCxn id="138" idx="2"/>
            <a:endCxn id="133" idx="3"/>
          </p:cNvCxnSpPr>
          <p:nvPr/>
        </p:nvCxnSpPr>
        <p:spPr>
          <a:xfrm rot="5400000">
            <a:off x="6904122" y="2609775"/>
            <a:ext cx="1506300" cy="1117200"/>
          </a:xfrm>
          <a:prstGeom prst="bentConnector2">
            <a:avLst/>
          </a:prstGeom>
          <a:noFill/>
          <a:ln cap="flat" cmpd="sng" w="28575">
            <a:solidFill>
              <a:schemeClr val="accent5"/>
            </a:solidFill>
            <a:prstDash val="solid"/>
            <a:round/>
            <a:headEnd len="med" w="med" type="none"/>
            <a:tailEnd len="med" w="med" type="none"/>
          </a:ln>
        </p:spPr>
      </p:cxnSp>
      <p:sp>
        <p:nvSpPr>
          <p:cNvPr id="144" name="Google Shape;144;p20"/>
          <p:cNvSpPr txBox="1"/>
          <p:nvPr/>
        </p:nvSpPr>
        <p:spPr>
          <a:xfrm>
            <a:off x="5426275" y="402275"/>
            <a:ext cx="30000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000">
                <a:solidFill>
                  <a:schemeClr val="lt1"/>
                </a:solidFill>
                <a:latin typeface="Oswald"/>
                <a:ea typeface="Oswald"/>
                <a:cs typeface="Oswald"/>
                <a:sym typeface="Oswald"/>
              </a:rPr>
              <a:t>Objective 1 Method</a:t>
            </a:r>
            <a:endParaRPr sz="3000">
              <a:solidFill>
                <a:schemeClr val="lt1"/>
              </a:solidFill>
              <a:latin typeface="Oswald"/>
              <a:ea typeface="Oswald"/>
              <a:cs typeface="Oswald"/>
              <a:sym typeface="Oswa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1"/>
          <p:cNvSpPr/>
          <p:nvPr/>
        </p:nvSpPr>
        <p:spPr>
          <a:xfrm>
            <a:off x="6249900" y="3305200"/>
            <a:ext cx="2208300" cy="103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Average"/>
              <a:ea typeface="Average"/>
              <a:cs typeface="Average"/>
              <a:sym typeface="Average"/>
            </a:endParaRPr>
          </a:p>
        </p:txBody>
      </p:sp>
      <p:sp>
        <p:nvSpPr>
          <p:cNvPr id="150" name="Google Shape;150;p21"/>
          <p:cNvSpPr/>
          <p:nvPr/>
        </p:nvSpPr>
        <p:spPr>
          <a:xfrm>
            <a:off x="761350" y="3305200"/>
            <a:ext cx="2208300" cy="103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Average"/>
              <a:ea typeface="Average"/>
              <a:cs typeface="Average"/>
              <a:sym typeface="Average"/>
            </a:endParaRPr>
          </a:p>
        </p:txBody>
      </p:sp>
      <p:sp>
        <p:nvSpPr>
          <p:cNvPr id="151" name="Google Shape;151;p21"/>
          <p:cNvSpPr txBox="1"/>
          <p:nvPr>
            <p:ph type="title"/>
          </p:nvPr>
        </p:nvSpPr>
        <p:spPr>
          <a:xfrm>
            <a:off x="-127200" y="137625"/>
            <a:ext cx="4699200" cy="1675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000"/>
              <a:t>Objective 2: </a:t>
            </a:r>
            <a:r>
              <a:rPr lang="en" sz="3000"/>
              <a:t>Ripple Effects Mapping (REM) and interviews will visualize impact</a:t>
            </a:r>
            <a:endParaRPr sz="3000"/>
          </a:p>
        </p:txBody>
      </p:sp>
      <p:sp>
        <p:nvSpPr>
          <p:cNvPr id="152" name="Google Shape;152;p21"/>
          <p:cNvSpPr txBox="1"/>
          <p:nvPr/>
        </p:nvSpPr>
        <p:spPr>
          <a:xfrm>
            <a:off x="6235938" y="3305200"/>
            <a:ext cx="2236200" cy="2615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latin typeface="Oswald"/>
                <a:ea typeface="Oswald"/>
                <a:cs typeface="Oswald"/>
                <a:sym typeface="Oswald"/>
              </a:rPr>
              <a:t>A large cohesive map helps us examine effects from </a:t>
            </a:r>
            <a:r>
              <a:rPr lang="en">
                <a:latin typeface="Oswald"/>
                <a:ea typeface="Oswald"/>
                <a:cs typeface="Oswald"/>
                <a:sym typeface="Oswald"/>
              </a:rPr>
              <a:t>multiple different viewpoints.</a:t>
            </a:r>
            <a:endParaRPr>
              <a:latin typeface="Oswald"/>
              <a:ea typeface="Oswald"/>
              <a:cs typeface="Oswald"/>
              <a:sym typeface="Oswald"/>
            </a:endParaRPr>
          </a:p>
        </p:txBody>
      </p:sp>
      <p:sp>
        <p:nvSpPr>
          <p:cNvPr id="153" name="Google Shape;153;p21"/>
          <p:cNvSpPr txBox="1"/>
          <p:nvPr/>
        </p:nvSpPr>
        <p:spPr>
          <a:xfrm>
            <a:off x="747400" y="3287050"/>
            <a:ext cx="2236200" cy="1068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latin typeface="Oswald"/>
                <a:ea typeface="Oswald"/>
                <a:cs typeface="Oswald"/>
                <a:sym typeface="Oswald"/>
              </a:rPr>
              <a:t>Initiate semi-</a:t>
            </a:r>
            <a:r>
              <a:rPr lang="en">
                <a:latin typeface="Oswald"/>
                <a:ea typeface="Oswald"/>
                <a:cs typeface="Oswald"/>
                <a:sym typeface="Oswald"/>
              </a:rPr>
              <a:t>structured</a:t>
            </a:r>
            <a:r>
              <a:rPr lang="en">
                <a:latin typeface="Oswald"/>
                <a:ea typeface="Oswald"/>
                <a:cs typeface="Oswald"/>
                <a:sym typeface="Oswald"/>
              </a:rPr>
              <a:t> interviews with community members and leaders.</a:t>
            </a:r>
            <a:endParaRPr>
              <a:latin typeface="Oswald"/>
              <a:ea typeface="Oswald"/>
              <a:cs typeface="Oswald"/>
              <a:sym typeface="Oswald"/>
            </a:endParaRPr>
          </a:p>
        </p:txBody>
      </p:sp>
      <p:sp>
        <p:nvSpPr>
          <p:cNvPr id="154" name="Google Shape;154;p21"/>
          <p:cNvSpPr/>
          <p:nvPr/>
        </p:nvSpPr>
        <p:spPr>
          <a:xfrm>
            <a:off x="3467850" y="3305200"/>
            <a:ext cx="2208300" cy="103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Average"/>
              <a:ea typeface="Average"/>
              <a:cs typeface="Average"/>
              <a:sym typeface="Average"/>
            </a:endParaRPr>
          </a:p>
        </p:txBody>
      </p:sp>
      <p:sp>
        <p:nvSpPr>
          <p:cNvPr id="155" name="Google Shape;155;p21"/>
          <p:cNvSpPr txBox="1"/>
          <p:nvPr/>
        </p:nvSpPr>
        <p:spPr>
          <a:xfrm>
            <a:off x="3484700" y="3305200"/>
            <a:ext cx="2236200" cy="1032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latin typeface="Oswald"/>
                <a:ea typeface="Oswald"/>
                <a:cs typeface="Oswald"/>
                <a:sym typeface="Oswald"/>
              </a:rPr>
              <a:t>Each Interview provides one small REM map.</a:t>
            </a:r>
            <a:endParaRPr>
              <a:latin typeface="Oswald"/>
              <a:ea typeface="Oswald"/>
              <a:cs typeface="Oswald"/>
              <a:sym typeface="Oswald"/>
            </a:endParaRPr>
          </a:p>
        </p:txBody>
      </p:sp>
      <p:sp>
        <p:nvSpPr>
          <p:cNvPr id="156" name="Google Shape;156;p21"/>
          <p:cNvSpPr/>
          <p:nvPr/>
        </p:nvSpPr>
        <p:spPr>
          <a:xfrm>
            <a:off x="618300" y="2455350"/>
            <a:ext cx="3005700" cy="645600"/>
          </a:xfrm>
          <a:prstGeom prst="chevron">
            <a:avLst>
              <a:gd fmla="val 50000" name="adj"/>
            </a:avLst>
          </a:prstGeom>
          <a:solidFill>
            <a:srgbClr val="FFD966"/>
          </a:solidFill>
          <a:ln cap="flat" cmpd="sng" w="9900">
            <a:solidFill>
              <a:schemeClr val="dk2"/>
            </a:solidFill>
            <a:prstDash val="solid"/>
            <a:round/>
            <a:headEnd len="sm" w="sm" type="none"/>
            <a:tailEnd len="sm" w="sm" type="none"/>
          </a:ln>
        </p:spPr>
        <p:txBody>
          <a:bodyPr anchorCtr="0" anchor="ctr" bIns="94850" lIns="94850" spcFirstLastPara="1" rIns="94850" wrap="square" tIns="94850">
            <a:noAutofit/>
          </a:bodyPr>
          <a:lstStyle/>
          <a:p>
            <a:pPr indent="0" lvl="0" marL="0" rtl="0" algn="ctr">
              <a:spcBef>
                <a:spcPts val="0"/>
              </a:spcBef>
              <a:spcAft>
                <a:spcPts val="0"/>
              </a:spcAft>
              <a:buNone/>
            </a:pPr>
            <a:r>
              <a:t/>
            </a:r>
            <a:endParaRPr sz="1452">
              <a:latin typeface="Average"/>
              <a:ea typeface="Average"/>
              <a:cs typeface="Average"/>
              <a:sym typeface="Average"/>
            </a:endParaRPr>
          </a:p>
        </p:txBody>
      </p:sp>
      <p:sp>
        <p:nvSpPr>
          <p:cNvPr id="157" name="Google Shape;157;p21"/>
          <p:cNvSpPr/>
          <p:nvPr/>
        </p:nvSpPr>
        <p:spPr>
          <a:xfrm>
            <a:off x="3280137" y="2455350"/>
            <a:ext cx="3005700" cy="645600"/>
          </a:xfrm>
          <a:prstGeom prst="chevron">
            <a:avLst>
              <a:gd fmla="val 50000" name="adj"/>
            </a:avLst>
          </a:prstGeom>
          <a:solidFill>
            <a:srgbClr val="FFD966"/>
          </a:solidFill>
          <a:ln cap="flat" cmpd="sng" w="9900">
            <a:solidFill>
              <a:schemeClr val="dk2"/>
            </a:solidFill>
            <a:prstDash val="solid"/>
            <a:round/>
            <a:headEnd len="sm" w="sm" type="none"/>
            <a:tailEnd len="sm" w="sm" type="none"/>
          </a:ln>
        </p:spPr>
        <p:txBody>
          <a:bodyPr anchorCtr="0" anchor="ctr" bIns="94850" lIns="94850" spcFirstLastPara="1" rIns="94850" wrap="square" tIns="94850">
            <a:noAutofit/>
          </a:bodyPr>
          <a:lstStyle/>
          <a:p>
            <a:pPr indent="0" lvl="0" marL="0" rtl="0" algn="ctr">
              <a:spcBef>
                <a:spcPts val="0"/>
              </a:spcBef>
              <a:spcAft>
                <a:spcPts val="0"/>
              </a:spcAft>
              <a:buNone/>
            </a:pPr>
            <a:r>
              <a:t/>
            </a:r>
            <a:endParaRPr sz="1452">
              <a:latin typeface="Average"/>
              <a:ea typeface="Average"/>
              <a:cs typeface="Average"/>
              <a:sym typeface="Average"/>
            </a:endParaRPr>
          </a:p>
        </p:txBody>
      </p:sp>
      <p:sp>
        <p:nvSpPr>
          <p:cNvPr id="158" name="Google Shape;158;p21"/>
          <p:cNvSpPr/>
          <p:nvPr/>
        </p:nvSpPr>
        <p:spPr>
          <a:xfrm>
            <a:off x="5821325" y="2455350"/>
            <a:ext cx="2869200" cy="645600"/>
          </a:xfrm>
          <a:prstGeom prst="chevron">
            <a:avLst>
              <a:gd fmla="val 50000" name="adj"/>
            </a:avLst>
          </a:prstGeom>
          <a:solidFill>
            <a:srgbClr val="FFD966"/>
          </a:solidFill>
          <a:ln cap="flat" cmpd="sng" w="9900">
            <a:solidFill>
              <a:schemeClr val="dk2"/>
            </a:solidFill>
            <a:prstDash val="solid"/>
            <a:round/>
            <a:headEnd len="sm" w="sm" type="none"/>
            <a:tailEnd len="sm" w="sm" type="none"/>
          </a:ln>
        </p:spPr>
        <p:txBody>
          <a:bodyPr anchorCtr="0" anchor="ctr" bIns="94850" lIns="94850" spcFirstLastPara="1" rIns="94850" wrap="square" tIns="94850">
            <a:noAutofit/>
          </a:bodyPr>
          <a:lstStyle/>
          <a:p>
            <a:pPr indent="0" lvl="0" marL="0" rtl="0" algn="ctr">
              <a:spcBef>
                <a:spcPts val="0"/>
              </a:spcBef>
              <a:spcAft>
                <a:spcPts val="0"/>
              </a:spcAft>
              <a:buNone/>
            </a:pPr>
            <a:r>
              <a:t/>
            </a:r>
            <a:endParaRPr sz="1452">
              <a:latin typeface="Average"/>
              <a:ea typeface="Average"/>
              <a:cs typeface="Average"/>
              <a:sym typeface="Average"/>
            </a:endParaRPr>
          </a:p>
        </p:txBody>
      </p:sp>
      <p:sp>
        <p:nvSpPr>
          <p:cNvPr id="159" name="Google Shape;159;p21"/>
          <p:cNvSpPr txBox="1"/>
          <p:nvPr/>
        </p:nvSpPr>
        <p:spPr>
          <a:xfrm>
            <a:off x="889650" y="2547300"/>
            <a:ext cx="2665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latin typeface="Oswald"/>
                <a:ea typeface="Oswald"/>
                <a:cs typeface="Oswald"/>
                <a:sym typeface="Oswald"/>
              </a:rPr>
              <a:t>Interview the Community</a:t>
            </a:r>
            <a:endParaRPr sz="1800">
              <a:latin typeface="Oswald"/>
              <a:ea typeface="Oswald"/>
              <a:cs typeface="Oswald"/>
              <a:sym typeface="Oswald"/>
            </a:endParaRPr>
          </a:p>
        </p:txBody>
      </p:sp>
      <p:sp>
        <p:nvSpPr>
          <p:cNvPr id="160" name="Google Shape;160;p21"/>
          <p:cNvSpPr txBox="1"/>
          <p:nvPr/>
        </p:nvSpPr>
        <p:spPr>
          <a:xfrm>
            <a:off x="3620325" y="2547300"/>
            <a:ext cx="2665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latin typeface="Oswald"/>
                <a:ea typeface="Oswald"/>
                <a:cs typeface="Oswald"/>
                <a:sym typeface="Oswald"/>
              </a:rPr>
              <a:t>Combine Small REM Maps</a:t>
            </a:r>
            <a:endParaRPr sz="1800">
              <a:latin typeface="Oswald"/>
              <a:ea typeface="Oswald"/>
              <a:cs typeface="Oswald"/>
              <a:sym typeface="Oswald"/>
            </a:endParaRPr>
          </a:p>
        </p:txBody>
      </p:sp>
      <p:sp>
        <p:nvSpPr>
          <p:cNvPr id="161" name="Google Shape;161;p21"/>
          <p:cNvSpPr txBox="1"/>
          <p:nvPr/>
        </p:nvSpPr>
        <p:spPr>
          <a:xfrm>
            <a:off x="6249900" y="2547300"/>
            <a:ext cx="2500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latin typeface="Oswald"/>
                <a:ea typeface="Oswald"/>
                <a:cs typeface="Oswald"/>
                <a:sym typeface="Oswald"/>
              </a:rPr>
              <a:t>Large Cohesive REM map</a:t>
            </a:r>
            <a:endParaRPr sz="1800">
              <a:latin typeface="Oswald"/>
              <a:ea typeface="Oswald"/>
              <a:cs typeface="Oswald"/>
              <a:sym typeface="Oswa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2"/>
          <p:cNvSpPr txBox="1"/>
          <p:nvPr>
            <p:ph type="title"/>
          </p:nvPr>
        </p:nvSpPr>
        <p:spPr>
          <a:xfrm>
            <a:off x="0" y="66825"/>
            <a:ext cx="4572000" cy="1583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000"/>
              <a:t>Objective 3: Create and Improve Promotional Materials</a:t>
            </a:r>
            <a:endParaRPr sz="3000"/>
          </a:p>
        </p:txBody>
      </p:sp>
      <p:sp>
        <p:nvSpPr>
          <p:cNvPr id="167" name="Google Shape;167;p22"/>
          <p:cNvSpPr/>
          <p:nvPr/>
        </p:nvSpPr>
        <p:spPr>
          <a:xfrm>
            <a:off x="930523" y="2051494"/>
            <a:ext cx="2486100" cy="497400"/>
          </a:xfrm>
          <a:prstGeom prst="rect">
            <a:avLst/>
          </a:prstGeom>
          <a:solidFill>
            <a:schemeClr val="lt2"/>
          </a:solidFill>
          <a:ln cap="flat" cmpd="sng" w="9975">
            <a:solidFill>
              <a:schemeClr val="dk2"/>
            </a:solidFill>
            <a:prstDash val="solid"/>
            <a:round/>
            <a:headEnd len="sm" w="sm" type="none"/>
            <a:tailEnd len="sm" w="sm" type="none"/>
          </a:ln>
        </p:spPr>
        <p:txBody>
          <a:bodyPr anchorCtr="0" anchor="ctr" bIns="95825" lIns="95825" spcFirstLastPara="1" rIns="95825" wrap="square" tIns="95825">
            <a:noAutofit/>
          </a:bodyPr>
          <a:lstStyle/>
          <a:p>
            <a:pPr indent="0" lvl="0" marL="0" rtl="0" algn="ctr">
              <a:spcBef>
                <a:spcPts val="0"/>
              </a:spcBef>
              <a:spcAft>
                <a:spcPts val="0"/>
              </a:spcAft>
              <a:buNone/>
            </a:pPr>
            <a:r>
              <a:rPr lang="en" sz="1800">
                <a:latin typeface="Oswald"/>
                <a:ea typeface="Oswald"/>
                <a:cs typeface="Oswald"/>
                <a:sym typeface="Oswald"/>
              </a:rPr>
              <a:t>Create Draft Materials</a:t>
            </a:r>
            <a:endParaRPr sz="1800">
              <a:latin typeface="Oswald"/>
              <a:ea typeface="Oswald"/>
              <a:cs typeface="Oswald"/>
              <a:sym typeface="Oswald"/>
            </a:endParaRPr>
          </a:p>
        </p:txBody>
      </p:sp>
      <p:sp>
        <p:nvSpPr>
          <p:cNvPr id="168" name="Google Shape;168;p22"/>
          <p:cNvSpPr/>
          <p:nvPr/>
        </p:nvSpPr>
        <p:spPr>
          <a:xfrm>
            <a:off x="930522" y="2979106"/>
            <a:ext cx="2486100" cy="497400"/>
          </a:xfrm>
          <a:prstGeom prst="rect">
            <a:avLst/>
          </a:prstGeom>
          <a:solidFill>
            <a:schemeClr val="lt2"/>
          </a:solidFill>
          <a:ln cap="flat" cmpd="sng" w="9975">
            <a:solidFill>
              <a:schemeClr val="dk2"/>
            </a:solidFill>
            <a:prstDash val="solid"/>
            <a:round/>
            <a:headEnd len="sm" w="sm" type="none"/>
            <a:tailEnd len="sm" w="sm" type="none"/>
          </a:ln>
        </p:spPr>
        <p:txBody>
          <a:bodyPr anchorCtr="0" anchor="ctr" bIns="95825" lIns="95825" spcFirstLastPara="1" rIns="95825" wrap="square" tIns="95825">
            <a:noAutofit/>
          </a:bodyPr>
          <a:lstStyle/>
          <a:p>
            <a:pPr indent="0" lvl="0" marL="0" rtl="0" algn="ctr">
              <a:spcBef>
                <a:spcPts val="0"/>
              </a:spcBef>
              <a:spcAft>
                <a:spcPts val="0"/>
              </a:spcAft>
              <a:buNone/>
            </a:pPr>
            <a:r>
              <a:rPr lang="en" sz="1800">
                <a:latin typeface="Oswald"/>
                <a:ea typeface="Oswald"/>
                <a:cs typeface="Oswald"/>
                <a:sym typeface="Oswald"/>
              </a:rPr>
              <a:t>Community Feedback</a:t>
            </a:r>
            <a:endParaRPr sz="1800">
              <a:latin typeface="Oswald"/>
              <a:ea typeface="Oswald"/>
              <a:cs typeface="Oswald"/>
              <a:sym typeface="Oswald"/>
            </a:endParaRPr>
          </a:p>
        </p:txBody>
      </p:sp>
      <p:sp>
        <p:nvSpPr>
          <p:cNvPr id="169" name="Google Shape;169;p22"/>
          <p:cNvSpPr/>
          <p:nvPr/>
        </p:nvSpPr>
        <p:spPr>
          <a:xfrm>
            <a:off x="930521" y="3906706"/>
            <a:ext cx="2486100" cy="497400"/>
          </a:xfrm>
          <a:prstGeom prst="rect">
            <a:avLst/>
          </a:prstGeom>
          <a:solidFill>
            <a:schemeClr val="lt2"/>
          </a:solidFill>
          <a:ln cap="flat" cmpd="sng" w="9975">
            <a:solidFill>
              <a:schemeClr val="dk2"/>
            </a:solidFill>
            <a:prstDash val="solid"/>
            <a:round/>
            <a:headEnd len="sm" w="sm" type="none"/>
            <a:tailEnd len="sm" w="sm" type="none"/>
          </a:ln>
        </p:spPr>
        <p:txBody>
          <a:bodyPr anchorCtr="0" anchor="ctr" bIns="95825" lIns="95825" spcFirstLastPara="1" rIns="95825" wrap="square" tIns="95825">
            <a:noAutofit/>
          </a:bodyPr>
          <a:lstStyle/>
          <a:p>
            <a:pPr indent="0" lvl="0" marL="0" rtl="0" algn="ctr">
              <a:spcBef>
                <a:spcPts val="0"/>
              </a:spcBef>
              <a:spcAft>
                <a:spcPts val="0"/>
              </a:spcAft>
              <a:buNone/>
            </a:pPr>
            <a:r>
              <a:rPr lang="en" sz="1800">
                <a:latin typeface="Oswald"/>
                <a:ea typeface="Oswald"/>
                <a:cs typeface="Oswald"/>
                <a:sym typeface="Oswald"/>
              </a:rPr>
              <a:t>Refined final materials</a:t>
            </a:r>
            <a:endParaRPr sz="1800">
              <a:latin typeface="Oswald"/>
              <a:ea typeface="Oswald"/>
              <a:cs typeface="Oswald"/>
              <a:sym typeface="Oswald"/>
            </a:endParaRPr>
          </a:p>
        </p:txBody>
      </p:sp>
      <p:cxnSp>
        <p:nvCxnSpPr>
          <p:cNvPr id="170" name="Google Shape;170;p22"/>
          <p:cNvCxnSpPr>
            <a:stCxn id="167" idx="2"/>
            <a:endCxn id="168" idx="0"/>
          </p:cNvCxnSpPr>
          <p:nvPr/>
        </p:nvCxnSpPr>
        <p:spPr>
          <a:xfrm>
            <a:off x="2173573" y="2548894"/>
            <a:ext cx="0" cy="430200"/>
          </a:xfrm>
          <a:prstGeom prst="straightConnector1">
            <a:avLst/>
          </a:prstGeom>
          <a:noFill/>
          <a:ln cap="flat" cmpd="sng" w="19050">
            <a:solidFill>
              <a:schemeClr val="dk2"/>
            </a:solidFill>
            <a:prstDash val="solid"/>
            <a:round/>
            <a:headEnd len="med" w="med" type="none"/>
            <a:tailEnd len="med" w="med" type="triangle"/>
          </a:ln>
        </p:spPr>
      </p:cxnSp>
      <p:sp>
        <p:nvSpPr>
          <p:cNvPr id="171" name="Google Shape;171;p22"/>
          <p:cNvSpPr txBox="1"/>
          <p:nvPr/>
        </p:nvSpPr>
        <p:spPr>
          <a:xfrm>
            <a:off x="1403475" y="1580825"/>
            <a:ext cx="1540200" cy="32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accent3"/>
                </a:solidFill>
                <a:latin typeface="Oswald"/>
                <a:ea typeface="Oswald"/>
                <a:cs typeface="Oswald"/>
                <a:sym typeface="Oswald"/>
              </a:rPr>
              <a:t>Overall process</a:t>
            </a:r>
            <a:endParaRPr sz="1800">
              <a:solidFill>
                <a:schemeClr val="accent3"/>
              </a:solidFill>
              <a:latin typeface="Oswald"/>
              <a:ea typeface="Oswald"/>
              <a:cs typeface="Oswald"/>
              <a:sym typeface="Oswald"/>
            </a:endParaRPr>
          </a:p>
        </p:txBody>
      </p:sp>
      <p:cxnSp>
        <p:nvCxnSpPr>
          <p:cNvPr id="172" name="Google Shape;172;p22"/>
          <p:cNvCxnSpPr>
            <a:stCxn id="168" idx="2"/>
            <a:endCxn id="169" idx="0"/>
          </p:cNvCxnSpPr>
          <p:nvPr/>
        </p:nvCxnSpPr>
        <p:spPr>
          <a:xfrm>
            <a:off x="2173572" y="3476506"/>
            <a:ext cx="0" cy="430200"/>
          </a:xfrm>
          <a:prstGeom prst="straightConnector1">
            <a:avLst/>
          </a:prstGeom>
          <a:noFill/>
          <a:ln cap="flat" cmpd="sng" w="19050">
            <a:solidFill>
              <a:schemeClr val="dk2"/>
            </a:solidFill>
            <a:prstDash val="solid"/>
            <a:round/>
            <a:headEnd len="med" w="med" type="none"/>
            <a:tailEnd len="med" w="med" type="triangle"/>
          </a:ln>
        </p:spPr>
      </p:cxnSp>
      <p:sp>
        <p:nvSpPr>
          <p:cNvPr id="173" name="Google Shape;173;p22"/>
          <p:cNvSpPr/>
          <p:nvPr/>
        </p:nvSpPr>
        <p:spPr>
          <a:xfrm rot="10800000">
            <a:off x="5532600" y="526925"/>
            <a:ext cx="2796600" cy="1053900"/>
          </a:xfrm>
          <a:prstGeom prst="trapezoid">
            <a:avLst>
              <a:gd fmla="val 25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0F1115"/>
              </a:solidFill>
              <a:latin typeface="Oswald"/>
              <a:ea typeface="Oswald"/>
              <a:cs typeface="Oswald"/>
              <a:sym typeface="Oswald"/>
            </a:endParaRPr>
          </a:p>
        </p:txBody>
      </p:sp>
      <p:sp>
        <p:nvSpPr>
          <p:cNvPr id="174" name="Google Shape;174;p22"/>
          <p:cNvSpPr/>
          <p:nvPr/>
        </p:nvSpPr>
        <p:spPr>
          <a:xfrm rot="10800000">
            <a:off x="5796000" y="1580825"/>
            <a:ext cx="2269800" cy="729900"/>
          </a:xfrm>
          <a:prstGeom prst="trapezoid">
            <a:avLst>
              <a:gd fmla="val 25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0F1115"/>
              </a:solidFill>
              <a:latin typeface="Oswald"/>
              <a:ea typeface="Oswald"/>
              <a:cs typeface="Oswald"/>
              <a:sym typeface="Oswald"/>
            </a:endParaRPr>
          </a:p>
        </p:txBody>
      </p:sp>
      <p:sp>
        <p:nvSpPr>
          <p:cNvPr id="175" name="Google Shape;175;p22"/>
          <p:cNvSpPr/>
          <p:nvPr/>
        </p:nvSpPr>
        <p:spPr>
          <a:xfrm rot="10800000">
            <a:off x="5957808" y="2216401"/>
            <a:ext cx="1946100" cy="710100"/>
          </a:xfrm>
          <a:prstGeom prst="trapezoid">
            <a:avLst>
              <a:gd fmla="val 25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0F1115"/>
              </a:solidFill>
              <a:latin typeface="Oswald"/>
              <a:ea typeface="Oswald"/>
              <a:cs typeface="Oswald"/>
              <a:sym typeface="Oswald"/>
            </a:endParaRPr>
          </a:p>
        </p:txBody>
      </p:sp>
      <p:sp>
        <p:nvSpPr>
          <p:cNvPr id="176" name="Google Shape;176;p22"/>
          <p:cNvSpPr txBox="1"/>
          <p:nvPr/>
        </p:nvSpPr>
        <p:spPr>
          <a:xfrm>
            <a:off x="5796000" y="621900"/>
            <a:ext cx="3526500" cy="8373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rgbClr val="0F1115"/>
              </a:buClr>
              <a:buSzPts val="1400"/>
              <a:buFont typeface="Oswald"/>
              <a:buChar char="-"/>
            </a:pPr>
            <a:r>
              <a:rPr lang="en">
                <a:solidFill>
                  <a:srgbClr val="0F1115"/>
                </a:solidFill>
                <a:latin typeface="Oswald"/>
                <a:ea typeface="Oswald"/>
                <a:cs typeface="Oswald"/>
                <a:sym typeface="Oswald"/>
              </a:rPr>
              <a:t>Research findings</a:t>
            </a:r>
            <a:endParaRPr>
              <a:solidFill>
                <a:srgbClr val="0F1115"/>
              </a:solidFill>
              <a:latin typeface="Oswald"/>
              <a:ea typeface="Oswald"/>
              <a:cs typeface="Oswald"/>
              <a:sym typeface="Oswald"/>
            </a:endParaRPr>
          </a:p>
          <a:p>
            <a:pPr indent="-317500" lvl="0" marL="457200" rtl="0" algn="l">
              <a:spcBef>
                <a:spcPts val="0"/>
              </a:spcBef>
              <a:spcAft>
                <a:spcPts val="0"/>
              </a:spcAft>
              <a:buClr>
                <a:srgbClr val="0F1115"/>
              </a:buClr>
              <a:buSzPts val="1400"/>
              <a:buFont typeface="Oswald"/>
              <a:buChar char="-"/>
            </a:pPr>
            <a:r>
              <a:rPr lang="en">
                <a:solidFill>
                  <a:srgbClr val="0F1115"/>
                </a:solidFill>
                <a:latin typeface="Oswald"/>
                <a:ea typeface="Oswald"/>
                <a:cs typeface="Oswald"/>
                <a:sym typeface="Oswald"/>
              </a:rPr>
              <a:t>Interviews </a:t>
            </a:r>
            <a:endParaRPr>
              <a:solidFill>
                <a:srgbClr val="0F1115"/>
              </a:solidFill>
              <a:latin typeface="Oswald"/>
              <a:ea typeface="Oswald"/>
              <a:cs typeface="Oswald"/>
              <a:sym typeface="Oswald"/>
            </a:endParaRPr>
          </a:p>
          <a:p>
            <a:pPr indent="-317500" lvl="0" marL="457200" rtl="0" algn="l">
              <a:spcBef>
                <a:spcPts val="0"/>
              </a:spcBef>
              <a:spcAft>
                <a:spcPts val="0"/>
              </a:spcAft>
              <a:buClr>
                <a:srgbClr val="0F1115"/>
              </a:buClr>
              <a:buSzPts val="1400"/>
              <a:buFont typeface="Oswald"/>
              <a:buChar char="-"/>
            </a:pPr>
            <a:r>
              <a:rPr lang="en">
                <a:solidFill>
                  <a:srgbClr val="0F1115"/>
                </a:solidFill>
                <a:latin typeface="Oswald"/>
                <a:ea typeface="Oswald"/>
                <a:cs typeface="Oswald"/>
                <a:sym typeface="Oswald"/>
              </a:rPr>
              <a:t>Surveys</a:t>
            </a:r>
            <a:endParaRPr>
              <a:solidFill>
                <a:srgbClr val="0F1115"/>
              </a:solidFill>
              <a:latin typeface="Oswald"/>
              <a:ea typeface="Oswald"/>
              <a:cs typeface="Oswald"/>
              <a:sym typeface="Oswald"/>
            </a:endParaRPr>
          </a:p>
          <a:p>
            <a:pPr indent="0" lvl="0" marL="0" rtl="0" algn="l">
              <a:spcBef>
                <a:spcPts val="0"/>
              </a:spcBef>
              <a:spcAft>
                <a:spcPts val="0"/>
              </a:spcAft>
              <a:buNone/>
            </a:pPr>
            <a:r>
              <a:t/>
            </a:r>
            <a:endParaRPr>
              <a:solidFill>
                <a:srgbClr val="0F1115"/>
              </a:solidFill>
              <a:latin typeface="Oswald"/>
              <a:ea typeface="Oswald"/>
              <a:cs typeface="Oswald"/>
              <a:sym typeface="Oswald"/>
            </a:endParaRPr>
          </a:p>
          <a:p>
            <a:pPr indent="0" lvl="0" marL="0" rtl="0" algn="l">
              <a:spcBef>
                <a:spcPts val="0"/>
              </a:spcBef>
              <a:spcAft>
                <a:spcPts val="0"/>
              </a:spcAft>
              <a:buNone/>
            </a:pPr>
            <a:r>
              <a:t/>
            </a:r>
            <a:endParaRPr>
              <a:solidFill>
                <a:srgbClr val="0F1115"/>
              </a:solidFill>
              <a:latin typeface="Oswald"/>
              <a:ea typeface="Oswald"/>
              <a:cs typeface="Oswald"/>
              <a:sym typeface="Oswald"/>
            </a:endParaRPr>
          </a:p>
          <a:p>
            <a:pPr indent="0" lvl="0" marL="0" rtl="0" algn="l">
              <a:spcBef>
                <a:spcPts val="0"/>
              </a:spcBef>
              <a:spcAft>
                <a:spcPts val="0"/>
              </a:spcAft>
              <a:buNone/>
            </a:pPr>
            <a:r>
              <a:t/>
            </a:r>
            <a:endParaRPr>
              <a:solidFill>
                <a:srgbClr val="0F1115"/>
              </a:solidFill>
              <a:latin typeface="Oswald"/>
              <a:ea typeface="Oswald"/>
              <a:cs typeface="Oswald"/>
              <a:sym typeface="Oswald"/>
            </a:endParaRPr>
          </a:p>
          <a:p>
            <a:pPr indent="0" lvl="0" marL="0" rtl="0" algn="l">
              <a:spcBef>
                <a:spcPts val="0"/>
              </a:spcBef>
              <a:spcAft>
                <a:spcPts val="0"/>
              </a:spcAft>
              <a:buNone/>
            </a:pPr>
            <a:r>
              <a:t/>
            </a:r>
            <a:endParaRPr>
              <a:solidFill>
                <a:srgbClr val="0F1115"/>
              </a:solidFill>
              <a:latin typeface="Oswald"/>
              <a:ea typeface="Oswald"/>
              <a:cs typeface="Oswald"/>
              <a:sym typeface="Oswald"/>
            </a:endParaRPr>
          </a:p>
        </p:txBody>
      </p:sp>
      <p:sp>
        <p:nvSpPr>
          <p:cNvPr id="177" name="Google Shape;177;p22"/>
          <p:cNvSpPr txBox="1"/>
          <p:nvPr/>
        </p:nvSpPr>
        <p:spPr>
          <a:xfrm>
            <a:off x="5957800" y="1589100"/>
            <a:ext cx="1946100" cy="497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0F1115"/>
                </a:solidFill>
                <a:latin typeface="Oswald"/>
                <a:ea typeface="Oswald"/>
                <a:cs typeface="Oswald"/>
                <a:sym typeface="Oswald"/>
              </a:rPr>
              <a:t>Reorganizing information to make it efficient</a:t>
            </a:r>
            <a:endParaRPr sz="1600">
              <a:solidFill>
                <a:srgbClr val="0F1115"/>
              </a:solidFill>
              <a:latin typeface="Oswald"/>
              <a:ea typeface="Oswald"/>
              <a:cs typeface="Oswald"/>
              <a:sym typeface="Oswald"/>
            </a:endParaRPr>
          </a:p>
        </p:txBody>
      </p:sp>
      <p:sp>
        <p:nvSpPr>
          <p:cNvPr id="178" name="Google Shape;178;p22"/>
          <p:cNvSpPr/>
          <p:nvPr/>
        </p:nvSpPr>
        <p:spPr>
          <a:xfrm>
            <a:off x="6059400" y="2926500"/>
            <a:ext cx="1743000" cy="1053900"/>
          </a:xfrm>
          <a:prstGeom prst="downArrow">
            <a:avLst>
              <a:gd fmla="val 90686"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0F1115"/>
              </a:solidFill>
              <a:latin typeface="Oswald"/>
              <a:ea typeface="Oswald"/>
              <a:cs typeface="Oswald"/>
              <a:sym typeface="Oswald"/>
            </a:endParaRPr>
          </a:p>
        </p:txBody>
      </p:sp>
      <p:sp>
        <p:nvSpPr>
          <p:cNvPr id="179" name="Google Shape;179;p22"/>
          <p:cNvSpPr txBox="1"/>
          <p:nvPr/>
        </p:nvSpPr>
        <p:spPr>
          <a:xfrm>
            <a:off x="5796000" y="3048100"/>
            <a:ext cx="2269800" cy="497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0F1115"/>
                </a:solidFill>
                <a:latin typeface="Oswald"/>
                <a:ea typeface="Oswald"/>
                <a:cs typeface="Oswald"/>
                <a:sym typeface="Oswald"/>
              </a:rPr>
              <a:t>Easy content</a:t>
            </a:r>
            <a:endParaRPr>
              <a:solidFill>
                <a:srgbClr val="0F1115"/>
              </a:solidFill>
              <a:latin typeface="Oswald"/>
              <a:ea typeface="Oswald"/>
              <a:cs typeface="Oswald"/>
              <a:sym typeface="Oswald"/>
            </a:endParaRPr>
          </a:p>
          <a:p>
            <a:pPr indent="0" lvl="0" marL="0" rtl="0" algn="ctr">
              <a:spcBef>
                <a:spcPts val="0"/>
              </a:spcBef>
              <a:spcAft>
                <a:spcPts val="0"/>
              </a:spcAft>
              <a:buNone/>
            </a:pPr>
            <a:r>
              <a:rPr lang="en">
                <a:solidFill>
                  <a:srgbClr val="0F1115"/>
                </a:solidFill>
                <a:latin typeface="Oswald"/>
                <a:ea typeface="Oswald"/>
                <a:cs typeface="Oswald"/>
                <a:sym typeface="Oswald"/>
              </a:rPr>
              <a:t> translation </a:t>
            </a:r>
            <a:endParaRPr>
              <a:solidFill>
                <a:srgbClr val="0F1115"/>
              </a:solidFill>
              <a:latin typeface="Oswald"/>
              <a:ea typeface="Oswald"/>
              <a:cs typeface="Oswald"/>
              <a:sym typeface="Oswald"/>
            </a:endParaRPr>
          </a:p>
        </p:txBody>
      </p:sp>
      <p:sp>
        <p:nvSpPr>
          <p:cNvPr id="180" name="Google Shape;180;p22"/>
          <p:cNvSpPr txBox="1"/>
          <p:nvPr/>
        </p:nvSpPr>
        <p:spPr>
          <a:xfrm>
            <a:off x="5957850" y="2322757"/>
            <a:ext cx="1946100" cy="497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0F1115"/>
                </a:solidFill>
                <a:latin typeface="Oswald"/>
                <a:ea typeface="Oswald"/>
                <a:cs typeface="Oswald"/>
                <a:sym typeface="Oswald"/>
              </a:rPr>
              <a:t>Clear visuals + stories</a:t>
            </a:r>
            <a:endParaRPr>
              <a:solidFill>
                <a:srgbClr val="0F1115"/>
              </a:solidFill>
              <a:latin typeface="Oswald"/>
              <a:ea typeface="Oswald"/>
              <a:cs typeface="Oswald"/>
              <a:sym typeface="Oswald"/>
            </a:endParaRPr>
          </a:p>
          <a:p>
            <a:pPr indent="0" lvl="0" marL="0" rtl="0" algn="l">
              <a:spcBef>
                <a:spcPts val="0"/>
              </a:spcBef>
              <a:spcAft>
                <a:spcPts val="0"/>
              </a:spcAft>
              <a:buNone/>
            </a:pPr>
            <a:r>
              <a:t/>
            </a:r>
            <a:endParaRPr>
              <a:solidFill>
                <a:srgbClr val="0F1115"/>
              </a:solidFill>
              <a:latin typeface="Oswald"/>
              <a:ea typeface="Oswald"/>
              <a:cs typeface="Oswald"/>
              <a:sym typeface="Oswald"/>
            </a:endParaRPr>
          </a:p>
        </p:txBody>
      </p:sp>
      <p:sp>
        <p:nvSpPr>
          <p:cNvPr id="181" name="Google Shape;181;p22"/>
          <p:cNvSpPr txBox="1"/>
          <p:nvPr/>
        </p:nvSpPr>
        <p:spPr>
          <a:xfrm>
            <a:off x="5917350" y="3980400"/>
            <a:ext cx="2027100" cy="59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solidFill>
                  <a:srgbClr val="0F1115"/>
                </a:solidFill>
                <a:latin typeface="Oswald"/>
                <a:ea typeface="Oswald"/>
                <a:cs typeface="Oswald"/>
                <a:sym typeface="Oswald"/>
              </a:rPr>
              <a:t>Accessible content</a:t>
            </a:r>
            <a:endParaRPr sz="2000">
              <a:solidFill>
                <a:srgbClr val="0F1115"/>
              </a:solidFill>
              <a:latin typeface="Oswald"/>
              <a:ea typeface="Oswald"/>
              <a:cs typeface="Oswald"/>
              <a:sym typeface="Oswa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3"/>
          <p:cNvSpPr txBox="1"/>
          <p:nvPr/>
        </p:nvSpPr>
        <p:spPr>
          <a:xfrm>
            <a:off x="73775" y="147150"/>
            <a:ext cx="8045700" cy="1108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000">
                <a:solidFill>
                  <a:schemeClr val="dk1"/>
                </a:solidFill>
                <a:latin typeface="Oswald"/>
                <a:ea typeface="Oswald"/>
                <a:cs typeface="Oswald"/>
                <a:sym typeface="Oswald"/>
              </a:rPr>
              <a:t>Objective 3: Focus Groups Will Refine Our Promotional Material To Reflect On Community Values</a:t>
            </a:r>
            <a:endParaRPr sz="3000">
              <a:solidFill>
                <a:schemeClr val="dk1"/>
              </a:solidFill>
              <a:latin typeface="Oswald"/>
              <a:ea typeface="Oswald"/>
              <a:cs typeface="Oswald"/>
              <a:sym typeface="Oswald"/>
            </a:endParaRPr>
          </a:p>
        </p:txBody>
      </p:sp>
      <p:pic>
        <p:nvPicPr>
          <p:cNvPr id="187" name="Google Shape;187;p23"/>
          <p:cNvPicPr preferRelativeResize="0"/>
          <p:nvPr/>
        </p:nvPicPr>
        <p:blipFill>
          <a:blip r:embed="rId3">
            <a:alphaModFix/>
          </a:blip>
          <a:stretch>
            <a:fillRect/>
          </a:stretch>
        </p:blipFill>
        <p:spPr>
          <a:xfrm>
            <a:off x="3281650" y="1375338"/>
            <a:ext cx="2392825" cy="2392825"/>
          </a:xfrm>
          <a:prstGeom prst="rect">
            <a:avLst/>
          </a:prstGeom>
          <a:noFill/>
          <a:ln>
            <a:noFill/>
          </a:ln>
          <a:effectLst>
            <a:outerShdw blurRad="57150" rotWithShape="0" algn="bl" dir="5400000" dist="19050">
              <a:srgbClr val="000000">
                <a:alpha val="50000"/>
              </a:srgbClr>
            </a:outerShdw>
          </a:effectLst>
        </p:spPr>
      </p:pic>
      <p:sp>
        <p:nvSpPr>
          <p:cNvPr id="188" name="Google Shape;188;p23"/>
          <p:cNvSpPr txBox="1"/>
          <p:nvPr/>
        </p:nvSpPr>
        <p:spPr>
          <a:xfrm>
            <a:off x="1207500" y="4082250"/>
            <a:ext cx="6729000" cy="50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accent3"/>
                </a:solidFill>
                <a:latin typeface="Oswald"/>
                <a:ea typeface="Oswald"/>
                <a:cs typeface="Oswald"/>
                <a:sym typeface="Oswald"/>
              </a:rPr>
              <a:t>Focus Groups + Object Oriented Testing =&gt; </a:t>
            </a:r>
            <a:r>
              <a:rPr b="1" lang="en" sz="1800">
                <a:solidFill>
                  <a:schemeClr val="accent3"/>
                </a:solidFill>
                <a:latin typeface="Oswald"/>
                <a:ea typeface="Oswald"/>
                <a:cs typeface="Oswald"/>
                <a:sym typeface="Oswald"/>
              </a:rPr>
              <a:t>Community Centered Materials</a:t>
            </a:r>
            <a:endParaRPr b="1" sz="1800">
              <a:solidFill>
                <a:schemeClr val="accent3"/>
              </a:solidFill>
              <a:latin typeface="Oswald"/>
              <a:ea typeface="Oswald"/>
              <a:cs typeface="Oswald"/>
              <a:sym typeface="Oswa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Expected Outcomes &amp; Deliverables</a:t>
            </a:r>
            <a:endParaRPr/>
          </a:p>
        </p:txBody>
      </p:sp>
      <p:sp>
        <p:nvSpPr>
          <p:cNvPr id="194" name="Google Shape;194;p24"/>
          <p:cNvSpPr/>
          <p:nvPr/>
        </p:nvSpPr>
        <p:spPr>
          <a:xfrm>
            <a:off x="1723913" y="2251413"/>
            <a:ext cx="594300" cy="36900"/>
          </a:xfrm>
          <a:prstGeom prst="roundRect">
            <a:avLst>
              <a:gd fmla="val 50000" name="adj"/>
            </a:avLst>
          </a:prstGeom>
          <a:solidFill>
            <a:srgbClr val="D9D2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grpSp>
        <p:nvGrpSpPr>
          <p:cNvPr id="195" name="Google Shape;195;p24"/>
          <p:cNvGrpSpPr/>
          <p:nvPr/>
        </p:nvGrpSpPr>
        <p:grpSpPr>
          <a:xfrm>
            <a:off x="369675" y="1960450"/>
            <a:ext cx="1578300" cy="1276475"/>
            <a:chOff x="369675" y="1960450"/>
            <a:chExt cx="1578300" cy="1276475"/>
          </a:xfrm>
        </p:grpSpPr>
        <p:sp>
          <p:nvSpPr>
            <p:cNvPr id="196" name="Google Shape;196;p24"/>
            <p:cNvSpPr/>
            <p:nvPr/>
          </p:nvSpPr>
          <p:spPr>
            <a:xfrm>
              <a:off x="861672" y="1960450"/>
              <a:ext cx="594300" cy="594300"/>
            </a:xfrm>
            <a:prstGeom prst="ellipse">
              <a:avLst/>
            </a:prstGeom>
            <a:solidFill>
              <a:srgbClr val="D9D2E9"/>
            </a:solidFill>
            <a:ln cap="flat" cmpd="sng" w="38100">
              <a:solidFill>
                <a:srgbClr val="3D3D3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sp>
          <p:nvSpPr>
            <p:cNvPr id="197" name="Google Shape;197;p24"/>
            <p:cNvSpPr txBox="1"/>
            <p:nvPr/>
          </p:nvSpPr>
          <p:spPr>
            <a:xfrm>
              <a:off x="940425" y="2120775"/>
              <a:ext cx="436800" cy="251400"/>
            </a:xfrm>
            <a:prstGeom prst="rect">
              <a:avLst/>
            </a:prstGeom>
            <a:solidFill>
              <a:srgbClr val="D9D2E9"/>
            </a:solid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b="1" lang="en">
                  <a:solidFill>
                    <a:schemeClr val="lt1"/>
                  </a:solidFill>
                  <a:latin typeface="Oswald"/>
                  <a:ea typeface="Oswald"/>
                  <a:cs typeface="Oswald"/>
                  <a:sym typeface="Oswald"/>
                </a:rPr>
                <a:t>  1</a:t>
              </a:r>
              <a:endParaRPr b="1">
                <a:solidFill>
                  <a:schemeClr val="lt1"/>
                </a:solidFill>
                <a:latin typeface="Oswald"/>
                <a:ea typeface="Oswald"/>
                <a:cs typeface="Oswald"/>
                <a:sym typeface="Oswald"/>
              </a:endParaRPr>
            </a:p>
          </p:txBody>
        </p:sp>
        <p:sp>
          <p:nvSpPr>
            <p:cNvPr id="198" name="Google Shape;198;p24"/>
            <p:cNvSpPr txBox="1"/>
            <p:nvPr/>
          </p:nvSpPr>
          <p:spPr>
            <a:xfrm>
              <a:off x="369675" y="2664225"/>
              <a:ext cx="1578300" cy="572700"/>
            </a:xfrm>
            <a:prstGeom prst="rect">
              <a:avLst/>
            </a:prstGeom>
            <a:solidFill>
              <a:srgbClr val="D9D2E9"/>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chemeClr val="lt1"/>
                  </a:solidFill>
                  <a:latin typeface="Oswald"/>
                  <a:ea typeface="Oswald"/>
                  <a:cs typeface="Oswald"/>
                  <a:sym typeface="Oswald"/>
                </a:rPr>
                <a:t>Community Data Summary   </a:t>
              </a:r>
              <a:endParaRPr b="1">
                <a:solidFill>
                  <a:schemeClr val="lt1"/>
                </a:solidFill>
                <a:latin typeface="Oswald"/>
                <a:ea typeface="Oswald"/>
                <a:cs typeface="Oswald"/>
                <a:sym typeface="Oswald"/>
              </a:endParaRPr>
            </a:p>
          </p:txBody>
        </p:sp>
      </p:grpSp>
      <p:grpSp>
        <p:nvGrpSpPr>
          <p:cNvPr id="199" name="Google Shape;199;p24"/>
          <p:cNvGrpSpPr/>
          <p:nvPr/>
        </p:nvGrpSpPr>
        <p:grpSpPr>
          <a:xfrm>
            <a:off x="3818650" y="1960450"/>
            <a:ext cx="1537200" cy="1276475"/>
            <a:chOff x="3818650" y="1960450"/>
            <a:chExt cx="1537200" cy="1276475"/>
          </a:xfrm>
        </p:grpSpPr>
        <p:sp>
          <p:nvSpPr>
            <p:cNvPr id="200" name="Google Shape;200;p24"/>
            <p:cNvSpPr/>
            <p:nvPr/>
          </p:nvSpPr>
          <p:spPr>
            <a:xfrm>
              <a:off x="4290102" y="1960450"/>
              <a:ext cx="594300" cy="594300"/>
            </a:xfrm>
            <a:prstGeom prst="ellipse">
              <a:avLst/>
            </a:prstGeom>
            <a:solidFill>
              <a:srgbClr val="D9D2E9"/>
            </a:solidFill>
            <a:ln cap="flat" cmpd="sng" w="38100">
              <a:solidFill>
                <a:srgbClr val="8585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sp>
          <p:nvSpPr>
            <p:cNvPr id="201" name="Google Shape;201;p24"/>
            <p:cNvSpPr txBox="1"/>
            <p:nvPr/>
          </p:nvSpPr>
          <p:spPr>
            <a:xfrm>
              <a:off x="3818650" y="2664225"/>
              <a:ext cx="1537200" cy="572700"/>
            </a:xfrm>
            <a:prstGeom prst="rect">
              <a:avLst/>
            </a:prstGeom>
            <a:solidFill>
              <a:srgbClr val="D9D2E9"/>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chemeClr val="lt1"/>
                  </a:solidFill>
                  <a:latin typeface="Oswald"/>
                  <a:ea typeface="Oswald"/>
                  <a:cs typeface="Oswald"/>
                  <a:sym typeface="Oswald"/>
                </a:rPr>
                <a:t>Draft Promotional Materials </a:t>
              </a:r>
              <a:endParaRPr b="1">
                <a:solidFill>
                  <a:schemeClr val="lt1"/>
                </a:solidFill>
                <a:latin typeface="Oswald"/>
                <a:ea typeface="Oswald"/>
                <a:cs typeface="Oswald"/>
                <a:sym typeface="Oswald"/>
              </a:endParaRPr>
            </a:p>
          </p:txBody>
        </p:sp>
        <p:sp>
          <p:nvSpPr>
            <p:cNvPr id="202" name="Google Shape;202;p24"/>
            <p:cNvSpPr txBox="1"/>
            <p:nvPr/>
          </p:nvSpPr>
          <p:spPr>
            <a:xfrm>
              <a:off x="4368852" y="2121624"/>
              <a:ext cx="436800" cy="321000"/>
            </a:xfrm>
            <a:prstGeom prst="rect">
              <a:avLst/>
            </a:prstGeom>
            <a:solidFill>
              <a:srgbClr val="D9D2E9"/>
            </a:solid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b="1" lang="en">
                  <a:solidFill>
                    <a:schemeClr val="lt1"/>
                  </a:solidFill>
                  <a:latin typeface="Oswald"/>
                  <a:ea typeface="Oswald"/>
                  <a:cs typeface="Oswald"/>
                  <a:sym typeface="Oswald"/>
                </a:rPr>
                <a:t>3</a:t>
              </a:r>
              <a:endParaRPr b="1">
                <a:solidFill>
                  <a:schemeClr val="lt1"/>
                </a:solidFill>
                <a:latin typeface="Oswald"/>
                <a:ea typeface="Oswald"/>
                <a:cs typeface="Oswald"/>
                <a:sym typeface="Oswald"/>
              </a:endParaRPr>
            </a:p>
          </p:txBody>
        </p:sp>
      </p:grpSp>
      <p:grpSp>
        <p:nvGrpSpPr>
          <p:cNvPr id="203" name="Google Shape;203;p24"/>
          <p:cNvGrpSpPr/>
          <p:nvPr/>
        </p:nvGrpSpPr>
        <p:grpSpPr>
          <a:xfrm>
            <a:off x="5527875" y="1960450"/>
            <a:ext cx="1537200" cy="1276475"/>
            <a:chOff x="5527875" y="1960450"/>
            <a:chExt cx="1537200" cy="1276475"/>
          </a:xfrm>
        </p:grpSpPr>
        <p:sp>
          <p:nvSpPr>
            <p:cNvPr id="204" name="Google Shape;204;p24"/>
            <p:cNvSpPr/>
            <p:nvPr/>
          </p:nvSpPr>
          <p:spPr>
            <a:xfrm>
              <a:off x="5999340" y="1960450"/>
              <a:ext cx="594300" cy="594300"/>
            </a:xfrm>
            <a:prstGeom prst="ellipse">
              <a:avLst/>
            </a:prstGeom>
            <a:solidFill>
              <a:srgbClr val="D9D2E9"/>
            </a:solidFill>
            <a:ln cap="flat" cmpd="sng" w="38100">
              <a:solidFill>
                <a:srgbClr val="8585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sp>
          <p:nvSpPr>
            <p:cNvPr id="205" name="Google Shape;205;p24"/>
            <p:cNvSpPr txBox="1"/>
            <p:nvPr/>
          </p:nvSpPr>
          <p:spPr>
            <a:xfrm>
              <a:off x="5527875" y="2664225"/>
              <a:ext cx="1537200" cy="572700"/>
            </a:xfrm>
            <a:prstGeom prst="rect">
              <a:avLst/>
            </a:prstGeom>
            <a:solidFill>
              <a:srgbClr val="D9D2E9"/>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chemeClr val="lt1"/>
                  </a:solidFill>
                  <a:latin typeface="Oswald"/>
                  <a:ea typeface="Oswald"/>
                  <a:cs typeface="Oswald"/>
                  <a:sym typeface="Oswald"/>
                </a:rPr>
                <a:t>Community Feedback  </a:t>
              </a:r>
              <a:endParaRPr b="1">
                <a:solidFill>
                  <a:schemeClr val="lt1"/>
                </a:solidFill>
                <a:latin typeface="Oswald"/>
                <a:ea typeface="Oswald"/>
                <a:cs typeface="Oswald"/>
                <a:sym typeface="Oswald"/>
              </a:endParaRPr>
            </a:p>
          </p:txBody>
        </p:sp>
        <p:sp>
          <p:nvSpPr>
            <p:cNvPr id="206" name="Google Shape;206;p24"/>
            <p:cNvSpPr txBox="1"/>
            <p:nvPr/>
          </p:nvSpPr>
          <p:spPr>
            <a:xfrm>
              <a:off x="6078090" y="2121624"/>
              <a:ext cx="436800" cy="321000"/>
            </a:xfrm>
            <a:prstGeom prst="rect">
              <a:avLst/>
            </a:prstGeom>
            <a:solidFill>
              <a:srgbClr val="D9D2E9"/>
            </a:solid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b="1" lang="en">
                  <a:solidFill>
                    <a:schemeClr val="lt1"/>
                  </a:solidFill>
                  <a:latin typeface="Oswald"/>
                  <a:ea typeface="Oswald"/>
                  <a:cs typeface="Oswald"/>
                  <a:sym typeface="Oswald"/>
                </a:rPr>
                <a:t>4</a:t>
              </a:r>
              <a:endParaRPr b="1">
                <a:solidFill>
                  <a:schemeClr val="lt1"/>
                </a:solidFill>
                <a:latin typeface="Oswald"/>
                <a:ea typeface="Oswald"/>
                <a:cs typeface="Oswald"/>
                <a:sym typeface="Oswald"/>
              </a:endParaRPr>
            </a:p>
          </p:txBody>
        </p:sp>
      </p:grpSp>
      <p:grpSp>
        <p:nvGrpSpPr>
          <p:cNvPr id="207" name="Google Shape;207;p24"/>
          <p:cNvGrpSpPr/>
          <p:nvPr/>
        </p:nvGrpSpPr>
        <p:grpSpPr>
          <a:xfrm>
            <a:off x="7237125" y="1960450"/>
            <a:ext cx="1537200" cy="1276475"/>
            <a:chOff x="7237125" y="1960450"/>
            <a:chExt cx="1537200" cy="1276475"/>
          </a:xfrm>
        </p:grpSpPr>
        <p:sp>
          <p:nvSpPr>
            <p:cNvPr id="208" name="Google Shape;208;p24"/>
            <p:cNvSpPr/>
            <p:nvPr/>
          </p:nvSpPr>
          <p:spPr>
            <a:xfrm>
              <a:off x="7708593" y="1960450"/>
              <a:ext cx="594300" cy="594300"/>
            </a:xfrm>
            <a:prstGeom prst="ellipse">
              <a:avLst/>
            </a:prstGeom>
            <a:solidFill>
              <a:srgbClr val="D9D2E9"/>
            </a:solidFill>
            <a:ln cap="flat" cmpd="sng" w="38100">
              <a:solidFill>
                <a:srgbClr val="85858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sp>
          <p:nvSpPr>
            <p:cNvPr id="209" name="Google Shape;209;p24"/>
            <p:cNvSpPr txBox="1"/>
            <p:nvPr/>
          </p:nvSpPr>
          <p:spPr>
            <a:xfrm>
              <a:off x="7237125" y="2664225"/>
              <a:ext cx="1537200" cy="572700"/>
            </a:xfrm>
            <a:prstGeom prst="rect">
              <a:avLst/>
            </a:prstGeom>
            <a:solidFill>
              <a:srgbClr val="D9D2E9"/>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chemeClr val="lt1"/>
                  </a:solidFill>
                  <a:latin typeface="Oswald"/>
                  <a:ea typeface="Oswald"/>
                  <a:cs typeface="Oswald"/>
                  <a:sym typeface="Oswald"/>
                </a:rPr>
                <a:t> Final Deliverable: Website </a:t>
              </a:r>
              <a:endParaRPr b="1">
                <a:solidFill>
                  <a:schemeClr val="lt1"/>
                </a:solidFill>
                <a:latin typeface="Oswald"/>
                <a:ea typeface="Oswald"/>
                <a:cs typeface="Oswald"/>
                <a:sym typeface="Oswald"/>
              </a:endParaRPr>
            </a:p>
          </p:txBody>
        </p:sp>
        <p:sp>
          <p:nvSpPr>
            <p:cNvPr id="210" name="Google Shape;210;p24"/>
            <p:cNvSpPr txBox="1"/>
            <p:nvPr/>
          </p:nvSpPr>
          <p:spPr>
            <a:xfrm>
              <a:off x="7787343" y="2121624"/>
              <a:ext cx="436800" cy="321000"/>
            </a:xfrm>
            <a:prstGeom prst="rect">
              <a:avLst/>
            </a:prstGeom>
            <a:solidFill>
              <a:srgbClr val="D9D2E9"/>
            </a:solid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n">
                  <a:solidFill>
                    <a:schemeClr val="lt1"/>
                  </a:solidFill>
                  <a:latin typeface="Oswald"/>
                  <a:ea typeface="Oswald"/>
                  <a:cs typeface="Oswald"/>
                  <a:sym typeface="Oswald"/>
                </a:rPr>
                <a:t>5</a:t>
              </a:r>
              <a:endParaRPr b="1">
                <a:solidFill>
                  <a:schemeClr val="lt1"/>
                </a:solidFill>
                <a:latin typeface="Oswald"/>
                <a:ea typeface="Oswald"/>
                <a:cs typeface="Oswald"/>
                <a:sym typeface="Oswald"/>
              </a:endParaRPr>
            </a:p>
            <a:p>
              <a:pPr indent="0" lvl="0" marL="0" rtl="0" algn="ctr">
                <a:lnSpc>
                  <a:spcPct val="115000"/>
                </a:lnSpc>
                <a:spcBef>
                  <a:spcPts val="1600"/>
                </a:spcBef>
                <a:spcAft>
                  <a:spcPts val="1600"/>
                </a:spcAft>
                <a:buNone/>
              </a:pPr>
              <a:r>
                <a:t/>
              </a:r>
              <a:endParaRPr b="1" sz="1300">
                <a:solidFill>
                  <a:schemeClr val="lt1"/>
                </a:solidFill>
                <a:latin typeface="Oswald"/>
                <a:ea typeface="Oswald"/>
                <a:cs typeface="Oswald"/>
                <a:sym typeface="Oswald"/>
              </a:endParaRPr>
            </a:p>
          </p:txBody>
        </p:sp>
      </p:grpSp>
      <p:sp>
        <p:nvSpPr>
          <p:cNvPr id="211" name="Google Shape;211;p24"/>
          <p:cNvSpPr/>
          <p:nvPr/>
        </p:nvSpPr>
        <p:spPr>
          <a:xfrm>
            <a:off x="3438138" y="2251413"/>
            <a:ext cx="594300" cy="36900"/>
          </a:xfrm>
          <a:prstGeom prst="roundRect">
            <a:avLst>
              <a:gd fmla="val 50000" name="adj"/>
            </a:avLst>
          </a:prstGeom>
          <a:solidFill>
            <a:srgbClr val="D9D2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grpSp>
        <p:nvGrpSpPr>
          <p:cNvPr id="212" name="Google Shape;212;p24"/>
          <p:cNvGrpSpPr/>
          <p:nvPr/>
        </p:nvGrpSpPr>
        <p:grpSpPr>
          <a:xfrm>
            <a:off x="2114700" y="1960450"/>
            <a:ext cx="1537200" cy="1276475"/>
            <a:chOff x="2114700" y="1960450"/>
            <a:chExt cx="1537200" cy="1276475"/>
          </a:xfrm>
        </p:grpSpPr>
        <p:sp>
          <p:nvSpPr>
            <p:cNvPr id="213" name="Google Shape;213;p24"/>
            <p:cNvSpPr/>
            <p:nvPr/>
          </p:nvSpPr>
          <p:spPr>
            <a:xfrm>
              <a:off x="2586168" y="1960450"/>
              <a:ext cx="594300" cy="594300"/>
            </a:xfrm>
            <a:prstGeom prst="ellipse">
              <a:avLst/>
            </a:prstGeom>
            <a:solidFill>
              <a:srgbClr val="D9D2E9"/>
            </a:solidFill>
            <a:ln cap="flat" cmpd="sng" w="38100">
              <a:solidFill>
                <a:srgbClr val="3D3D3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sp>
          <p:nvSpPr>
            <p:cNvPr id="214" name="Google Shape;214;p24"/>
            <p:cNvSpPr txBox="1"/>
            <p:nvPr/>
          </p:nvSpPr>
          <p:spPr>
            <a:xfrm>
              <a:off x="2114700" y="2664225"/>
              <a:ext cx="1537200" cy="572700"/>
            </a:xfrm>
            <a:prstGeom prst="rect">
              <a:avLst/>
            </a:prstGeom>
            <a:solidFill>
              <a:srgbClr val="D9D2E9"/>
            </a:solid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en">
                  <a:solidFill>
                    <a:schemeClr val="lt1"/>
                  </a:solidFill>
                  <a:latin typeface="Oswald"/>
                  <a:ea typeface="Oswald"/>
                  <a:cs typeface="Oswald"/>
                  <a:sym typeface="Oswald"/>
                </a:rPr>
                <a:t>Partnership Insights  </a:t>
              </a:r>
              <a:endParaRPr b="1">
                <a:solidFill>
                  <a:schemeClr val="lt1"/>
                </a:solidFill>
                <a:latin typeface="Oswald"/>
                <a:ea typeface="Oswald"/>
                <a:cs typeface="Oswald"/>
                <a:sym typeface="Oswald"/>
              </a:endParaRPr>
            </a:p>
          </p:txBody>
        </p:sp>
        <p:sp>
          <p:nvSpPr>
            <p:cNvPr id="215" name="Google Shape;215;p24"/>
            <p:cNvSpPr txBox="1"/>
            <p:nvPr/>
          </p:nvSpPr>
          <p:spPr>
            <a:xfrm>
              <a:off x="2664918" y="2121624"/>
              <a:ext cx="436800" cy="321000"/>
            </a:xfrm>
            <a:prstGeom prst="rect">
              <a:avLst/>
            </a:prstGeom>
            <a:solidFill>
              <a:srgbClr val="D9D2E9"/>
            </a:solid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b="1" lang="en">
                  <a:solidFill>
                    <a:schemeClr val="lt1"/>
                  </a:solidFill>
                  <a:latin typeface="Oswald"/>
                  <a:ea typeface="Oswald"/>
                  <a:cs typeface="Oswald"/>
                  <a:sym typeface="Oswald"/>
                </a:rPr>
                <a:t>2</a:t>
              </a:r>
              <a:endParaRPr b="1">
                <a:solidFill>
                  <a:schemeClr val="lt1"/>
                </a:solidFill>
                <a:latin typeface="Oswald"/>
                <a:ea typeface="Oswald"/>
                <a:cs typeface="Oswald"/>
                <a:sym typeface="Oswald"/>
              </a:endParaRPr>
            </a:p>
          </p:txBody>
        </p:sp>
      </p:grpSp>
      <p:sp>
        <p:nvSpPr>
          <p:cNvPr id="216" name="Google Shape;216;p24"/>
          <p:cNvSpPr/>
          <p:nvPr/>
        </p:nvSpPr>
        <p:spPr>
          <a:xfrm>
            <a:off x="5184088" y="2251413"/>
            <a:ext cx="594300" cy="36900"/>
          </a:xfrm>
          <a:prstGeom prst="roundRect">
            <a:avLst>
              <a:gd fmla="val 50000" name="adj"/>
            </a:avLst>
          </a:prstGeom>
          <a:solidFill>
            <a:srgbClr val="D9D2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sp>
        <p:nvSpPr>
          <p:cNvPr id="217" name="Google Shape;217;p24"/>
          <p:cNvSpPr/>
          <p:nvPr/>
        </p:nvSpPr>
        <p:spPr>
          <a:xfrm>
            <a:off x="6853963" y="2251413"/>
            <a:ext cx="594300" cy="36900"/>
          </a:xfrm>
          <a:prstGeom prst="roundRect">
            <a:avLst>
              <a:gd fmla="val 50000" name="adj"/>
            </a:avLst>
          </a:prstGeom>
          <a:solidFill>
            <a:srgbClr val="D9D2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solidFill>
                <a:schemeClr val="lt1"/>
              </a:solidFill>
              <a:latin typeface="Oswald"/>
              <a:ea typeface="Oswald"/>
              <a:cs typeface="Oswald"/>
              <a:sym typeface="Oswa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25"/>
          <p:cNvSpPr txBox="1"/>
          <p:nvPr>
            <p:ph type="title"/>
          </p:nvPr>
        </p:nvSpPr>
        <p:spPr>
          <a:xfrm>
            <a:off x="322525" y="2141250"/>
            <a:ext cx="2143200" cy="861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000"/>
              <a:t>Our IQP </a:t>
            </a:r>
            <a:r>
              <a:rPr lang="en" sz="3000"/>
              <a:t>Timeline</a:t>
            </a:r>
            <a:endParaRPr sz="3000"/>
          </a:p>
        </p:txBody>
      </p:sp>
      <p:pic>
        <p:nvPicPr>
          <p:cNvPr id="223" name="Google Shape;223;p25"/>
          <p:cNvPicPr preferRelativeResize="0"/>
          <p:nvPr/>
        </p:nvPicPr>
        <p:blipFill rotWithShape="1">
          <a:blip r:embed="rId3">
            <a:alphaModFix/>
          </a:blip>
          <a:srcRect b="86595" l="42256" r="0" t="0"/>
          <a:stretch/>
        </p:blipFill>
        <p:spPr>
          <a:xfrm>
            <a:off x="4894025" y="635302"/>
            <a:ext cx="4059700" cy="645625"/>
          </a:xfrm>
          <a:prstGeom prst="rect">
            <a:avLst/>
          </a:prstGeom>
          <a:noFill/>
          <a:ln cap="flat" cmpd="sng" w="28575">
            <a:solidFill>
              <a:schemeClr val="accent3"/>
            </a:solidFill>
            <a:prstDash val="solid"/>
            <a:round/>
            <a:headEnd len="sm" w="sm" type="none"/>
            <a:tailEnd len="sm" w="sm" type="none"/>
          </a:ln>
        </p:spPr>
      </p:pic>
      <p:sp>
        <p:nvSpPr>
          <p:cNvPr id="224" name="Google Shape;224;p25"/>
          <p:cNvSpPr txBox="1"/>
          <p:nvPr>
            <p:ph type="title"/>
          </p:nvPr>
        </p:nvSpPr>
        <p:spPr>
          <a:xfrm>
            <a:off x="2979475" y="163575"/>
            <a:ext cx="1461300" cy="861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2000"/>
              <a:t>Objective 1</a:t>
            </a:r>
            <a:endParaRPr sz="2000"/>
          </a:p>
        </p:txBody>
      </p:sp>
      <p:sp>
        <p:nvSpPr>
          <p:cNvPr id="225" name="Google Shape;225;p25"/>
          <p:cNvSpPr txBox="1"/>
          <p:nvPr>
            <p:ph type="title"/>
          </p:nvPr>
        </p:nvSpPr>
        <p:spPr>
          <a:xfrm>
            <a:off x="2979475" y="1705338"/>
            <a:ext cx="1461300" cy="861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2000"/>
              <a:t>Objective 2</a:t>
            </a:r>
            <a:endParaRPr sz="2000"/>
          </a:p>
        </p:txBody>
      </p:sp>
      <p:sp>
        <p:nvSpPr>
          <p:cNvPr id="226" name="Google Shape;226;p25"/>
          <p:cNvSpPr txBox="1"/>
          <p:nvPr>
            <p:ph type="title"/>
          </p:nvPr>
        </p:nvSpPr>
        <p:spPr>
          <a:xfrm>
            <a:off x="2979475" y="3321300"/>
            <a:ext cx="1461300" cy="861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2000"/>
              <a:t>Objective 3</a:t>
            </a:r>
            <a:endParaRPr sz="2000"/>
          </a:p>
        </p:txBody>
      </p:sp>
      <p:sp>
        <p:nvSpPr>
          <p:cNvPr id="227" name="Google Shape;227;p25"/>
          <p:cNvSpPr txBox="1"/>
          <p:nvPr>
            <p:ph type="title"/>
          </p:nvPr>
        </p:nvSpPr>
        <p:spPr>
          <a:xfrm>
            <a:off x="3156925" y="2360400"/>
            <a:ext cx="1106400" cy="861000"/>
          </a:xfrm>
          <a:prstGeom prst="rect">
            <a:avLst/>
          </a:prstGeom>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sz="1800">
                <a:solidFill>
                  <a:schemeClr val="dk2"/>
                </a:solidFill>
              </a:rPr>
              <a:t>Interviews</a:t>
            </a:r>
            <a:endParaRPr sz="1800">
              <a:solidFill>
                <a:schemeClr val="dk2"/>
              </a:solidFill>
            </a:endParaRPr>
          </a:p>
          <a:p>
            <a:pPr indent="0" lvl="0" marL="0" rtl="0" algn="ctr">
              <a:lnSpc>
                <a:spcPct val="115000"/>
              </a:lnSpc>
              <a:spcBef>
                <a:spcPts val="0"/>
              </a:spcBef>
              <a:spcAft>
                <a:spcPts val="0"/>
              </a:spcAft>
              <a:buNone/>
            </a:pPr>
            <a:r>
              <a:rPr lang="en" sz="1800">
                <a:solidFill>
                  <a:schemeClr val="dk2"/>
                </a:solidFill>
              </a:rPr>
              <a:t>REM</a:t>
            </a:r>
            <a:endParaRPr sz="3000">
              <a:solidFill>
                <a:schemeClr val="dk2"/>
              </a:solidFill>
            </a:endParaRPr>
          </a:p>
        </p:txBody>
      </p:sp>
      <p:sp>
        <p:nvSpPr>
          <p:cNvPr id="228" name="Google Shape;228;p25"/>
          <p:cNvSpPr txBox="1"/>
          <p:nvPr>
            <p:ph type="title"/>
          </p:nvPr>
        </p:nvSpPr>
        <p:spPr>
          <a:xfrm>
            <a:off x="2614375" y="762225"/>
            <a:ext cx="2191500" cy="861000"/>
          </a:xfrm>
          <a:prstGeom prst="rect">
            <a:avLst/>
          </a:prstGeom>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sz="1800">
                <a:solidFill>
                  <a:schemeClr val="dk2"/>
                </a:solidFill>
              </a:rPr>
              <a:t>Content Analysis</a:t>
            </a:r>
            <a:endParaRPr sz="1800">
              <a:solidFill>
                <a:schemeClr val="dk2"/>
              </a:solidFill>
            </a:endParaRPr>
          </a:p>
          <a:p>
            <a:pPr indent="0" lvl="0" marL="0" rtl="0" algn="ctr">
              <a:lnSpc>
                <a:spcPct val="115000"/>
              </a:lnSpc>
              <a:spcBef>
                <a:spcPts val="0"/>
              </a:spcBef>
              <a:spcAft>
                <a:spcPts val="0"/>
              </a:spcAft>
              <a:buNone/>
            </a:pPr>
            <a:r>
              <a:rPr lang="en" sz="1800">
                <a:solidFill>
                  <a:schemeClr val="dk2"/>
                </a:solidFill>
              </a:rPr>
              <a:t>Network Mapping</a:t>
            </a:r>
            <a:endParaRPr sz="1800">
              <a:solidFill>
                <a:schemeClr val="dk2"/>
              </a:solidFill>
            </a:endParaRPr>
          </a:p>
        </p:txBody>
      </p:sp>
      <p:sp>
        <p:nvSpPr>
          <p:cNvPr id="229" name="Google Shape;229;p25"/>
          <p:cNvSpPr txBox="1"/>
          <p:nvPr>
            <p:ph type="title"/>
          </p:nvPr>
        </p:nvSpPr>
        <p:spPr>
          <a:xfrm>
            <a:off x="2763325" y="3984525"/>
            <a:ext cx="1893600" cy="995400"/>
          </a:xfrm>
          <a:prstGeom prst="rect">
            <a:avLst/>
          </a:prstGeom>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 sz="1800">
                <a:solidFill>
                  <a:schemeClr val="dk2"/>
                </a:solidFill>
              </a:rPr>
              <a:t>Focus Groups</a:t>
            </a:r>
            <a:endParaRPr sz="1800">
              <a:solidFill>
                <a:schemeClr val="dk2"/>
              </a:solidFill>
            </a:endParaRPr>
          </a:p>
          <a:p>
            <a:pPr indent="0" lvl="0" marL="0" rtl="0" algn="ctr">
              <a:lnSpc>
                <a:spcPct val="115000"/>
              </a:lnSpc>
              <a:spcBef>
                <a:spcPts val="0"/>
              </a:spcBef>
              <a:spcAft>
                <a:spcPts val="0"/>
              </a:spcAft>
              <a:buNone/>
            </a:pPr>
            <a:r>
              <a:rPr lang="en" sz="1800">
                <a:solidFill>
                  <a:schemeClr val="dk2"/>
                </a:solidFill>
              </a:rPr>
              <a:t>Feedback/Revisions</a:t>
            </a:r>
            <a:endParaRPr sz="1800">
              <a:solidFill>
                <a:schemeClr val="dk2"/>
              </a:solidFill>
            </a:endParaRPr>
          </a:p>
          <a:p>
            <a:pPr indent="0" lvl="0" marL="0" rtl="0" algn="ctr">
              <a:lnSpc>
                <a:spcPct val="115000"/>
              </a:lnSpc>
              <a:spcBef>
                <a:spcPts val="0"/>
              </a:spcBef>
              <a:spcAft>
                <a:spcPts val="0"/>
              </a:spcAft>
              <a:buNone/>
            </a:pPr>
            <a:r>
              <a:rPr lang="en" sz="1800">
                <a:solidFill>
                  <a:schemeClr val="dk2"/>
                </a:solidFill>
              </a:rPr>
              <a:t>Final Deliverables</a:t>
            </a:r>
            <a:endParaRPr sz="1800">
              <a:solidFill>
                <a:schemeClr val="dk2"/>
              </a:solidFill>
            </a:endParaRPr>
          </a:p>
        </p:txBody>
      </p:sp>
      <p:pic>
        <p:nvPicPr>
          <p:cNvPr id="230" name="Google Shape;230;p25"/>
          <p:cNvPicPr preferRelativeResize="0"/>
          <p:nvPr/>
        </p:nvPicPr>
        <p:blipFill rotWithShape="1">
          <a:blip r:embed="rId3">
            <a:alphaModFix/>
          </a:blip>
          <a:srcRect b="52000" l="42256" r="0" t="30947"/>
          <a:stretch/>
        </p:blipFill>
        <p:spPr>
          <a:xfrm>
            <a:off x="4894025" y="2100813"/>
            <a:ext cx="4059700" cy="821250"/>
          </a:xfrm>
          <a:prstGeom prst="rect">
            <a:avLst/>
          </a:prstGeom>
          <a:noFill/>
          <a:ln cap="flat" cmpd="sng" w="28575">
            <a:solidFill>
              <a:schemeClr val="accent3"/>
            </a:solidFill>
            <a:prstDash val="solid"/>
            <a:round/>
            <a:headEnd len="sm" w="sm" type="none"/>
            <a:tailEnd len="sm" w="sm" type="none"/>
          </a:ln>
        </p:spPr>
      </p:pic>
      <p:pic>
        <p:nvPicPr>
          <p:cNvPr id="231" name="Google Shape;231;p25"/>
          <p:cNvPicPr preferRelativeResize="0"/>
          <p:nvPr/>
        </p:nvPicPr>
        <p:blipFill rotWithShape="1">
          <a:blip r:embed="rId3">
            <a:alphaModFix/>
          </a:blip>
          <a:srcRect b="18382" l="42256" r="0" t="69541"/>
          <a:stretch/>
        </p:blipFill>
        <p:spPr>
          <a:xfrm>
            <a:off x="4894025" y="3909100"/>
            <a:ext cx="4059700" cy="581600"/>
          </a:xfrm>
          <a:prstGeom prst="rect">
            <a:avLst/>
          </a:prstGeom>
          <a:noFill/>
          <a:ln cap="flat" cmpd="sng" w="28575">
            <a:solidFill>
              <a:schemeClr val="accent3"/>
            </a:solidFill>
            <a:prstDash val="solid"/>
            <a:round/>
            <a:headEnd len="sm" w="sm" type="none"/>
            <a:tailEnd len="sm" w="sm" type="none"/>
          </a:ln>
        </p:spPr>
      </p:pic>
      <p:cxnSp>
        <p:nvCxnSpPr>
          <p:cNvPr id="232" name="Google Shape;232;p25"/>
          <p:cNvCxnSpPr/>
          <p:nvPr/>
        </p:nvCxnSpPr>
        <p:spPr>
          <a:xfrm>
            <a:off x="2810250" y="3321300"/>
            <a:ext cx="6335700" cy="0"/>
          </a:xfrm>
          <a:prstGeom prst="straightConnector1">
            <a:avLst/>
          </a:prstGeom>
          <a:noFill/>
          <a:ln cap="flat" cmpd="sng" w="28575">
            <a:solidFill>
              <a:srgbClr val="EAD1DC"/>
            </a:solidFill>
            <a:prstDash val="solid"/>
            <a:round/>
            <a:headEnd len="med" w="med" type="none"/>
            <a:tailEnd len="med" w="med" type="none"/>
          </a:ln>
        </p:spPr>
      </p:cxnSp>
      <p:cxnSp>
        <p:nvCxnSpPr>
          <p:cNvPr id="233" name="Google Shape;233;p25"/>
          <p:cNvCxnSpPr/>
          <p:nvPr/>
        </p:nvCxnSpPr>
        <p:spPr>
          <a:xfrm flipH="1" rot="10800000">
            <a:off x="2879059" y="1687475"/>
            <a:ext cx="6285000" cy="14100"/>
          </a:xfrm>
          <a:prstGeom prst="straightConnector1">
            <a:avLst/>
          </a:prstGeom>
          <a:noFill/>
          <a:ln cap="flat" cmpd="sng" w="28575">
            <a:solidFill>
              <a:srgbClr val="EAD1DC"/>
            </a:solidFill>
            <a:prstDash val="solid"/>
            <a:round/>
            <a:headEnd len="med" w="med" type="none"/>
            <a:tailEnd len="med" w="med"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6"/>
          <p:cNvSpPr/>
          <p:nvPr/>
        </p:nvSpPr>
        <p:spPr>
          <a:xfrm>
            <a:off x="0" y="0"/>
            <a:ext cx="9161100" cy="2484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6"/>
          <p:cNvSpPr txBox="1"/>
          <p:nvPr>
            <p:ph idx="4294967295" type="title"/>
          </p:nvPr>
        </p:nvSpPr>
        <p:spPr>
          <a:xfrm>
            <a:off x="311700" y="372500"/>
            <a:ext cx="8520600" cy="733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rPr>
              <a:t>Thank you!!</a:t>
            </a:r>
            <a:endParaRPr>
              <a:solidFill>
                <a:schemeClr val="lt1"/>
              </a:solidFill>
            </a:endParaRPr>
          </a:p>
          <a:p>
            <a:pPr indent="0" lvl="0" marL="0" rtl="0" algn="ctr">
              <a:spcBef>
                <a:spcPts val="0"/>
              </a:spcBef>
              <a:spcAft>
                <a:spcPts val="0"/>
              </a:spcAft>
              <a:buNone/>
            </a:pPr>
            <a:r>
              <a:t/>
            </a:r>
            <a:endParaRPr>
              <a:solidFill>
                <a:schemeClr val="lt1"/>
              </a:solidFill>
            </a:endParaRPr>
          </a:p>
          <a:p>
            <a:pPr indent="0" lvl="0" marL="0" rtl="0" algn="ctr">
              <a:spcBef>
                <a:spcPts val="0"/>
              </a:spcBef>
              <a:spcAft>
                <a:spcPts val="0"/>
              </a:spcAft>
              <a:buNone/>
            </a:pPr>
            <a:r>
              <a:rPr lang="en">
                <a:solidFill>
                  <a:schemeClr val="lt1"/>
                </a:solidFill>
              </a:rPr>
              <a:t>Any Questions?</a:t>
            </a:r>
            <a:endParaRPr>
              <a:solidFill>
                <a:schemeClr val="lt1"/>
              </a:solidFill>
            </a:endParaRPr>
          </a:p>
        </p:txBody>
      </p:sp>
      <p:sp>
        <p:nvSpPr>
          <p:cNvPr id="240" name="Google Shape;240;p26"/>
          <p:cNvSpPr txBox="1"/>
          <p:nvPr>
            <p:ph idx="4294967295" type="body"/>
          </p:nvPr>
        </p:nvSpPr>
        <p:spPr>
          <a:xfrm>
            <a:off x="358325" y="3108900"/>
            <a:ext cx="1798500" cy="4362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1700">
                <a:solidFill>
                  <a:schemeClr val="dk1"/>
                </a:solidFill>
              </a:rPr>
              <a:t>Toluwani Akomolafe</a:t>
            </a:r>
            <a:endParaRPr sz="1700">
              <a:solidFill>
                <a:schemeClr val="dk1"/>
              </a:solidFill>
            </a:endParaRPr>
          </a:p>
        </p:txBody>
      </p:sp>
      <p:cxnSp>
        <p:nvCxnSpPr>
          <p:cNvPr id="241" name="Google Shape;241;p26"/>
          <p:cNvCxnSpPr/>
          <p:nvPr/>
        </p:nvCxnSpPr>
        <p:spPr>
          <a:xfrm>
            <a:off x="1122113" y="3867263"/>
            <a:ext cx="270900" cy="0"/>
          </a:xfrm>
          <a:prstGeom prst="straightConnector1">
            <a:avLst/>
          </a:prstGeom>
          <a:noFill/>
          <a:ln cap="flat" cmpd="sng" w="9525">
            <a:solidFill>
              <a:schemeClr val="dk2"/>
            </a:solidFill>
            <a:prstDash val="solid"/>
            <a:round/>
            <a:headEnd len="sm" w="sm" type="none"/>
            <a:tailEnd len="sm" w="sm" type="none"/>
          </a:ln>
        </p:spPr>
      </p:cxnSp>
      <p:sp>
        <p:nvSpPr>
          <p:cNvPr id="242" name="Google Shape;242;p26"/>
          <p:cNvSpPr txBox="1"/>
          <p:nvPr>
            <p:ph idx="4294967295" type="body"/>
          </p:nvPr>
        </p:nvSpPr>
        <p:spPr>
          <a:xfrm>
            <a:off x="2692150" y="3108900"/>
            <a:ext cx="1550100" cy="4362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1700">
                <a:solidFill>
                  <a:schemeClr val="dk1"/>
                </a:solidFill>
              </a:rPr>
              <a:t>Adam Beckman</a:t>
            </a:r>
            <a:endParaRPr sz="1700">
              <a:solidFill>
                <a:schemeClr val="dk1"/>
              </a:solidFill>
            </a:endParaRPr>
          </a:p>
        </p:txBody>
      </p:sp>
      <p:cxnSp>
        <p:nvCxnSpPr>
          <p:cNvPr id="243" name="Google Shape;243;p26"/>
          <p:cNvCxnSpPr/>
          <p:nvPr/>
        </p:nvCxnSpPr>
        <p:spPr>
          <a:xfrm>
            <a:off x="3331738" y="3867263"/>
            <a:ext cx="270900" cy="0"/>
          </a:xfrm>
          <a:prstGeom prst="straightConnector1">
            <a:avLst/>
          </a:prstGeom>
          <a:noFill/>
          <a:ln cap="flat" cmpd="sng" w="9525">
            <a:solidFill>
              <a:schemeClr val="dk2"/>
            </a:solidFill>
            <a:prstDash val="solid"/>
            <a:round/>
            <a:headEnd len="sm" w="sm" type="none"/>
            <a:tailEnd len="sm" w="sm" type="none"/>
          </a:ln>
        </p:spPr>
      </p:cxnSp>
      <p:sp>
        <p:nvSpPr>
          <p:cNvPr id="244" name="Google Shape;244;p26"/>
          <p:cNvSpPr txBox="1"/>
          <p:nvPr>
            <p:ph idx="4294967295" type="body"/>
          </p:nvPr>
        </p:nvSpPr>
        <p:spPr>
          <a:xfrm>
            <a:off x="5071125" y="3108900"/>
            <a:ext cx="1244700" cy="4362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1700">
                <a:solidFill>
                  <a:schemeClr val="dk1"/>
                </a:solidFill>
              </a:rPr>
              <a:t>Malak Haida</a:t>
            </a:r>
            <a:endParaRPr sz="1700">
              <a:solidFill>
                <a:schemeClr val="dk1"/>
              </a:solidFill>
            </a:endParaRPr>
          </a:p>
        </p:txBody>
      </p:sp>
      <p:cxnSp>
        <p:nvCxnSpPr>
          <p:cNvPr id="245" name="Google Shape;245;p26"/>
          <p:cNvCxnSpPr/>
          <p:nvPr/>
        </p:nvCxnSpPr>
        <p:spPr>
          <a:xfrm>
            <a:off x="5558013" y="3867263"/>
            <a:ext cx="270900" cy="0"/>
          </a:xfrm>
          <a:prstGeom prst="straightConnector1">
            <a:avLst/>
          </a:prstGeom>
          <a:noFill/>
          <a:ln cap="flat" cmpd="sng" w="9525">
            <a:solidFill>
              <a:schemeClr val="dk2"/>
            </a:solidFill>
            <a:prstDash val="solid"/>
            <a:round/>
            <a:headEnd len="sm" w="sm" type="none"/>
            <a:tailEnd len="sm" w="sm" type="none"/>
          </a:ln>
        </p:spPr>
      </p:cxnSp>
      <p:sp>
        <p:nvSpPr>
          <p:cNvPr id="246" name="Google Shape;246;p26"/>
          <p:cNvSpPr txBox="1"/>
          <p:nvPr>
            <p:ph idx="4294967295" type="body"/>
          </p:nvPr>
        </p:nvSpPr>
        <p:spPr>
          <a:xfrm>
            <a:off x="6793801" y="3108900"/>
            <a:ext cx="2177400" cy="4362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1700">
                <a:solidFill>
                  <a:schemeClr val="dk1"/>
                </a:solidFill>
              </a:rPr>
              <a:t>Sponsor - Amanda Wittman</a:t>
            </a:r>
            <a:endParaRPr sz="1700">
              <a:solidFill>
                <a:schemeClr val="dk1"/>
              </a:solidFill>
            </a:endParaRPr>
          </a:p>
        </p:txBody>
      </p:sp>
      <p:cxnSp>
        <p:nvCxnSpPr>
          <p:cNvPr id="247" name="Google Shape;247;p26"/>
          <p:cNvCxnSpPr/>
          <p:nvPr/>
        </p:nvCxnSpPr>
        <p:spPr>
          <a:xfrm>
            <a:off x="7750988" y="3867263"/>
            <a:ext cx="270900" cy="0"/>
          </a:xfrm>
          <a:prstGeom prst="straightConnector1">
            <a:avLst/>
          </a:prstGeom>
          <a:noFill/>
          <a:ln cap="flat" cmpd="sng" w="9525">
            <a:solidFill>
              <a:schemeClr val="dk2"/>
            </a:solidFill>
            <a:prstDash val="solid"/>
            <a:round/>
            <a:headEnd len="sm" w="sm" type="none"/>
            <a:tailEnd len="sm" w="sm" type="none"/>
          </a:ln>
        </p:spPr>
      </p:cxnSp>
    </p:spTree>
  </p:cSld>
  <p:clrMapOvr>
    <a:masterClrMapping/>
  </p:clrMapOvr>
</p:sld>
</file>

<file path=ppt/theme/theme1.xml><?xml version="1.0" encoding="utf-8"?>
<a:theme xmlns:a="http://schemas.openxmlformats.org/drawingml/2006/main" xmlns:r="http://schemas.openxmlformats.org/officeDocument/2006/relationships" name="Slate">
  <a:themeElements>
    <a:clrScheme name="Slate">
      <a:dk1>
        <a:srgbClr val="FFFFFF"/>
      </a:dk1>
      <a:lt1>
        <a:srgbClr val="37474F"/>
      </a:lt1>
      <a:dk2>
        <a:srgbClr val="9E9E9E"/>
      </a:dk2>
      <a:lt2>
        <a:srgbClr val="E0E0E0"/>
      </a:lt2>
      <a:accent1>
        <a:srgbClr val="616161"/>
      </a:accent1>
      <a:accent2>
        <a:srgbClr val="78909C"/>
      </a:accent2>
      <a:accent3>
        <a:srgbClr val="CACACA"/>
      </a:accent3>
      <a:accent4>
        <a:srgbClr val="64FFDA"/>
      </a:accent4>
      <a:accent5>
        <a:srgbClr val="FFD966"/>
      </a:accent5>
      <a:accent6>
        <a:srgbClr val="F5F5F5"/>
      </a:accent6>
      <a:hlink>
        <a:srgbClr val="FFD966"/>
      </a:hlink>
      <a:folHlink>
        <a:srgbClr val="FFD96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